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6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BA3DB-8740-4F39-9630-D96367AA254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BAC01FA-A560-4897-83F5-F2F2F420674B}">
      <dgm:prSet custT="1"/>
      <dgm:spPr/>
      <dgm:t>
        <a:bodyPr/>
        <a:lstStyle/>
        <a:p>
          <a:r>
            <a:rPr lang="en-US" sz="2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Medicare fraud causes billions in improper payments annually</a:t>
          </a:r>
        </a:p>
      </dgm:t>
    </dgm:pt>
    <dgm:pt modelId="{46ED1612-AD85-4F7B-A082-722C24F4B94E}" type="parTrans" cxnId="{9A899802-609E-486A-ABF4-10481B5D1D7D}">
      <dgm:prSet/>
      <dgm:spPr/>
      <dgm:t>
        <a:bodyPr/>
        <a:lstStyle/>
        <a:p>
          <a:endParaRPr lang="en-US"/>
        </a:p>
      </dgm:t>
    </dgm:pt>
    <dgm:pt modelId="{B079D691-8EDC-4414-BAF6-0503E5E8B941}" type="sibTrans" cxnId="{9A899802-609E-486A-ABF4-10481B5D1D7D}">
      <dgm:prSet/>
      <dgm:spPr/>
      <dgm:t>
        <a:bodyPr/>
        <a:lstStyle/>
        <a:p>
          <a:endParaRPr lang="en-US"/>
        </a:p>
      </dgm:t>
    </dgm:pt>
    <dgm:pt modelId="{61486BE2-0907-4B2C-A7CC-7CDB19B7F545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Fraud signals are rare and hidden in large volumes of claims</a:t>
          </a:r>
        </a:p>
      </dgm:t>
    </dgm:pt>
    <dgm:pt modelId="{6EDEB04B-D083-4B23-A7A4-20DA73BC3D1D}" type="parTrans" cxnId="{78F66717-1341-4157-8C69-08C67D6CB5EE}">
      <dgm:prSet/>
      <dgm:spPr/>
      <dgm:t>
        <a:bodyPr/>
        <a:lstStyle/>
        <a:p>
          <a:endParaRPr lang="en-US"/>
        </a:p>
      </dgm:t>
    </dgm:pt>
    <dgm:pt modelId="{AE505325-B894-4336-B99B-A725C4D631B7}" type="sibTrans" cxnId="{78F66717-1341-4157-8C69-08C67D6CB5EE}">
      <dgm:prSet/>
      <dgm:spPr/>
      <dgm:t>
        <a:bodyPr/>
        <a:lstStyle/>
        <a:p>
          <a:endParaRPr lang="en-US"/>
        </a:p>
      </dgm:t>
    </dgm:pt>
    <dgm:pt modelId="{77DC45E9-1795-45B2-8EF7-A709614C6DC6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Traditional audits and rule-based systems are reactive and limited</a:t>
          </a:r>
        </a:p>
      </dgm:t>
    </dgm:pt>
    <dgm:pt modelId="{D3BB93AA-BD4B-4C07-B2C7-089CAFDA38AD}" type="parTrans" cxnId="{889DB39E-418D-4B9C-81F3-8DE61DBDB50E}">
      <dgm:prSet/>
      <dgm:spPr/>
      <dgm:t>
        <a:bodyPr/>
        <a:lstStyle/>
        <a:p>
          <a:endParaRPr lang="en-US"/>
        </a:p>
      </dgm:t>
    </dgm:pt>
    <dgm:pt modelId="{55C33962-3709-4F5A-84B7-258349B7DB4D}" type="sibTrans" cxnId="{889DB39E-418D-4B9C-81F3-8DE61DBDB50E}">
      <dgm:prSet/>
      <dgm:spPr/>
      <dgm:t>
        <a:bodyPr/>
        <a:lstStyle/>
        <a:p>
          <a:endParaRPr lang="en-US"/>
        </a:p>
      </dgm:t>
    </dgm:pt>
    <dgm:pt modelId="{BC6B5A65-6688-4CC3-8624-D6753075C66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ML improves detection but often lacks transparency</a:t>
          </a:r>
        </a:p>
      </dgm:t>
    </dgm:pt>
    <dgm:pt modelId="{454B168B-2F76-41AA-9CAC-3C25AD1C1FFF}" type="parTrans" cxnId="{06E34118-AC67-4B8E-92D1-43D884E52C52}">
      <dgm:prSet/>
      <dgm:spPr/>
      <dgm:t>
        <a:bodyPr/>
        <a:lstStyle/>
        <a:p>
          <a:endParaRPr lang="en-US"/>
        </a:p>
      </dgm:t>
    </dgm:pt>
    <dgm:pt modelId="{429EFE51-6AFF-40AA-BF80-740D3BE6AE4E}" type="sibTrans" cxnId="{06E34118-AC67-4B8E-92D1-43D884E52C52}">
      <dgm:prSet/>
      <dgm:spPr/>
      <dgm:t>
        <a:bodyPr/>
        <a:lstStyle/>
        <a:p>
          <a:endParaRPr lang="en-US"/>
        </a:p>
      </dgm:t>
    </dgm:pt>
    <dgm:pt modelId="{CFF64ECD-A88F-8548-AA9C-C84C74A2E7EB}" type="pres">
      <dgm:prSet presAssocID="{F9EBA3DB-8740-4F39-9630-D96367AA254D}" presName="vert0" presStyleCnt="0">
        <dgm:presLayoutVars>
          <dgm:dir/>
          <dgm:animOne val="branch"/>
          <dgm:animLvl val="lvl"/>
        </dgm:presLayoutVars>
      </dgm:prSet>
      <dgm:spPr/>
    </dgm:pt>
    <dgm:pt modelId="{598D0D60-EB2F-C248-A95A-89343F1C7551}" type="pres">
      <dgm:prSet presAssocID="{0BAC01FA-A560-4897-83F5-F2F2F420674B}" presName="thickLine" presStyleLbl="alignNode1" presStyleIdx="0" presStyleCnt="4"/>
      <dgm:spPr/>
    </dgm:pt>
    <dgm:pt modelId="{D5610297-129E-3142-B33B-A9B6B24CF56D}" type="pres">
      <dgm:prSet presAssocID="{0BAC01FA-A560-4897-83F5-F2F2F420674B}" presName="horz1" presStyleCnt="0"/>
      <dgm:spPr/>
    </dgm:pt>
    <dgm:pt modelId="{80423612-CBC0-4A41-B0C6-AA6B31A4818D}" type="pres">
      <dgm:prSet presAssocID="{0BAC01FA-A560-4897-83F5-F2F2F420674B}" presName="tx1" presStyleLbl="revTx" presStyleIdx="0" presStyleCnt="4"/>
      <dgm:spPr/>
    </dgm:pt>
    <dgm:pt modelId="{4C21E84D-D625-F54F-ADB1-E9B8D27E8D33}" type="pres">
      <dgm:prSet presAssocID="{0BAC01FA-A560-4897-83F5-F2F2F420674B}" presName="vert1" presStyleCnt="0"/>
      <dgm:spPr/>
    </dgm:pt>
    <dgm:pt modelId="{5089E33E-E899-AA4F-80CF-AF3D447F38D9}" type="pres">
      <dgm:prSet presAssocID="{61486BE2-0907-4B2C-A7CC-7CDB19B7F545}" presName="thickLine" presStyleLbl="alignNode1" presStyleIdx="1" presStyleCnt="4"/>
      <dgm:spPr/>
    </dgm:pt>
    <dgm:pt modelId="{72DC0AEB-15E0-E848-AF70-73D4A82A095C}" type="pres">
      <dgm:prSet presAssocID="{61486BE2-0907-4B2C-A7CC-7CDB19B7F545}" presName="horz1" presStyleCnt="0"/>
      <dgm:spPr/>
    </dgm:pt>
    <dgm:pt modelId="{FFC2CC57-05BE-A645-AEC9-35D848F57F68}" type="pres">
      <dgm:prSet presAssocID="{61486BE2-0907-4B2C-A7CC-7CDB19B7F545}" presName="tx1" presStyleLbl="revTx" presStyleIdx="1" presStyleCnt="4"/>
      <dgm:spPr/>
    </dgm:pt>
    <dgm:pt modelId="{6B854858-0B40-AB40-8954-7C5B9C14AC17}" type="pres">
      <dgm:prSet presAssocID="{61486BE2-0907-4B2C-A7CC-7CDB19B7F545}" presName="vert1" presStyleCnt="0"/>
      <dgm:spPr/>
    </dgm:pt>
    <dgm:pt modelId="{12506EE1-A92F-6F4F-AE0B-0056FE56676D}" type="pres">
      <dgm:prSet presAssocID="{77DC45E9-1795-45B2-8EF7-A709614C6DC6}" presName="thickLine" presStyleLbl="alignNode1" presStyleIdx="2" presStyleCnt="4"/>
      <dgm:spPr/>
    </dgm:pt>
    <dgm:pt modelId="{AC71C574-0FE0-6841-95BD-9A799E2DB171}" type="pres">
      <dgm:prSet presAssocID="{77DC45E9-1795-45B2-8EF7-A709614C6DC6}" presName="horz1" presStyleCnt="0"/>
      <dgm:spPr/>
    </dgm:pt>
    <dgm:pt modelId="{CAA61CF9-F6D9-584A-808C-DCDADCB815E8}" type="pres">
      <dgm:prSet presAssocID="{77DC45E9-1795-45B2-8EF7-A709614C6DC6}" presName="tx1" presStyleLbl="revTx" presStyleIdx="2" presStyleCnt="4"/>
      <dgm:spPr/>
    </dgm:pt>
    <dgm:pt modelId="{A84A4859-0469-124F-A302-F0ED8BAE7197}" type="pres">
      <dgm:prSet presAssocID="{77DC45E9-1795-45B2-8EF7-A709614C6DC6}" presName="vert1" presStyleCnt="0"/>
      <dgm:spPr/>
    </dgm:pt>
    <dgm:pt modelId="{BA292DEF-D7ED-684E-9EB8-A63F986D2554}" type="pres">
      <dgm:prSet presAssocID="{BC6B5A65-6688-4CC3-8624-D6753075C668}" presName="thickLine" presStyleLbl="alignNode1" presStyleIdx="3" presStyleCnt="4"/>
      <dgm:spPr/>
    </dgm:pt>
    <dgm:pt modelId="{33D8259D-2B82-3F47-9DB7-7EDC6F3D0EB7}" type="pres">
      <dgm:prSet presAssocID="{BC6B5A65-6688-4CC3-8624-D6753075C668}" presName="horz1" presStyleCnt="0"/>
      <dgm:spPr/>
    </dgm:pt>
    <dgm:pt modelId="{8674C06F-FD0A-B240-8B56-45A9324F37B0}" type="pres">
      <dgm:prSet presAssocID="{BC6B5A65-6688-4CC3-8624-D6753075C668}" presName="tx1" presStyleLbl="revTx" presStyleIdx="3" presStyleCnt="4"/>
      <dgm:spPr/>
    </dgm:pt>
    <dgm:pt modelId="{3935D631-F6D4-6B4A-8294-2DAA141A8CC9}" type="pres">
      <dgm:prSet presAssocID="{BC6B5A65-6688-4CC3-8624-D6753075C668}" presName="vert1" presStyleCnt="0"/>
      <dgm:spPr/>
    </dgm:pt>
  </dgm:ptLst>
  <dgm:cxnLst>
    <dgm:cxn modelId="{9A899802-609E-486A-ABF4-10481B5D1D7D}" srcId="{F9EBA3DB-8740-4F39-9630-D96367AA254D}" destId="{0BAC01FA-A560-4897-83F5-F2F2F420674B}" srcOrd="0" destOrd="0" parTransId="{46ED1612-AD85-4F7B-A082-722C24F4B94E}" sibTransId="{B079D691-8EDC-4414-BAF6-0503E5E8B941}"/>
    <dgm:cxn modelId="{53DD6C12-9861-D947-AFEE-93AB84BC7D8E}" type="presOf" srcId="{0BAC01FA-A560-4897-83F5-F2F2F420674B}" destId="{80423612-CBC0-4A41-B0C6-AA6B31A4818D}" srcOrd="0" destOrd="0" presId="urn:microsoft.com/office/officeart/2008/layout/LinedList"/>
    <dgm:cxn modelId="{78F66717-1341-4157-8C69-08C67D6CB5EE}" srcId="{F9EBA3DB-8740-4F39-9630-D96367AA254D}" destId="{61486BE2-0907-4B2C-A7CC-7CDB19B7F545}" srcOrd="1" destOrd="0" parTransId="{6EDEB04B-D083-4B23-A7A4-20DA73BC3D1D}" sibTransId="{AE505325-B894-4336-B99B-A725C4D631B7}"/>
    <dgm:cxn modelId="{06E34118-AC67-4B8E-92D1-43D884E52C52}" srcId="{F9EBA3DB-8740-4F39-9630-D96367AA254D}" destId="{BC6B5A65-6688-4CC3-8624-D6753075C668}" srcOrd="3" destOrd="0" parTransId="{454B168B-2F76-41AA-9CAC-3C25AD1C1FFF}" sibTransId="{429EFE51-6AFF-40AA-BF80-740D3BE6AE4E}"/>
    <dgm:cxn modelId="{7C539D23-1C37-3B42-AA94-4BB0352D29D7}" type="presOf" srcId="{77DC45E9-1795-45B2-8EF7-A709614C6DC6}" destId="{CAA61CF9-F6D9-584A-808C-DCDADCB815E8}" srcOrd="0" destOrd="0" presId="urn:microsoft.com/office/officeart/2008/layout/LinedList"/>
    <dgm:cxn modelId="{B6E81B73-62CC-2E4B-849B-50F45B818089}" type="presOf" srcId="{61486BE2-0907-4B2C-A7CC-7CDB19B7F545}" destId="{FFC2CC57-05BE-A645-AEC9-35D848F57F68}" srcOrd="0" destOrd="0" presId="urn:microsoft.com/office/officeart/2008/layout/LinedList"/>
    <dgm:cxn modelId="{889DB39E-418D-4B9C-81F3-8DE61DBDB50E}" srcId="{F9EBA3DB-8740-4F39-9630-D96367AA254D}" destId="{77DC45E9-1795-45B2-8EF7-A709614C6DC6}" srcOrd="2" destOrd="0" parTransId="{D3BB93AA-BD4B-4C07-B2C7-089CAFDA38AD}" sibTransId="{55C33962-3709-4F5A-84B7-258349B7DB4D}"/>
    <dgm:cxn modelId="{15A3FFEC-2074-D44E-AB2E-71F2864886BD}" type="presOf" srcId="{F9EBA3DB-8740-4F39-9630-D96367AA254D}" destId="{CFF64ECD-A88F-8548-AA9C-C84C74A2E7EB}" srcOrd="0" destOrd="0" presId="urn:microsoft.com/office/officeart/2008/layout/LinedList"/>
    <dgm:cxn modelId="{C4D5BBFD-FC2F-A84F-9094-8CD7DCAAC4AD}" type="presOf" srcId="{BC6B5A65-6688-4CC3-8624-D6753075C668}" destId="{8674C06F-FD0A-B240-8B56-45A9324F37B0}" srcOrd="0" destOrd="0" presId="urn:microsoft.com/office/officeart/2008/layout/LinedList"/>
    <dgm:cxn modelId="{9F7B17CF-2999-E341-AF6E-86A0E72ECB7C}" type="presParOf" srcId="{CFF64ECD-A88F-8548-AA9C-C84C74A2E7EB}" destId="{598D0D60-EB2F-C248-A95A-89343F1C7551}" srcOrd="0" destOrd="0" presId="urn:microsoft.com/office/officeart/2008/layout/LinedList"/>
    <dgm:cxn modelId="{4E6B91BF-7189-B74D-8B40-3E4E2D9704DB}" type="presParOf" srcId="{CFF64ECD-A88F-8548-AA9C-C84C74A2E7EB}" destId="{D5610297-129E-3142-B33B-A9B6B24CF56D}" srcOrd="1" destOrd="0" presId="urn:microsoft.com/office/officeart/2008/layout/LinedList"/>
    <dgm:cxn modelId="{BA32C8D0-45F2-4C47-BC9E-D712E3ACBDF7}" type="presParOf" srcId="{D5610297-129E-3142-B33B-A9B6B24CF56D}" destId="{80423612-CBC0-4A41-B0C6-AA6B31A4818D}" srcOrd="0" destOrd="0" presId="urn:microsoft.com/office/officeart/2008/layout/LinedList"/>
    <dgm:cxn modelId="{2673AA7E-8B79-F84E-B316-D52FC910B980}" type="presParOf" srcId="{D5610297-129E-3142-B33B-A9B6B24CF56D}" destId="{4C21E84D-D625-F54F-ADB1-E9B8D27E8D33}" srcOrd="1" destOrd="0" presId="urn:microsoft.com/office/officeart/2008/layout/LinedList"/>
    <dgm:cxn modelId="{30B9E4D9-8791-C346-B321-08E62F2F6EEF}" type="presParOf" srcId="{CFF64ECD-A88F-8548-AA9C-C84C74A2E7EB}" destId="{5089E33E-E899-AA4F-80CF-AF3D447F38D9}" srcOrd="2" destOrd="0" presId="urn:microsoft.com/office/officeart/2008/layout/LinedList"/>
    <dgm:cxn modelId="{ECA080BB-8D9A-5444-AF9A-6EB0D5DC5A0B}" type="presParOf" srcId="{CFF64ECD-A88F-8548-AA9C-C84C74A2E7EB}" destId="{72DC0AEB-15E0-E848-AF70-73D4A82A095C}" srcOrd="3" destOrd="0" presId="urn:microsoft.com/office/officeart/2008/layout/LinedList"/>
    <dgm:cxn modelId="{92BAB28A-EC1F-E04E-AEB4-DED34392DAD3}" type="presParOf" srcId="{72DC0AEB-15E0-E848-AF70-73D4A82A095C}" destId="{FFC2CC57-05BE-A645-AEC9-35D848F57F68}" srcOrd="0" destOrd="0" presId="urn:microsoft.com/office/officeart/2008/layout/LinedList"/>
    <dgm:cxn modelId="{3B8092B5-9CC9-7E48-A0E1-15DBFB31CEB6}" type="presParOf" srcId="{72DC0AEB-15E0-E848-AF70-73D4A82A095C}" destId="{6B854858-0B40-AB40-8954-7C5B9C14AC17}" srcOrd="1" destOrd="0" presId="urn:microsoft.com/office/officeart/2008/layout/LinedList"/>
    <dgm:cxn modelId="{E3649C11-A59E-594C-B58F-FE2EA31154A1}" type="presParOf" srcId="{CFF64ECD-A88F-8548-AA9C-C84C74A2E7EB}" destId="{12506EE1-A92F-6F4F-AE0B-0056FE56676D}" srcOrd="4" destOrd="0" presId="urn:microsoft.com/office/officeart/2008/layout/LinedList"/>
    <dgm:cxn modelId="{DA3B4B06-0853-9D41-9018-13BE02260EE6}" type="presParOf" srcId="{CFF64ECD-A88F-8548-AA9C-C84C74A2E7EB}" destId="{AC71C574-0FE0-6841-95BD-9A799E2DB171}" srcOrd="5" destOrd="0" presId="urn:microsoft.com/office/officeart/2008/layout/LinedList"/>
    <dgm:cxn modelId="{CE7D856A-6268-7940-BDBF-4B04B46AD4BB}" type="presParOf" srcId="{AC71C574-0FE0-6841-95BD-9A799E2DB171}" destId="{CAA61CF9-F6D9-584A-808C-DCDADCB815E8}" srcOrd="0" destOrd="0" presId="urn:microsoft.com/office/officeart/2008/layout/LinedList"/>
    <dgm:cxn modelId="{E494B68F-6C67-D64A-AD0C-CC53892A487C}" type="presParOf" srcId="{AC71C574-0FE0-6841-95BD-9A799E2DB171}" destId="{A84A4859-0469-124F-A302-F0ED8BAE7197}" srcOrd="1" destOrd="0" presId="urn:microsoft.com/office/officeart/2008/layout/LinedList"/>
    <dgm:cxn modelId="{F6BBC21A-9D10-E845-9AD2-24B05D6E98AF}" type="presParOf" srcId="{CFF64ECD-A88F-8548-AA9C-C84C74A2E7EB}" destId="{BA292DEF-D7ED-684E-9EB8-A63F986D2554}" srcOrd="6" destOrd="0" presId="urn:microsoft.com/office/officeart/2008/layout/LinedList"/>
    <dgm:cxn modelId="{6915A7FC-83DF-774D-BC9A-932CBEAF5878}" type="presParOf" srcId="{CFF64ECD-A88F-8548-AA9C-C84C74A2E7EB}" destId="{33D8259D-2B82-3F47-9DB7-7EDC6F3D0EB7}" srcOrd="7" destOrd="0" presId="urn:microsoft.com/office/officeart/2008/layout/LinedList"/>
    <dgm:cxn modelId="{87A855AC-7E31-AE45-9DAF-37441BB8AF26}" type="presParOf" srcId="{33D8259D-2B82-3F47-9DB7-7EDC6F3D0EB7}" destId="{8674C06F-FD0A-B240-8B56-45A9324F37B0}" srcOrd="0" destOrd="0" presId="urn:microsoft.com/office/officeart/2008/layout/LinedList"/>
    <dgm:cxn modelId="{99FAD2D8-1699-EC48-8155-9FC41B77CDE0}" type="presParOf" srcId="{33D8259D-2B82-3F47-9DB7-7EDC6F3D0EB7}" destId="{3935D631-F6D4-6B4A-8294-2DAA141A8C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D0D60-EB2F-C248-A95A-89343F1C7551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23612-CBC0-4A41-B0C6-AA6B31A4818D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Medicare fraud causes billions in improper payments annually</a:t>
          </a:r>
        </a:p>
      </dsp:txBody>
      <dsp:txXfrm>
        <a:off x="0" y="0"/>
        <a:ext cx="4726201" cy="1469702"/>
      </dsp:txXfrm>
    </dsp:sp>
    <dsp:sp modelId="{5089E33E-E899-AA4F-80CF-AF3D447F38D9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2CC57-05BE-A645-AEC9-35D848F57F68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Fraud signals are rare and hidden in large volumes of claims</a:t>
          </a:r>
        </a:p>
      </dsp:txBody>
      <dsp:txXfrm>
        <a:off x="0" y="1469702"/>
        <a:ext cx="4726201" cy="1469702"/>
      </dsp:txXfrm>
    </dsp:sp>
    <dsp:sp modelId="{12506EE1-A92F-6F4F-AE0B-0056FE56676D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61CF9-F6D9-584A-808C-DCDADCB815E8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Traditional audits and rule-based systems are reactive and limited</a:t>
          </a:r>
        </a:p>
      </dsp:txBody>
      <dsp:txXfrm>
        <a:off x="0" y="2939404"/>
        <a:ext cx="4726201" cy="1469702"/>
      </dsp:txXfrm>
    </dsp:sp>
    <dsp:sp modelId="{BA292DEF-D7ED-684E-9EB8-A63F986D2554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4C06F-FD0A-B240-8B56-45A9324F37B0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ML improves detection but often lacks transparency</a:t>
          </a:r>
        </a:p>
      </dsp:txBody>
      <dsp:txXfrm>
        <a:off x="0" y="4409106"/>
        <a:ext cx="47262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DD9A1B-23F2-4443-B0D4-00FF72D27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5A69CBB-DA63-440A-B853-88D42A6F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245" y="873720"/>
            <a:ext cx="7900987" cy="4962109"/>
          </a:xfrm>
          <a:custGeom>
            <a:avLst/>
            <a:gdLst>
              <a:gd name="connsiteX0" fmla="*/ 6180200 w 10534650"/>
              <a:gd name="connsiteY0" fmla="*/ 4801197 h 4962109"/>
              <a:gd name="connsiteX1" fmla="*/ 6147637 w 10534650"/>
              <a:gd name="connsiteY1" fmla="*/ 4805291 h 4962109"/>
              <a:gd name="connsiteX2" fmla="*/ 6164640 w 10534650"/>
              <a:gd name="connsiteY2" fmla="*/ 4804893 h 4962109"/>
              <a:gd name="connsiteX3" fmla="*/ 6180200 w 10534650"/>
              <a:gd name="connsiteY3" fmla="*/ 4801197 h 4962109"/>
              <a:gd name="connsiteX4" fmla="*/ 5969537 w 10534650"/>
              <a:gd name="connsiteY4" fmla="*/ 4731750 h 4962109"/>
              <a:gd name="connsiteX5" fmla="*/ 5980870 w 10534650"/>
              <a:gd name="connsiteY5" fmla="*/ 4743324 h 4962109"/>
              <a:gd name="connsiteX6" fmla="*/ 5980870 w 10534650"/>
              <a:gd name="connsiteY6" fmla="*/ 4743323 h 4962109"/>
              <a:gd name="connsiteX7" fmla="*/ 6712815 w 10534650"/>
              <a:gd name="connsiteY7" fmla="*/ 4676908 h 4962109"/>
              <a:gd name="connsiteX8" fmla="*/ 6712815 w 10534650"/>
              <a:gd name="connsiteY8" fmla="*/ 4676909 h 4962109"/>
              <a:gd name="connsiteX9" fmla="*/ 6734605 w 10534650"/>
              <a:gd name="connsiteY9" fmla="*/ 4700281 h 4962109"/>
              <a:gd name="connsiteX10" fmla="*/ 6712815 w 10534650"/>
              <a:gd name="connsiteY10" fmla="*/ 4676908 h 4962109"/>
              <a:gd name="connsiteX11" fmla="*/ 5236566 w 10534650"/>
              <a:gd name="connsiteY11" fmla="*/ 4571169 h 4962109"/>
              <a:gd name="connsiteX12" fmla="*/ 5264294 w 10534650"/>
              <a:gd name="connsiteY12" fmla="*/ 4579674 h 4962109"/>
              <a:gd name="connsiteX13" fmla="*/ 5280204 w 10534650"/>
              <a:gd name="connsiteY13" fmla="*/ 4586908 h 4962109"/>
              <a:gd name="connsiteX14" fmla="*/ 5280336 w 10534650"/>
              <a:gd name="connsiteY14" fmla="*/ 4586967 h 4962109"/>
              <a:gd name="connsiteX15" fmla="*/ 5294396 w 10534650"/>
              <a:gd name="connsiteY15" fmla="*/ 4593609 h 4962109"/>
              <a:gd name="connsiteX16" fmla="*/ 5296104 w 10534650"/>
              <a:gd name="connsiteY16" fmla="*/ 4594130 h 4962109"/>
              <a:gd name="connsiteX17" fmla="*/ 5301566 w 10534650"/>
              <a:gd name="connsiteY17" fmla="*/ 4596610 h 4962109"/>
              <a:gd name="connsiteX18" fmla="*/ 5323749 w 10534650"/>
              <a:gd name="connsiteY18" fmla="*/ 4602562 h 4962109"/>
              <a:gd name="connsiteX19" fmla="*/ 5296104 w 10534650"/>
              <a:gd name="connsiteY19" fmla="*/ 4594130 h 4962109"/>
              <a:gd name="connsiteX20" fmla="*/ 5280336 w 10534650"/>
              <a:gd name="connsiteY20" fmla="*/ 4586967 h 4962109"/>
              <a:gd name="connsiteX21" fmla="*/ 5266003 w 10534650"/>
              <a:gd name="connsiteY21" fmla="*/ 4580197 h 4962109"/>
              <a:gd name="connsiteX22" fmla="*/ 5264294 w 10534650"/>
              <a:gd name="connsiteY22" fmla="*/ 4579674 h 4962109"/>
              <a:gd name="connsiteX23" fmla="*/ 5258823 w 10534650"/>
              <a:gd name="connsiteY23" fmla="*/ 4577184 h 4962109"/>
              <a:gd name="connsiteX24" fmla="*/ 5236566 w 10534650"/>
              <a:gd name="connsiteY24" fmla="*/ 4571169 h 4962109"/>
              <a:gd name="connsiteX25" fmla="*/ 5514391 w 10534650"/>
              <a:gd name="connsiteY25" fmla="*/ 4562409 h 4962109"/>
              <a:gd name="connsiteX26" fmla="*/ 5571581 w 10534650"/>
              <a:gd name="connsiteY26" fmla="*/ 4569638 h 4962109"/>
              <a:gd name="connsiteX27" fmla="*/ 5542458 w 10534650"/>
              <a:gd name="connsiteY27" fmla="*/ 4562909 h 4962109"/>
              <a:gd name="connsiteX28" fmla="*/ 5514391 w 10534650"/>
              <a:gd name="connsiteY28" fmla="*/ 4562409 h 4962109"/>
              <a:gd name="connsiteX29" fmla="*/ 3097094 w 10534650"/>
              <a:gd name="connsiteY29" fmla="*/ 4429045 h 4962109"/>
              <a:gd name="connsiteX30" fmla="*/ 3088347 w 10534650"/>
              <a:gd name="connsiteY30" fmla="*/ 4439791 h 4962109"/>
              <a:gd name="connsiteX31" fmla="*/ 3072652 w 10534650"/>
              <a:gd name="connsiteY31" fmla="*/ 4457084 h 4962109"/>
              <a:gd name="connsiteX32" fmla="*/ 3053825 w 10534650"/>
              <a:gd name="connsiteY32" fmla="*/ 4465207 h 4962109"/>
              <a:gd name="connsiteX33" fmla="*/ 3088348 w 10534650"/>
              <a:gd name="connsiteY33" fmla="*/ 4439791 h 4962109"/>
              <a:gd name="connsiteX34" fmla="*/ 4090071 w 10534650"/>
              <a:gd name="connsiteY34" fmla="*/ 4402823 h 4962109"/>
              <a:gd name="connsiteX35" fmla="*/ 4105672 w 10534650"/>
              <a:gd name="connsiteY35" fmla="*/ 4404644 h 4962109"/>
              <a:gd name="connsiteX36" fmla="*/ 4121173 w 10534650"/>
              <a:gd name="connsiteY36" fmla="*/ 4414076 h 4962109"/>
              <a:gd name="connsiteX37" fmla="*/ 4105673 w 10534650"/>
              <a:gd name="connsiteY37" fmla="*/ 4404644 h 4962109"/>
              <a:gd name="connsiteX38" fmla="*/ 4105672 w 10534650"/>
              <a:gd name="connsiteY38" fmla="*/ 4404644 h 4962109"/>
              <a:gd name="connsiteX39" fmla="*/ 4105672 w 10534650"/>
              <a:gd name="connsiteY39" fmla="*/ 4404644 h 4962109"/>
              <a:gd name="connsiteX40" fmla="*/ 4090071 w 10534650"/>
              <a:gd name="connsiteY40" fmla="*/ 4402823 h 4962109"/>
              <a:gd name="connsiteX41" fmla="*/ 3874703 w 10534650"/>
              <a:gd name="connsiteY41" fmla="*/ 4390456 h 4962109"/>
              <a:gd name="connsiteX42" fmla="*/ 3921126 w 10534650"/>
              <a:gd name="connsiteY42" fmla="*/ 4417222 h 4962109"/>
              <a:gd name="connsiteX43" fmla="*/ 3896594 w 10534650"/>
              <a:gd name="connsiteY43" fmla="*/ 4409211 h 4962109"/>
              <a:gd name="connsiteX44" fmla="*/ 3874703 w 10534650"/>
              <a:gd name="connsiteY44" fmla="*/ 4390456 h 4962109"/>
              <a:gd name="connsiteX45" fmla="*/ 7873706 w 10534650"/>
              <a:gd name="connsiteY45" fmla="*/ 4301238 h 4962109"/>
              <a:gd name="connsiteX46" fmla="*/ 7892206 w 10534650"/>
              <a:gd name="connsiteY46" fmla="*/ 4317039 h 4962109"/>
              <a:gd name="connsiteX47" fmla="*/ 7899880 w 10534650"/>
              <a:gd name="connsiteY47" fmla="*/ 4320773 h 4962109"/>
              <a:gd name="connsiteX48" fmla="*/ 7892205 w 10534650"/>
              <a:gd name="connsiteY48" fmla="*/ 4317038 h 4962109"/>
              <a:gd name="connsiteX49" fmla="*/ 7873706 w 10534650"/>
              <a:gd name="connsiteY49" fmla="*/ 4301238 h 4962109"/>
              <a:gd name="connsiteX50" fmla="*/ 1456506 w 10534650"/>
              <a:gd name="connsiteY50" fmla="*/ 3863438 h 4962109"/>
              <a:gd name="connsiteX51" fmla="*/ 1442667 w 10534650"/>
              <a:gd name="connsiteY51" fmla="*/ 3867764 h 4962109"/>
              <a:gd name="connsiteX52" fmla="*/ 1397372 w 10534650"/>
              <a:gd name="connsiteY52" fmla="*/ 3890362 h 4962109"/>
              <a:gd name="connsiteX53" fmla="*/ 1442668 w 10534650"/>
              <a:gd name="connsiteY53" fmla="*/ 3867764 h 4962109"/>
              <a:gd name="connsiteX54" fmla="*/ 1071905 w 10534650"/>
              <a:gd name="connsiteY54" fmla="*/ 3816123 h 4962109"/>
              <a:gd name="connsiteX55" fmla="*/ 1062478 w 10534650"/>
              <a:gd name="connsiteY55" fmla="*/ 3818725 h 4962109"/>
              <a:gd name="connsiteX56" fmla="*/ 1022563 w 10534650"/>
              <a:gd name="connsiteY56" fmla="*/ 3825445 h 4962109"/>
              <a:gd name="connsiteX57" fmla="*/ 1062480 w 10534650"/>
              <a:gd name="connsiteY57" fmla="*/ 3818725 h 4962109"/>
              <a:gd name="connsiteX58" fmla="*/ 1209869 w 10534650"/>
              <a:gd name="connsiteY58" fmla="*/ 3815014 h 4962109"/>
              <a:gd name="connsiteX59" fmla="*/ 1257364 w 10534650"/>
              <a:gd name="connsiteY59" fmla="*/ 3832567 h 4962109"/>
              <a:gd name="connsiteX60" fmla="*/ 1209869 w 10534650"/>
              <a:gd name="connsiteY60" fmla="*/ 3815014 h 4962109"/>
              <a:gd name="connsiteX61" fmla="*/ 0 w 10534650"/>
              <a:gd name="connsiteY61" fmla="*/ 0 h 4962109"/>
              <a:gd name="connsiteX62" fmla="*/ 10534650 w 10534650"/>
              <a:gd name="connsiteY62" fmla="*/ 0 h 4962109"/>
              <a:gd name="connsiteX63" fmla="*/ 10534650 w 10534650"/>
              <a:gd name="connsiteY63" fmla="*/ 3353931 h 4962109"/>
              <a:gd name="connsiteX64" fmla="*/ 10495227 w 10534650"/>
              <a:gd name="connsiteY64" fmla="*/ 3401247 h 4962109"/>
              <a:gd name="connsiteX65" fmla="*/ 10463118 w 10534650"/>
              <a:gd name="connsiteY65" fmla="*/ 3434133 h 4962109"/>
              <a:gd name="connsiteX66" fmla="*/ 10378879 w 10534650"/>
              <a:gd name="connsiteY66" fmla="*/ 3472380 h 4962109"/>
              <a:gd name="connsiteX67" fmla="*/ 10304799 w 10534650"/>
              <a:gd name="connsiteY67" fmla="*/ 3500370 h 4962109"/>
              <a:gd name="connsiteX68" fmla="*/ 10250242 w 10534650"/>
              <a:gd name="connsiteY68" fmla="*/ 3533216 h 4962109"/>
              <a:gd name="connsiteX69" fmla="*/ 10204013 w 10534650"/>
              <a:gd name="connsiteY69" fmla="*/ 3563655 h 4962109"/>
              <a:gd name="connsiteX70" fmla="*/ 10098588 w 10534650"/>
              <a:gd name="connsiteY70" fmla="*/ 3643324 h 4962109"/>
              <a:gd name="connsiteX71" fmla="*/ 9983369 w 10534650"/>
              <a:gd name="connsiteY71" fmla="*/ 3708784 h 4962109"/>
              <a:gd name="connsiteX72" fmla="*/ 9888637 w 10534650"/>
              <a:gd name="connsiteY72" fmla="*/ 3792146 h 4962109"/>
              <a:gd name="connsiteX73" fmla="*/ 9848780 w 10534650"/>
              <a:gd name="connsiteY73" fmla="*/ 3838049 h 4962109"/>
              <a:gd name="connsiteX74" fmla="*/ 9769701 w 10534650"/>
              <a:gd name="connsiteY74" fmla="*/ 3865885 h 4962109"/>
              <a:gd name="connsiteX75" fmla="*/ 9682888 w 10534650"/>
              <a:gd name="connsiteY75" fmla="*/ 3911938 h 4962109"/>
              <a:gd name="connsiteX76" fmla="*/ 9620297 w 10534650"/>
              <a:gd name="connsiteY76" fmla="*/ 3959262 h 4962109"/>
              <a:gd name="connsiteX77" fmla="*/ 9572344 w 10534650"/>
              <a:gd name="connsiteY77" fmla="*/ 3990515 h 4962109"/>
              <a:gd name="connsiteX78" fmla="*/ 9505537 w 10534650"/>
              <a:gd name="connsiteY78" fmla="*/ 4020672 h 4962109"/>
              <a:gd name="connsiteX79" fmla="*/ 9437819 w 10534650"/>
              <a:gd name="connsiteY79" fmla="*/ 4061525 h 4962109"/>
              <a:gd name="connsiteX80" fmla="*/ 9404527 w 10534650"/>
              <a:gd name="connsiteY80" fmla="*/ 4087281 h 4962109"/>
              <a:gd name="connsiteX81" fmla="*/ 9340611 w 10534650"/>
              <a:gd name="connsiteY81" fmla="*/ 4129506 h 4962109"/>
              <a:gd name="connsiteX82" fmla="*/ 9275062 w 10534650"/>
              <a:gd name="connsiteY82" fmla="*/ 4168468 h 4962109"/>
              <a:gd name="connsiteX83" fmla="*/ 9154049 w 10534650"/>
              <a:gd name="connsiteY83" fmla="*/ 4209968 h 4962109"/>
              <a:gd name="connsiteX84" fmla="*/ 9041981 w 10534650"/>
              <a:gd name="connsiteY84" fmla="*/ 4275454 h 4962109"/>
              <a:gd name="connsiteX85" fmla="*/ 8953407 w 10534650"/>
              <a:gd name="connsiteY85" fmla="*/ 4322870 h 4962109"/>
              <a:gd name="connsiteX86" fmla="*/ 8901537 w 10534650"/>
              <a:gd name="connsiteY86" fmla="*/ 4354413 h 4962109"/>
              <a:gd name="connsiteX87" fmla="*/ 8805370 w 10534650"/>
              <a:gd name="connsiteY87" fmla="*/ 4426175 h 4962109"/>
              <a:gd name="connsiteX88" fmla="*/ 8658874 w 10534650"/>
              <a:gd name="connsiteY88" fmla="*/ 4498599 h 4962109"/>
              <a:gd name="connsiteX89" fmla="*/ 8570718 w 10534650"/>
              <a:gd name="connsiteY89" fmla="*/ 4537136 h 4962109"/>
              <a:gd name="connsiteX90" fmla="*/ 8382959 w 10534650"/>
              <a:gd name="connsiteY90" fmla="*/ 4591539 h 4962109"/>
              <a:gd name="connsiteX91" fmla="*/ 8322237 w 10534650"/>
              <a:gd name="connsiteY91" fmla="*/ 4611347 h 4962109"/>
              <a:gd name="connsiteX92" fmla="*/ 8253574 w 10534650"/>
              <a:gd name="connsiteY92" fmla="*/ 4622451 h 4962109"/>
              <a:gd name="connsiteX93" fmla="*/ 8142452 w 10534650"/>
              <a:gd name="connsiteY93" fmla="*/ 4652191 h 4962109"/>
              <a:gd name="connsiteX94" fmla="*/ 7926082 w 10534650"/>
              <a:gd name="connsiteY94" fmla="*/ 4701680 h 4962109"/>
              <a:gd name="connsiteX95" fmla="*/ 7878875 w 10534650"/>
              <a:gd name="connsiteY95" fmla="*/ 4708305 h 4962109"/>
              <a:gd name="connsiteX96" fmla="*/ 7757501 w 10534650"/>
              <a:gd name="connsiteY96" fmla="*/ 4741432 h 4962109"/>
              <a:gd name="connsiteX97" fmla="*/ 7684511 w 10534650"/>
              <a:gd name="connsiteY97" fmla="*/ 4764301 h 4962109"/>
              <a:gd name="connsiteX98" fmla="*/ 7624515 w 10534650"/>
              <a:gd name="connsiteY98" fmla="*/ 4776179 h 4962109"/>
              <a:gd name="connsiteX99" fmla="*/ 7571930 w 10534650"/>
              <a:gd name="connsiteY99" fmla="*/ 4780027 h 4962109"/>
              <a:gd name="connsiteX100" fmla="*/ 7432402 w 10534650"/>
              <a:gd name="connsiteY100" fmla="*/ 4807278 h 4962109"/>
              <a:gd name="connsiteX101" fmla="*/ 7376754 w 10534650"/>
              <a:gd name="connsiteY101" fmla="*/ 4817968 h 4962109"/>
              <a:gd name="connsiteX102" fmla="*/ 7231546 w 10534650"/>
              <a:gd name="connsiteY102" fmla="*/ 4857825 h 4962109"/>
              <a:gd name="connsiteX103" fmla="*/ 7109089 w 10534650"/>
              <a:gd name="connsiteY103" fmla="*/ 4882341 h 4962109"/>
              <a:gd name="connsiteX104" fmla="*/ 7057788 w 10534650"/>
              <a:gd name="connsiteY104" fmla="*/ 4894624 h 4962109"/>
              <a:gd name="connsiteX105" fmla="*/ 6941125 w 10534650"/>
              <a:gd name="connsiteY105" fmla="*/ 4913041 h 4962109"/>
              <a:gd name="connsiteX106" fmla="*/ 6874857 w 10534650"/>
              <a:gd name="connsiteY106" fmla="*/ 4927091 h 4962109"/>
              <a:gd name="connsiteX107" fmla="*/ 6714789 w 10534650"/>
              <a:gd name="connsiteY107" fmla="*/ 4937175 h 4962109"/>
              <a:gd name="connsiteX108" fmla="*/ 6549597 w 10534650"/>
              <a:gd name="connsiteY108" fmla="*/ 4946170 h 4962109"/>
              <a:gd name="connsiteX109" fmla="*/ 6459201 w 10534650"/>
              <a:gd name="connsiteY109" fmla="*/ 4946704 h 4962109"/>
              <a:gd name="connsiteX110" fmla="*/ 6379993 w 10534650"/>
              <a:gd name="connsiteY110" fmla="*/ 4951898 h 4962109"/>
              <a:gd name="connsiteX111" fmla="*/ 6311205 w 10534650"/>
              <a:gd name="connsiteY111" fmla="*/ 4953901 h 4962109"/>
              <a:gd name="connsiteX112" fmla="*/ 6201505 w 10534650"/>
              <a:gd name="connsiteY112" fmla="*/ 4959986 h 4962109"/>
              <a:gd name="connsiteX113" fmla="*/ 6156018 w 10534650"/>
              <a:gd name="connsiteY113" fmla="*/ 4960421 h 4962109"/>
              <a:gd name="connsiteX114" fmla="*/ 6049276 w 10534650"/>
              <a:gd name="connsiteY114" fmla="*/ 4952977 h 4962109"/>
              <a:gd name="connsiteX115" fmla="*/ 6012280 w 10534650"/>
              <a:gd name="connsiteY115" fmla="*/ 4948608 h 4962109"/>
              <a:gd name="connsiteX116" fmla="*/ 5942361 w 10534650"/>
              <a:gd name="connsiteY116" fmla="*/ 4920847 h 4962109"/>
              <a:gd name="connsiteX117" fmla="*/ 5933980 w 10534650"/>
              <a:gd name="connsiteY117" fmla="*/ 4918608 h 4962109"/>
              <a:gd name="connsiteX118" fmla="*/ 5887681 w 10534650"/>
              <a:gd name="connsiteY118" fmla="*/ 4906368 h 4962109"/>
              <a:gd name="connsiteX119" fmla="*/ 5862209 w 10534650"/>
              <a:gd name="connsiteY119" fmla="*/ 4901667 h 4962109"/>
              <a:gd name="connsiteX120" fmla="*/ 5765973 w 10534650"/>
              <a:gd name="connsiteY120" fmla="*/ 4876200 h 4962109"/>
              <a:gd name="connsiteX121" fmla="*/ 5710431 w 10534650"/>
              <a:gd name="connsiteY121" fmla="*/ 4863519 h 4962109"/>
              <a:gd name="connsiteX122" fmla="*/ 5664908 w 10534650"/>
              <a:gd name="connsiteY122" fmla="*/ 4861723 h 4962109"/>
              <a:gd name="connsiteX123" fmla="*/ 5585007 w 10534650"/>
              <a:gd name="connsiteY123" fmla="*/ 4857960 h 4962109"/>
              <a:gd name="connsiteX124" fmla="*/ 5559231 w 10534650"/>
              <a:gd name="connsiteY124" fmla="*/ 4860477 h 4962109"/>
              <a:gd name="connsiteX125" fmla="*/ 5444811 w 10534650"/>
              <a:gd name="connsiteY125" fmla="*/ 4840451 h 4962109"/>
              <a:gd name="connsiteX126" fmla="*/ 5379124 w 10534650"/>
              <a:gd name="connsiteY126" fmla="*/ 4835057 h 4962109"/>
              <a:gd name="connsiteX127" fmla="*/ 5306093 w 10534650"/>
              <a:gd name="connsiteY127" fmla="*/ 4814877 h 4962109"/>
              <a:gd name="connsiteX128" fmla="*/ 5284433 w 10534650"/>
              <a:gd name="connsiteY128" fmla="*/ 4814147 h 4962109"/>
              <a:gd name="connsiteX129" fmla="*/ 5260152 w 10534650"/>
              <a:gd name="connsiteY129" fmla="*/ 4813796 h 4962109"/>
              <a:gd name="connsiteX130" fmla="*/ 5185829 w 10534650"/>
              <a:gd name="connsiteY130" fmla="*/ 4809858 h 4962109"/>
              <a:gd name="connsiteX131" fmla="*/ 5140387 w 10534650"/>
              <a:gd name="connsiteY131" fmla="*/ 4812334 h 4962109"/>
              <a:gd name="connsiteX132" fmla="*/ 5054734 w 10534650"/>
              <a:gd name="connsiteY132" fmla="*/ 4803174 h 4962109"/>
              <a:gd name="connsiteX133" fmla="*/ 5022638 w 10534650"/>
              <a:gd name="connsiteY133" fmla="*/ 4805814 h 4962109"/>
              <a:gd name="connsiteX134" fmla="*/ 4942261 w 10534650"/>
              <a:gd name="connsiteY134" fmla="*/ 4800907 h 4962109"/>
              <a:gd name="connsiteX135" fmla="*/ 4870420 w 10534650"/>
              <a:gd name="connsiteY135" fmla="*/ 4793240 h 4962109"/>
              <a:gd name="connsiteX136" fmla="*/ 4800874 w 10534650"/>
              <a:gd name="connsiteY136" fmla="*/ 4789997 h 4962109"/>
              <a:gd name="connsiteX137" fmla="*/ 4750778 w 10534650"/>
              <a:gd name="connsiteY137" fmla="*/ 4792713 h 4962109"/>
              <a:gd name="connsiteX138" fmla="*/ 4696598 w 10534650"/>
              <a:gd name="connsiteY138" fmla="*/ 4792741 h 4962109"/>
              <a:gd name="connsiteX139" fmla="*/ 4546427 w 10534650"/>
              <a:gd name="connsiteY139" fmla="*/ 4804612 h 4962109"/>
              <a:gd name="connsiteX140" fmla="*/ 4519273 w 10534650"/>
              <a:gd name="connsiteY140" fmla="*/ 4797386 h 4962109"/>
              <a:gd name="connsiteX141" fmla="*/ 4363361 w 10534650"/>
              <a:gd name="connsiteY141" fmla="*/ 4781778 h 4962109"/>
              <a:gd name="connsiteX142" fmla="*/ 4329354 w 10534650"/>
              <a:gd name="connsiteY142" fmla="*/ 4779838 h 4962109"/>
              <a:gd name="connsiteX143" fmla="*/ 4239595 w 10534650"/>
              <a:gd name="connsiteY143" fmla="*/ 4751840 h 4962109"/>
              <a:gd name="connsiteX144" fmla="*/ 4096514 w 10534650"/>
              <a:gd name="connsiteY144" fmla="*/ 4776811 h 4962109"/>
              <a:gd name="connsiteX145" fmla="*/ 3961888 w 10534650"/>
              <a:gd name="connsiteY145" fmla="*/ 4811077 h 4962109"/>
              <a:gd name="connsiteX146" fmla="*/ 3944891 w 10534650"/>
              <a:gd name="connsiteY146" fmla="*/ 4815486 h 4962109"/>
              <a:gd name="connsiteX147" fmla="*/ 3896970 w 10534650"/>
              <a:gd name="connsiteY147" fmla="*/ 4821693 h 4962109"/>
              <a:gd name="connsiteX148" fmla="*/ 3838196 w 10534650"/>
              <a:gd name="connsiteY148" fmla="*/ 4821037 h 4962109"/>
              <a:gd name="connsiteX149" fmla="*/ 3800670 w 10534650"/>
              <a:gd name="connsiteY149" fmla="*/ 4823403 h 4962109"/>
              <a:gd name="connsiteX150" fmla="*/ 3797857 w 10534650"/>
              <a:gd name="connsiteY150" fmla="*/ 4823456 h 4962109"/>
              <a:gd name="connsiteX151" fmla="*/ 3740361 w 10534650"/>
              <a:gd name="connsiteY151" fmla="*/ 4819547 h 4962109"/>
              <a:gd name="connsiteX152" fmla="*/ 3733853 w 10534650"/>
              <a:gd name="connsiteY152" fmla="*/ 4818257 h 4962109"/>
              <a:gd name="connsiteX153" fmla="*/ 3704618 w 10534650"/>
              <a:gd name="connsiteY153" fmla="*/ 4809915 h 4962109"/>
              <a:gd name="connsiteX154" fmla="*/ 3622533 w 10534650"/>
              <a:gd name="connsiteY154" fmla="*/ 4789121 h 4962109"/>
              <a:gd name="connsiteX155" fmla="*/ 3545207 w 10534650"/>
              <a:gd name="connsiteY155" fmla="*/ 4769391 h 4962109"/>
              <a:gd name="connsiteX156" fmla="*/ 3519303 w 10534650"/>
              <a:gd name="connsiteY156" fmla="*/ 4784698 h 4962109"/>
              <a:gd name="connsiteX157" fmla="*/ 3480065 w 10534650"/>
              <a:gd name="connsiteY157" fmla="*/ 4796876 h 4962109"/>
              <a:gd name="connsiteX158" fmla="*/ 3438793 w 10534650"/>
              <a:gd name="connsiteY158" fmla="*/ 4776257 h 4962109"/>
              <a:gd name="connsiteX159" fmla="*/ 3341926 w 10534650"/>
              <a:gd name="connsiteY159" fmla="*/ 4732751 h 4962109"/>
              <a:gd name="connsiteX160" fmla="*/ 3279243 w 10534650"/>
              <a:gd name="connsiteY160" fmla="*/ 4726817 h 4962109"/>
              <a:gd name="connsiteX161" fmla="*/ 3143823 w 10534650"/>
              <a:gd name="connsiteY161" fmla="*/ 4701842 h 4962109"/>
              <a:gd name="connsiteX162" fmla="*/ 3056138 w 10534650"/>
              <a:gd name="connsiteY162" fmla="*/ 4673429 h 4962109"/>
              <a:gd name="connsiteX163" fmla="*/ 2993770 w 10534650"/>
              <a:gd name="connsiteY163" fmla="*/ 4643771 h 4962109"/>
              <a:gd name="connsiteX164" fmla="*/ 2904225 w 10534650"/>
              <a:gd name="connsiteY164" fmla="*/ 4604470 h 4962109"/>
              <a:gd name="connsiteX165" fmla="*/ 2813231 w 10534650"/>
              <a:gd name="connsiteY165" fmla="*/ 4581028 h 4962109"/>
              <a:gd name="connsiteX166" fmla="*/ 2748028 w 10534650"/>
              <a:gd name="connsiteY166" fmla="*/ 4554886 h 4962109"/>
              <a:gd name="connsiteX167" fmla="*/ 2667581 w 10534650"/>
              <a:gd name="connsiteY167" fmla="*/ 4534574 h 4962109"/>
              <a:gd name="connsiteX168" fmla="*/ 2599283 w 10534650"/>
              <a:gd name="connsiteY168" fmla="*/ 4529376 h 4962109"/>
              <a:gd name="connsiteX169" fmla="*/ 2491986 w 10534650"/>
              <a:gd name="connsiteY169" fmla="*/ 4524678 h 4962109"/>
              <a:gd name="connsiteX170" fmla="*/ 2363895 w 10534650"/>
              <a:gd name="connsiteY170" fmla="*/ 4471069 h 4962109"/>
              <a:gd name="connsiteX171" fmla="*/ 2311566 w 10534650"/>
              <a:gd name="connsiteY171" fmla="*/ 4457491 h 4962109"/>
              <a:gd name="connsiteX172" fmla="*/ 2262011 w 10534650"/>
              <a:gd name="connsiteY172" fmla="*/ 4449484 h 4962109"/>
              <a:gd name="connsiteX173" fmla="*/ 2158206 w 10534650"/>
              <a:gd name="connsiteY173" fmla="*/ 4412555 h 4962109"/>
              <a:gd name="connsiteX174" fmla="*/ 2115838 w 10534650"/>
              <a:gd name="connsiteY174" fmla="*/ 4399840 h 4962109"/>
              <a:gd name="connsiteX175" fmla="*/ 2055614 w 10534650"/>
              <a:gd name="connsiteY175" fmla="*/ 4395932 h 4962109"/>
              <a:gd name="connsiteX176" fmla="*/ 1947021 w 10534650"/>
              <a:gd name="connsiteY176" fmla="*/ 4374820 h 4962109"/>
              <a:gd name="connsiteX177" fmla="*/ 1840396 w 10534650"/>
              <a:gd name="connsiteY177" fmla="*/ 4327492 h 4962109"/>
              <a:gd name="connsiteX178" fmla="*/ 1793775 w 10534650"/>
              <a:gd name="connsiteY178" fmla="*/ 4328221 h 4962109"/>
              <a:gd name="connsiteX179" fmla="*/ 1777216 w 10534650"/>
              <a:gd name="connsiteY179" fmla="*/ 4326168 h 4962109"/>
              <a:gd name="connsiteX180" fmla="*/ 1629295 w 10534650"/>
              <a:gd name="connsiteY180" fmla="*/ 4294032 h 4962109"/>
              <a:gd name="connsiteX181" fmla="*/ 1614496 w 10534650"/>
              <a:gd name="connsiteY181" fmla="*/ 4290614 h 4962109"/>
              <a:gd name="connsiteX182" fmla="*/ 1545646 w 10534650"/>
              <a:gd name="connsiteY182" fmla="*/ 4266265 h 4962109"/>
              <a:gd name="connsiteX183" fmla="*/ 1369537 w 10534650"/>
              <a:gd name="connsiteY183" fmla="*/ 4242047 h 4962109"/>
              <a:gd name="connsiteX184" fmla="*/ 1358743 w 10534650"/>
              <a:gd name="connsiteY184" fmla="*/ 4239828 h 4962109"/>
              <a:gd name="connsiteX185" fmla="*/ 1298789 w 10534650"/>
              <a:gd name="connsiteY185" fmla="*/ 4245587 h 4962109"/>
              <a:gd name="connsiteX186" fmla="*/ 1268483 w 10534650"/>
              <a:gd name="connsiteY186" fmla="*/ 4257443 h 4962109"/>
              <a:gd name="connsiteX187" fmla="*/ 1221700 w 10534650"/>
              <a:gd name="connsiteY187" fmla="*/ 4268736 h 4962109"/>
              <a:gd name="connsiteX188" fmla="*/ 1174793 w 10534650"/>
              <a:gd name="connsiteY188" fmla="*/ 4270928 h 4962109"/>
              <a:gd name="connsiteX189" fmla="*/ 1098150 w 10534650"/>
              <a:gd name="connsiteY189" fmla="*/ 4243822 h 4962109"/>
              <a:gd name="connsiteX190" fmla="*/ 1069859 w 10534650"/>
              <a:gd name="connsiteY190" fmla="*/ 4239673 h 4962109"/>
              <a:gd name="connsiteX191" fmla="*/ 1007226 w 10534650"/>
              <a:gd name="connsiteY191" fmla="*/ 4224839 h 4962109"/>
              <a:gd name="connsiteX192" fmla="*/ 951768 w 10534650"/>
              <a:gd name="connsiteY192" fmla="*/ 4221810 h 4962109"/>
              <a:gd name="connsiteX193" fmla="*/ 906114 w 10534650"/>
              <a:gd name="connsiteY193" fmla="*/ 4235593 h 4962109"/>
              <a:gd name="connsiteX194" fmla="*/ 841245 w 10534650"/>
              <a:gd name="connsiteY194" fmla="*/ 4234521 h 4962109"/>
              <a:gd name="connsiteX195" fmla="*/ 800332 w 10534650"/>
              <a:gd name="connsiteY195" fmla="*/ 4219495 h 4962109"/>
              <a:gd name="connsiteX196" fmla="*/ 791951 w 10534650"/>
              <a:gd name="connsiteY196" fmla="*/ 4217256 h 4962109"/>
              <a:gd name="connsiteX197" fmla="*/ 682847 w 10534650"/>
              <a:gd name="connsiteY197" fmla="*/ 4209095 h 4962109"/>
              <a:gd name="connsiteX198" fmla="*/ 544048 w 10534650"/>
              <a:gd name="connsiteY198" fmla="*/ 4236583 h 4962109"/>
              <a:gd name="connsiteX199" fmla="*/ 520986 w 10534650"/>
              <a:gd name="connsiteY199" fmla="*/ 4242810 h 4962109"/>
              <a:gd name="connsiteX200" fmla="*/ 410178 w 10534650"/>
              <a:gd name="connsiteY200" fmla="*/ 4248822 h 4962109"/>
              <a:gd name="connsiteX201" fmla="*/ 350333 w 10534650"/>
              <a:gd name="connsiteY201" fmla="*/ 4258484 h 4962109"/>
              <a:gd name="connsiteX202" fmla="*/ 307802 w 10534650"/>
              <a:gd name="connsiteY202" fmla="*/ 4256334 h 4962109"/>
              <a:gd name="connsiteX203" fmla="*/ 254816 w 10534650"/>
              <a:gd name="connsiteY203" fmla="*/ 4277037 h 4962109"/>
              <a:gd name="connsiteX204" fmla="*/ 237292 w 10534650"/>
              <a:gd name="connsiteY204" fmla="*/ 4286423 h 4962109"/>
              <a:gd name="connsiteX205" fmla="*/ 216734 w 10534650"/>
              <a:gd name="connsiteY205" fmla="*/ 4291334 h 4962109"/>
              <a:gd name="connsiteX206" fmla="*/ 124141 w 10534650"/>
              <a:gd name="connsiteY206" fmla="*/ 4305079 h 4962109"/>
              <a:gd name="connsiteX207" fmla="*/ 107121 w 10534650"/>
              <a:gd name="connsiteY207" fmla="*/ 4315238 h 4962109"/>
              <a:gd name="connsiteX208" fmla="*/ 95746 w 10534650"/>
              <a:gd name="connsiteY208" fmla="*/ 4321517 h 4962109"/>
              <a:gd name="connsiteX209" fmla="*/ 6292 w 10534650"/>
              <a:gd name="connsiteY209" fmla="*/ 4327311 h 4962109"/>
              <a:gd name="connsiteX210" fmla="*/ 1 w 10534650"/>
              <a:gd name="connsiteY210" fmla="*/ 4327851 h 496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10534650" h="4962109">
                <a:moveTo>
                  <a:pt x="6180200" y="4801197"/>
                </a:moveTo>
                <a:lnTo>
                  <a:pt x="6147637" y="4805291"/>
                </a:lnTo>
                <a:lnTo>
                  <a:pt x="6164640" y="4804893"/>
                </a:lnTo>
                <a:cubicBezTo>
                  <a:pt x="6170280" y="4804512"/>
                  <a:pt x="6175677" y="4803578"/>
                  <a:pt x="6180200" y="4801197"/>
                </a:cubicBezTo>
                <a:close/>
                <a:moveTo>
                  <a:pt x="5969537" y="4731750"/>
                </a:moveTo>
                <a:lnTo>
                  <a:pt x="5980870" y="4743324"/>
                </a:lnTo>
                <a:lnTo>
                  <a:pt x="5980870" y="4743323"/>
                </a:lnTo>
                <a:close/>
                <a:moveTo>
                  <a:pt x="6712815" y="4676908"/>
                </a:moveTo>
                <a:lnTo>
                  <a:pt x="6712815" y="4676909"/>
                </a:lnTo>
                <a:lnTo>
                  <a:pt x="6734605" y="4700281"/>
                </a:lnTo>
                <a:cubicBezTo>
                  <a:pt x="6728727" y="4693945"/>
                  <a:pt x="6722664" y="4687596"/>
                  <a:pt x="6712815" y="4676908"/>
                </a:cubicBezTo>
                <a:close/>
                <a:moveTo>
                  <a:pt x="5236566" y="4571169"/>
                </a:moveTo>
                <a:lnTo>
                  <a:pt x="5264294" y="4579674"/>
                </a:lnTo>
                <a:lnTo>
                  <a:pt x="5280204" y="4586908"/>
                </a:lnTo>
                <a:lnTo>
                  <a:pt x="5280336" y="4586967"/>
                </a:lnTo>
                <a:lnTo>
                  <a:pt x="5294396" y="4593609"/>
                </a:lnTo>
                <a:lnTo>
                  <a:pt x="5296104" y="4594130"/>
                </a:lnTo>
                <a:lnTo>
                  <a:pt x="5301566" y="4596610"/>
                </a:lnTo>
                <a:cubicBezTo>
                  <a:pt x="5308775" y="4599427"/>
                  <a:pt x="5316122" y="4601617"/>
                  <a:pt x="5323749" y="4602562"/>
                </a:cubicBezTo>
                <a:lnTo>
                  <a:pt x="5296104" y="4594130"/>
                </a:lnTo>
                <a:lnTo>
                  <a:pt x="5280336" y="4586967"/>
                </a:lnTo>
                <a:lnTo>
                  <a:pt x="5266003" y="4580197"/>
                </a:lnTo>
                <a:lnTo>
                  <a:pt x="5264294" y="4579674"/>
                </a:lnTo>
                <a:lnTo>
                  <a:pt x="5258823" y="4577184"/>
                </a:lnTo>
                <a:cubicBezTo>
                  <a:pt x="5251595" y="4574355"/>
                  <a:pt x="5244224" y="4572143"/>
                  <a:pt x="5236566" y="4571169"/>
                </a:cubicBezTo>
                <a:close/>
                <a:moveTo>
                  <a:pt x="5514391" y="4562409"/>
                </a:moveTo>
                <a:lnTo>
                  <a:pt x="5571581" y="4569638"/>
                </a:lnTo>
                <a:cubicBezTo>
                  <a:pt x="5561681" y="4566506"/>
                  <a:pt x="5551982" y="4564189"/>
                  <a:pt x="5542458" y="4562909"/>
                </a:cubicBezTo>
                <a:cubicBezTo>
                  <a:pt x="5532935" y="4561630"/>
                  <a:pt x="5523588" y="4561388"/>
                  <a:pt x="5514391" y="4562409"/>
                </a:cubicBezTo>
                <a:close/>
                <a:moveTo>
                  <a:pt x="3097094" y="4429045"/>
                </a:moveTo>
                <a:lnTo>
                  <a:pt x="3088347" y="4439791"/>
                </a:lnTo>
                <a:cubicBezTo>
                  <a:pt x="3083671" y="4447172"/>
                  <a:pt x="3078424" y="4452894"/>
                  <a:pt x="3072652" y="4457084"/>
                </a:cubicBezTo>
                <a:lnTo>
                  <a:pt x="3053825" y="4465207"/>
                </a:lnTo>
                <a:cubicBezTo>
                  <a:pt x="3067357" y="4462670"/>
                  <a:pt x="3078995" y="4454555"/>
                  <a:pt x="3088348" y="4439791"/>
                </a:cubicBezTo>
                <a:close/>
                <a:moveTo>
                  <a:pt x="4090071" y="4402823"/>
                </a:moveTo>
                <a:lnTo>
                  <a:pt x="4105672" y="4404644"/>
                </a:lnTo>
                <a:lnTo>
                  <a:pt x="4121173" y="4414076"/>
                </a:lnTo>
                <a:cubicBezTo>
                  <a:pt x="4116059" y="4409460"/>
                  <a:pt x="4110873" y="4406418"/>
                  <a:pt x="4105673" y="4404644"/>
                </a:cubicBezTo>
                <a:lnTo>
                  <a:pt x="4105672" y="4404644"/>
                </a:lnTo>
                <a:lnTo>
                  <a:pt x="4105672" y="4404644"/>
                </a:lnTo>
                <a:cubicBezTo>
                  <a:pt x="4100470" y="4402869"/>
                  <a:pt x="4095250" y="4402364"/>
                  <a:pt x="4090071" y="4402823"/>
                </a:cubicBezTo>
                <a:close/>
                <a:moveTo>
                  <a:pt x="3874703" y="4390456"/>
                </a:moveTo>
                <a:cubicBezTo>
                  <a:pt x="3888207" y="4407424"/>
                  <a:pt x="3904096" y="4414579"/>
                  <a:pt x="3921126" y="4417222"/>
                </a:cubicBezTo>
                <a:lnTo>
                  <a:pt x="3896594" y="4409211"/>
                </a:lnTo>
                <a:cubicBezTo>
                  <a:pt x="3888805" y="4404972"/>
                  <a:pt x="3881457" y="4398939"/>
                  <a:pt x="3874703" y="4390456"/>
                </a:cubicBezTo>
                <a:close/>
                <a:moveTo>
                  <a:pt x="7873706" y="4301238"/>
                </a:moveTo>
                <a:cubicBezTo>
                  <a:pt x="7879271" y="4306720"/>
                  <a:pt x="7885522" y="4312339"/>
                  <a:pt x="7892206" y="4317039"/>
                </a:cubicBezTo>
                <a:lnTo>
                  <a:pt x="7899880" y="4320773"/>
                </a:lnTo>
                <a:lnTo>
                  <a:pt x="7892205" y="4317038"/>
                </a:lnTo>
                <a:cubicBezTo>
                  <a:pt x="7885522" y="4312339"/>
                  <a:pt x="7879271" y="4306720"/>
                  <a:pt x="7873706" y="4301238"/>
                </a:cubicBezTo>
                <a:close/>
                <a:moveTo>
                  <a:pt x="1456506" y="3863438"/>
                </a:moveTo>
                <a:cubicBezTo>
                  <a:pt x="1451501" y="3864050"/>
                  <a:pt x="1446149" y="3865681"/>
                  <a:pt x="1442667" y="3867764"/>
                </a:cubicBezTo>
                <a:cubicBezTo>
                  <a:pt x="1425879" y="3877941"/>
                  <a:pt x="1411091" y="3885493"/>
                  <a:pt x="1397372" y="3890362"/>
                </a:cubicBezTo>
                <a:cubicBezTo>
                  <a:pt x="1411091" y="3885493"/>
                  <a:pt x="1425880" y="3877941"/>
                  <a:pt x="1442668" y="3867764"/>
                </a:cubicBezTo>
                <a:close/>
                <a:moveTo>
                  <a:pt x="1071905" y="3816123"/>
                </a:moveTo>
                <a:lnTo>
                  <a:pt x="1062478" y="3818725"/>
                </a:lnTo>
                <a:lnTo>
                  <a:pt x="1022563" y="3825445"/>
                </a:lnTo>
                <a:lnTo>
                  <a:pt x="1062480" y="3818725"/>
                </a:lnTo>
                <a:close/>
                <a:moveTo>
                  <a:pt x="1209869" y="3815014"/>
                </a:moveTo>
                <a:cubicBezTo>
                  <a:pt x="1227625" y="3817890"/>
                  <a:pt x="1245541" y="3819944"/>
                  <a:pt x="1257364" y="3832567"/>
                </a:cubicBezTo>
                <a:cubicBezTo>
                  <a:pt x="1245542" y="3819944"/>
                  <a:pt x="1227625" y="3817890"/>
                  <a:pt x="1209869" y="3815014"/>
                </a:cubicBezTo>
                <a:close/>
                <a:moveTo>
                  <a:pt x="0" y="0"/>
                </a:moveTo>
                <a:lnTo>
                  <a:pt x="10534650" y="0"/>
                </a:lnTo>
                <a:lnTo>
                  <a:pt x="10534650" y="3353931"/>
                </a:lnTo>
                <a:lnTo>
                  <a:pt x="10495227" y="3401247"/>
                </a:lnTo>
                <a:cubicBezTo>
                  <a:pt x="10485337" y="3413006"/>
                  <a:pt x="10476032" y="3427032"/>
                  <a:pt x="10463118" y="3434133"/>
                </a:cubicBezTo>
                <a:cubicBezTo>
                  <a:pt x="10436316" y="3449009"/>
                  <a:pt x="10407326" y="3460583"/>
                  <a:pt x="10378879" y="3472380"/>
                </a:cubicBezTo>
                <a:cubicBezTo>
                  <a:pt x="10354448" y="3482409"/>
                  <a:pt x="10328740" y="3489381"/>
                  <a:pt x="10304799" y="3500370"/>
                </a:cubicBezTo>
                <a:cubicBezTo>
                  <a:pt x="10285652" y="3509090"/>
                  <a:pt x="10268271" y="3521824"/>
                  <a:pt x="10250242" y="3533216"/>
                </a:cubicBezTo>
                <a:cubicBezTo>
                  <a:pt x="10234541" y="3543095"/>
                  <a:pt x="10217465" y="3551396"/>
                  <a:pt x="10204013" y="3563655"/>
                </a:cubicBezTo>
                <a:cubicBezTo>
                  <a:pt x="10171195" y="3593338"/>
                  <a:pt x="10138228" y="3622454"/>
                  <a:pt x="10098588" y="3643324"/>
                </a:cubicBezTo>
                <a:cubicBezTo>
                  <a:pt x="10059514" y="3664046"/>
                  <a:pt x="10022283" y="3687678"/>
                  <a:pt x="9983369" y="3708784"/>
                </a:cubicBezTo>
                <a:cubicBezTo>
                  <a:pt x="9945228" y="3729383"/>
                  <a:pt x="9910448" y="3752437"/>
                  <a:pt x="9888637" y="3792146"/>
                </a:cubicBezTo>
                <a:cubicBezTo>
                  <a:pt x="9878912" y="3809668"/>
                  <a:pt x="9865565" y="3828615"/>
                  <a:pt x="9848780" y="3838049"/>
                </a:cubicBezTo>
                <a:cubicBezTo>
                  <a:pt x="9824861" y="3851452"/>
                  <a:pt x="9795499" y="3854838"/>
                  <a:pt x="9769701" y="3865885"/>
                </a:cubicBezTo>
                <a:cubicBezTo>
                  <a:pt x="9739318" y="3878850"/>
                  <a:pt x="9704457" y="3889469"/>
                  <a:pt x="9682888" y="3911938"/>
                </a:cubicBezTo>
                <a:cubicBezTo>
                  <a:pt x="9663714" y="3931973"/>
                  <a:pt x="9644670" y="3947376"/>
                  <a:pt x="9620297" y="3959262"/>
                </a:cubicBezTo>
                <a:cubicBezTo>
                  <a:pt x="9603219" y="3967566"/>
                  <a:pt x="9589864" y="3983912"/>
                  <a:pt x="9572344" y="3990515"/>
                </a:cubicBezTo>
                <a:cubicBezTo>
                  <a:pt x="9549293" y="3999339"/>
                  <a:pt x="9526207" y="4005934"/>
                  <a:pt x="9505537" y="4020672"/>
                </a:cubicBezTo>
                <a:cubicBezTo>
                  <a:pt x="9484091" y="4035912"/>
                  <a:pt x="9460115" y="4047456"/>
                  <a:pt x="9437819" y="4061525"/>
                </a:cubicBezTo>
                <a:cubicBezTo>
                  <a:pt x="9425990" y="4069070"/>
                  <a:pt x="9416013" y="4079339"/>
                  <a:pt x="9404527" y="4087281"/>
                </a:cubicBezTo>
                <a:cubicBezTo>
                  <a:pt x="9383500" y="4101807"/>
                  <a:pt x="9362130" y="4115940"/>
                  <a:pt x="9340611" y="4129506"/>
                </a:cubicBezTo>
                <a:cubicBezTo>
                  <a:pt x="9319094" y="4143075"/>
                  <a:pt x="9298336" y="4159103"/>
                  <a:pt x="9275062" y="4168468"/>
                </a:cubicBezTo>
                <a:cubicBezTo>
                  <a:pt x="9235393" y="4184326"/>
                  <a:pt x="9192714" y="4192558"/>
                  <a:pt x="9154049" y="4209968"/>
                </a:cubicBezTo>
                <a:cubicBezTo>
                  <a:pt x="9114807" y="4227709"/>
                  <a:pt x="9077428" y="4250775"/>
                  <a:pt x="9041981" y="4275454"/>
                </a:cubicBezTo>
                <a:cubicBezTo>
                  <a:pt x="9013941" y="4294886"/>
                  <a:pt x="8987577" y="4314247"/>
                  <a:pt x="8953407" y="4322870"/>
                </a:cubicBezTo>
                <a:cubicBezTo>
                  <a:pt x="8934339" y="4327698"/>
                  <a:pt x="8913858" y="4339665"/>
                  <a:pt x="8901537" y="4354413"/>
                </a:cubicBezTo>
                <a:cubicBezTo>
                  <a:pt x="8874858" y="4386553"/>
                  <a:pt x="8842027" y="4408257"/>
                  <a:pt x="8805370" y="4426175"/>
                </a:cubicBezTo>
                <a:cubicBezTo>
                  <a:pt x="8756414" y="4450307"/>
                  <a:pt x="8707976" y="4475033"/>
                  <a:pt x="8658874" y="4498599"/>
                </a:cubicBezTo>
                <a:cubicBezTo>
                  <a:pt x="8629907" y="4512587"/>
                  <a:pt x="8601063" y="4527509"/>
                  <a:pt x="8570718" y="4537136"/>
                </a:cubicBezTo>
                <a:cubicBezTo>
                  <a:pt x="8508693" y="4557041"/>
                  <a:pt x="8445428" y="4573334"/>
                  <a:pt x="8382959" y="4591539"/>
                </a:cubicBezTo>
                <a:cubicBezTo>
                  <a:pt x="8362523" y="4597385"/>
                  <a:pt x="8342983" y="4606448"/>
                  <a:pt x="8322237" y="4611347"/>
                </a:cubicBezTo>
                <a:cubicBezTo>
                  <a:pt x="8299794" y="4616686"/>
                  <a:pt x="8276017" y="4617112"/>
                  <a:pt x="8253574" y="4622451"/>
                </a:cubicBezTo>
                <a:cubicBezTo>
                  <a:pt x="8216238" y="4631231"/>
                  <a:pt x="8179798" y="4643227"/>
                  <a:pt x="8142452" y="4652191"/>
                </a:cubicBezTo>
                <a:cubicBezTo>
                  <a:pt x="8070405" y="4669374"/>
                  <a:pt x="7998236" y="4685619"/>
                  <a:pt x="7926082" y="4701680"/>
                </a:cubicBezTo>
                <a:cubicBezTo>
                  <a:pt x="7910636" y="4705085"/>
                  <a:pt x="7894160" y="4704520"/>
                  <a:pt x="7878875" y="4708305"/>
                </a:cubicBezTo>
                <a:cubicBezTo>
                  <a:pt x="7838286" y="4718535"/>
                  <a:pt x="7797807" y="4729883"/>
                  <a:pt x="7757501" y="4741432"/>
                </a:cubicBezTo>
                <a:cubicBezTo>
                  <a:pt x="7733086" y="4748492"/>
                  <a:pt x="7709086" y="4757622"/>
                  <a:pt x="7684511" y="4764301"/>
                </a:cubicBezTo>
                <a:cubicBezTo>
                  <a:pt x="7664851" y="4769644"/>
                  <a:pt x="7644738" y="4773472"/>
                  <a:pt x="7624515" y="4776179"/>
                </a:cubicBezTo>
                <a:cubicBezTo>
                  <a:pt x="7607100" y="4778522"/>
                  <a:pt x="7589211" y="4776933"/>
                  <a:pt x="7571930" y="4780027"/>
                </a:cubicBezTo>
                <a:cubicBezTo>
                  <a:pt x="7525162" y="4788350"/>
                  <a:pt x="7478851" y="4798192"/>
                  <a:pt x="7432402" y="4807278"/>
                </a:cubicBezTo>
                <a:cubicBezTo>
                  <a:pt x="7413794" y="4810838"/>
                  <a:pt x="7394900" y="4813080"/>
                  <a:pt x="7376754" y="4817968"/>
                </a:cubicBezTo>
                <a:cubicBezTo>
                  <a:pt x="7328196" y="4830812"/>
                  <a:pt x="7280227" y="4845917"/>
                  <a:pt x="7231546" y="4857825"/>
                </a:cubicBezTo>
                <a:cubicBezTo>
                  <a:pt x="7191170" y="4867696"/>
                  <a:pt x="7149922" y="4873983"/>
                  <a:pt x="7109089" y="4882341"/>
                </a:cubicBezTo>
                <a:cubicBezTo>
                  <a:pt x="7091771" y="4885988"/>
                  <a:pt x="7075053" y="4891717"/>
                  <a:pt x="7057788" y="4894624"/>
                </a:cubicBezTo>
                <a:cubicBezTo>
                  <a:pt x="7019113" y="4901273"/>
                  <a:pt x="6979984" y="4906404"/>
                  <a:pt x="6941125" y="4913041"/>
                </a:cubicBezTo>
                <a:cubicBezTo>
                  <a:pt x="6918968" y="4916914"/>
                  <a:pt x="6897260" y="4925088"/>
                  <a:pt x="6874857" y="4927091"/>
                </a:cubicBezTo>
                <a:cubicBezTo>
                  <a:pt x="6821656" y="4931824"/>
                  <a:pt x="6768247" y="4934130"/>
                  <a:pt x="6714789" y="4937175"/>
                </a:cubicBezTo>
                <a:cubicBezTo>
                  <a:pt x="6659657" y="4940292"/>
                  <a:pt x="6604682" y="4943792"/>
                  <a:pt x="6549597" y="4946170"/>
                </a:cubicBezTo>
                <a:cubicBezTo>
                  <a:pt x="6519465" y="4947276"/>
                  <a:pt x="6489322" y="4945783"/>
                  <a:pt x="6459201" y="4946704"/>
                </a:cubicBezTo>
                <a:cubicBezTo>
                  <a:pt x="6432800" y="4947508"/>
                  <a:pt x="6406432" y="4950539"/>
                  <a:pt x="6379993" y="4951898"/>
                </a:cubicBezTo>
                <a:cubicBezTo>
                  <a:pt x="6357100" y="4952937"/>
                  <a:pt x="6334097" y="4952858"/>
                  <a:pt x="6311205" y="4953901"/>
                </a:cubicBezTo>
                <a:cubicBezTo>
                  <a:pt x="6274532" y="4955673"/>
                  <a:pt x="6238005" y="4958014"/>
                  <a:pt x="6201505" y="4959986"/>
                </a:cubicBezTo>
                <a:cubicBezTo>
                  <a:pt x="6186248" y="4960620"/>
                  <a:pt x="6170049" y="4964157"/>
                  <a:pt x="6156018" y="4960421"/>
                </a:cubicBezTo>
                <a:cubicBezTo>
                  <a:pt x="6120663" y="4950966"/>
                  <a:pt x="6085248" y="4950600"/>
                  <a:pt x="6049276" y="4952977"/>
                </a:cubicBezTo>
                <a:cubicBezTo>
                  <a:pt x="6036975" y="4953812"/>
                  <a:pt x="6023887" y="4952550"/>
                  <a:pt x="6012280" y="4948608"/>
                </a:cubicBezTo>
                <a:cubicBezTo>
                  <a:pt x="5988511" y="4940682"/>
                  <a:pt x="5965659" y="4930223"/>
                  <a:pt x="5942361" y="4920847"/>
                </a:cubicBezTo>
                <a:cubicBezTo>
                  <a:pt x="5939837" y="4919748"/>
                  <a:pt x="5936711" y="4919348"/>
                  <a:pt x="5933980" y="4918608"/>
                </a:cubicBezTo>
                <a:cubicBezTo>
                  <a:pt x="5918490" y="4914400"/>
                  <a:pt x="5903193" y="4910205"/>
                  <a:pt x="5887681" y="4906368"/>
                </a:cubicBezTo>
                <a:cubicBezTo>
                  <a:pt x="5879287" y="4904312"/>
                  <a:pt x="5870619" y="4903538"/>
                  <a:pt x="5862209" y="4901667"/>
                </a:cubicBezTo>
                <a:cubicBezTo>
                  <a:pt x="5829686" y="4894261"/>
                  <a:pt x="5792897" y="4900480"/>
                  <a:pt x="5765973" y="4876200"/>
                </a:cubicBezTo>
                <a:cubicBezTo>
                  <a:pt x="5748483" y="4860538"/>
                  <a:pt x="5730341" y="4862645"/>
                  <a:pt x="5710431" y="4863519"/>
                </a:cubicBezTo>
                <a:cubicBezTo>
                  <a:pt x="5695357" y="4864163"/>
                  <a:pt x="5680064" y="4862567"/>
                  <a:pt x="5664908" y="4861723"/>
                </a:cubicBezTo>
                <a:cubicBezTo>
                  <a:pt x="5638275" y="4860468"/>
                  <a:pt x="5611666" y="4858845"/>
                  <a:pt x="5585007" y="4857960"/>
                </a:cubicBezTo>
                <a:cubicBezTo>
                  <a:pt x="5576485" y="4857752"/>
                  <a:pt x="5567492" y="4861780"/>
                  <a:pt x="5559231" y="4860477"/>
                </a:cubicBezTo>
                <a:cubicBezTo>
                  <a:pt x="5521053" y="4854355"/>
                  <a:pt x="5483013" y="4846202"/>
                  <a:pt x="5444811" y="4840451"/>
                </a:cubicBezTo>
                <a:cubicBezTo>
                  <a:pt x="5423144" y="4837123"/>
                  <a:pt x="5400557" y="4839112"/>
                  <a:pt x="5379124" y="4835057"/>
                </a:cubicBezTo>
                <a:cubicBezTo>
                  <a:pt x="5354393" y="4830408"/>
                  <a:pt x="5330529" y="4821180"/>
                  <a:pt x="5306093" y="4814877"/>
                </a:cubicBezTo>
                <a:cubicBezTo>
                  <a:pt x="5299348" y="4813123"/>
                  <a:pt x="5291662" y="4814270"/>
                  <a:pt x="5284433" y="4814147"/>
                </a:cubicBezTo>
                <a:cubicBezTo>
                  <a:pt x="5276282" y="4813965"/>
                  <a:pt x="5268291" y="4814164"/>
                  <a:pt x="5260152" y="4813796"/>
                </a:cubicBezTo>
                <a:cubicBezTo>
                  <a:pt x="5235376" y="4812484"/>
                  <a:pt x="5210666" y="4810246"/>
                  <a:pt x="5185829" y="4809858"/>
                </a:cubicBezTo>
                <a:cubicBezTo>
                  <a:pt x="5170634" y="4809567"/>
                  <a:pt x="5154236" y="4816059"/>
                  <a:pt x="5140387" y="4812334"/>
                </a:cubicBezTo>
                <a:cubicBezTo>
                  <a:pt x="5112124" y="4805032"/>
                  <a:pt x="5082682" y="4815092"/>
                  <a:pt x="5054734" y="4803174"/>
                </a:cubicBezTo>
                <a:cubicBezTo>
                  <a:pt x="5046067" y="4799616"/>
                  <a:pt x="5033378" y="4806174"/>
                  <a:pt x="5022638" y="4805814"/>
                </a:cubicBezTo>
                <a:cubicBezTo>
                  <a:pt x="4995795" y="4804917"/>
                  <a:pt x="4969030" y="4802912"/>
                  <a:pt x="4942261" y="4800907"/>
                </a:cubicBezTo>
                <a:cubicBezTo>
                  <a:pt x="4918263" y="4799091"/>
                  <a:pt x="4893154" y="4799980"/>
                  <a:pt x="4870420" y="4793240"/>
                </a:cubicBezTo>
                <a:cubicBezTo>
                  <a:pt x="4846600" y="4786056"/>
                  <a:pt x="4824759" y="4785313"/>
                  <a:pt x="4800874" y="4789997"/>
                </a:cubicBezTo>
                <a:cubicBezTo>
                  <a:pt x="4784518" y="4793152"/>
                  <a:pt x="4767488" y="4792551"/>
                  <a:pt x="4750778" y="4792713"/>
                </a:cubicBezTo>
                <a:cubicBezTo>
                  <a:pt x="4732764" y="4792973"/>
                  <a:pt x="4713264" y="4787751"/>
                  <a:pt x="4696598" y="4792741"/>
                </a:cubicBezTo>
                <a:cubicBezTo>
                  <a:pt x="4646976" y="4807551"/>
                  <a:pt x="4597032" y="4808052"/>
                  <a:pt x="4546427" y="4804612"/>
                </a:cubicBezTo>
                <a:cubicBezTo>
                  <a:pt x="4537191" y="4803984"/>
                  <a:pt x="4527947" y="4800760"/>
                  <a:pt x="4519273" y="4797386"/>
                </a:cubicBezTo>
                <a:cubicBezTo>
                  <a:pt x="4468687" y="4777248"/>
                  <a:pt x="4416689" y="4775196"/>
                  <a:pt x="4363361" y="4781778"/>
                </a:cubicBezTo>
                <a:cubicBezTo>
                  <a:pt x="4352313" y="4783253"/>
                  <a:pt x="4340098" y="4782794"/>
                  <a:pt x="4329354" y="4779838"/>
                </a:cubicBezTo>
                <a:cubicBezTo>
                  <a:pt x="4299132" y="4771288"/>
                  <a:pt x="4270125" y="4758554"/>
                  <a:pt x="4239595" y="4751840"/>
                </a:cubicBezTo>
                <a:cubicBezTo>
                  <a:pt x="4189137" y="4740803"/>
                  <a:pt x="4143262" y="4763288"/>
                  <a:pt x="4096514" y="4776811"/>
                </a:cubicBezTo>
                <a:cubicBezTo>
                  <a:pt x="4052043" y="4789559"/>
                  <a:pt x="4012695" y="4822508"/>
                  <a:pt x="3961888" y="4811077"/>
                </a:cubicBezTo>
                <a:cubicBezTo>
                  <a:pt x="3956768" y="4809986"/>
                  <a:pt x="3950703" y="4814584"/>
                  <a:pt x="3944891" y="4815486"/>
                </a:cubicBezTo>
                <a:cubicBezTo>
                  <a:pt x="3928953" y="4817931"/>
                  <a:pt x="3912968" y="4821109"/>
                  <a:pt x="3896970" y="4821693"/>
                </a:cubicBezTo>
                <a:cubicBezTo>
                  <a:pt x="3877426" y="4822591"/>
                  <a:pt x="3857714" y="4820509"/>
                  <a:pt x="3838196" y="4821037"/>
                </a:cubicBezTo>
                <a:cubicBezTo>
                  <a:pt x="3825655" y="4821298"/>
                  <a:pt x="3813141" y="4822487"/>
                  <a:pt x="3800670" y="4823403"/>
                </a:cubicBezTo>
                <a:lnTo>
                  <a:pt x="3797857" y="4823456"/>
                </a:lnTo>
                <a:lnTo>
                  <a:pt x="3740361" y="4819547"/>
                </a:lnTo>
                <a:lnTo>
                  <a:pt x="3733853" y="4818257"/>
                </a:lnTo>
                <a:cubicBezTo>
                  <a:pt x="3724094" y="4815461"/>
                  <a:pt x="3714384" y="4812250"/>
                  <a:pt x="3704618" y="4809915"/>
                </a:cubicBezTo>
                <a:cubicBezTo>
                  <a:pt x="3677042" y="4803402"/>
                  <a:pt x="3646294" y="4802610"/>
                  <a:pt x="3622533" y="4789121"/>
                </a:cubicBezTo>
                <a:cubicBezTo>
                  <a:pt x="3597163" y="4774778"/>
                  <a:pt x="3572619" y="4767358"/>
                  <a:pt x="3545207" y="4769391"/>
                </a:cubicBezTo>
                <a:cubicBezTo>
                  <a:pt x="3536068" y="4770067"/>
                  <a:pt x="3523903" y="4777034"/>
                  <a:pt x="3519303" y="4784698"/>
                </a:cubicBezTo>
                <a:cubicBezTo>
                  <a:pt x="3509045" y="4801815"/>
                  <a:pt x="3496459" y="4804113"/>
                  <a:pt x="3480065" y="4796876"/>
                </a:cubicBezTo>
                <a:cubicBezTo>
                  <a:pt x="3465826" y="4790712"/>
                  <a:pt x="3448089" y="4786910"/>
                  <a:pt x="3438793" y="4776257"/>
                </a:cubicBezTo>
                <a:cubicBezTo>
                  <a:pt x="3412454" y="4746079"/>
                  <a:pt x="3376501" y="4742708"/>
                  <a:pt x="3341926" y="4732751"/>
                </a:cubicBezTo>
                <a:cubicBezTo>
                  <a:pt x="3320818" y="4726675"/>
                  <a:pt x="3300881" y="4725135"/>
                  <a:pt x="3279243" y="4726817"/>
                </a:cubicBezTo>
                <a:cubicBezTo>
                  <a:pt x="3232227" y="4730673"/>
                  <a:pt x="3187653" y="4717623"/>
                  <a:pt x="3143823" y="4701842"/>
                </a:cubicBezTo>
                <a:cubicBezTo>
                  <a:pt x="3114850" y="4691337"/>
                  <a:pt x="3084913" y="4684106"/>
                  <a:pt x="3056138" y="4673429"/>
                </a:cubicBezTo>
                <a:cubicBezTo>
                  <a:pt x="3034612" y="4665286"/>
                  <a:pt x="3013174" y="4655850"/>
                  <a:pt x="2993770" y="4643771"/>
                </a:cubicBezTo>
                <a:cubicBezTo>
                  <a:pt x="2965655" y="4626086"/>
                  <a:pt x="2941776" y="4600714"/>
                  <a:pt x="2904225" y="4604470"/>
                </a:cubicBezTo>
                <a:cubicBezTo>
                  <a:pt x="2871157" y="4607788"/>
                  <a:pt x="2842399" y="4594145"/>
                  <a:pt x="2813231" y="4581028"/>
                </a:cubicBezTo>
                <a:cubicBezTo>
                  <a:pt x="2791804" y="4571408"/>
                  <a:pt x="2770396" y="4561601"/>
                  <a:pt x="2748028" y="4554886"/>
                </a:cubicBezTo>
                <a:cubicBezTo>
                  <a:pt x="2721475" y="4546959"/>
                  <a:pt x="2690826" y="4547473"/>
                  <a:pt x="2667581" y="4534574"/>
                </a:cubicBezTo>
                <a:cubicBezTo>
                  <a:pt x="2643266" y="4521045"/>
                  <a:pt x="2621858" y="4527570"/>
                  <a:pt x="2599283" y="4529376"/>
                </a:cubicBezTo>
                <a:cubicBezTo>
                  <a:pt x="2563287" y="4532123"/>
                  <a:pt x="2527170" y="4539316"/>
                  <a:pt x="2491986" y="4524678"/>
                </a:cubicBezTo>
                <a:cubicBezTo>
                  <a:pt x="2449219" y="4506927"/>
                  <a:pt x="2406896" y="4488094"/>
                  <a:pt x="2363895" y="4471069"/>
                </a:cubicBezTo>
                <a:cubicBezTo>
                  <a:pt x="2347265" y="4464556"/>
                  <a:pt x="2329135" y="4461097"/>
                  <a:pt x="2311566" y="4457491"/>
                </a:cubicBezTo>
                <a:cubicBezTo>
                  <a:pt x="2294899" y="4454317"/>
                  <a:pt x="2274416" y="4458121"/>
                  <a:pt x="2262011" y="4449484"/>
                </a:cubicBezTo>
                <a:cubicBezTo>
                  <a:pt x="2230123" y="4427279"/>
                  <a:pt x="2196623" y="4415167"/>
                  <a:pt x="2158206" y="4412555"/>
                </a:cubicBezTo>
                <a:cubicBezTo>
                  <a:pt x="2143798" y="4411575"/>
                  <a:pt x="2130327" y="4402309"/>
                  <a:pt x="2115838" y="4399840"/>
                </a:cubicBezTo>
                <a:cubicBezTo>
                  <a:pt x="2096014" y="4396637"/>
                  <a:pt x="2073451" y="4390093"/>
                  <a:pt x="2055614" y="4395932"/>
                </a:cubicBezTo>
                <a:cubicBezTo>
                  <a:pt x="2013667" y="4409780"/>
                  <a:pt x="1981552" y="4393679"/>
                  <a:pt x="1947021" y="4374820"/>
                </a:cubicBezTo>
                <a:cubicBezTo>
                  <a:pt x="1913035" y="4356182"/>
                  <a:pt x="1876975" y="4340743"/>
                  <a:pt x="1840396" y="4327492"/>
                </a:cubicBezTo>
                <a:cubicBezTo>
                  <a:pt x="1826623" y="4322661"/>
                  <a:pt x="1809379" y="4327983"/>
                  <a:pt x="1793775" y="4328221"/>
                </a:cubicBezTo>
                <a:cubicBezTo>
                  <a:pt x="1788208" y="4328213"/>
                  <a:pt x="1782076" y="4328353"/>
                  <a:pt x="1777216" y="4326168"/>
                </a:cubicBezTo>
                <a:cubicBezTo>
                  <a:pt x="1730217" y="4305160"/>
                  <a:pt x="1682189" y="4288351"/>
                  <a:pt x="1629295" y="4294032"/>
                </a:cubicBezTo>
                <a:cubicBezTo>
                  <a:pt x="1624431" y="4294630"/>
                  <a:pt x="1619210" y="4292232"/>
                  <a:pt x="1614496" y="4290614"/>
                </a:cubicBezTo>
                <a:cubicBezTo>
                  <a:pt x="1591493" y="4282369"/>
                  <a:pt x="1569306" y="4270287"/>
                  <a:pt x="1545646" y="4266265"/>
                </a:cubicBezTo>
                <a:cubicBezTo>
                  <a:pt x="1487316" y="4256363"/>
                  <a:pt x="1428380" y="4249943"/>
                  <a:pt x="1369537" y="4242047"/>
                </a:cubicBezTo>
                <a:cubicBezTo>
                  <a:pt x="1365856" y="4241612"/>
                  <a:pt x="1361977" y="4241349"/>
                  <a:pt x="1358743" y="4239828"/>
                </a:cubicBezTo>
                <a:cubicBezTo>
                  <a:pt x="1337488" y="4230405"/>
                  <a:pt x="1318289" y="4231698"/>
                  <a:pt x="1298789" y="4245587"/>
                </a:cubicBezTo>
                <a:cubicBezTo>
                  <a:pt x="1290211" y="4251684"/>
                  <a:pt x="1278891" y="4254440"/>
                  <a:pt x="1268483" y="4257443"/>
                </a:cubicBezTo>
                <a:cubicBezTo>
                  <a:pt x="1253144" y="4261967"/>
                  <a:pt x="1237453" y="4266280"/>
                  <a:pt x="1221700" y="4268736"/>
                </a:cubicBezTo>
                <a:cubicBezTo>
                  <a:pt x="1206144" y="4271017"/>
                  <a:pt x="1189393" y="4274515"/>
                  <a:pt x="1174793" y="4270928"/>
                </a:cubicBezTo>
                <a:cubicBezTo>
                  <a:pt x="1148512" y="4264504"/>
                  <a:pt x="1123910" y="4252440"/>
                  <a:pt x="1098150" y="4243822"/>
                </a:cubicBezTo>
                <a:cubicBezTo>
                  <a:pt x="1089264" y="4240805"/>
                  <a:pt x="1079265" y="4240499"/>
                  <a:pt x="1069859" y="4239673"/>
                </a:cubicBezTo>
                <a:cubicBezTo>
                  <a:pt x="1048286" y="4237650"/>
                  <a:pt x="1025759" y="4241499"/>
                  <a:pt x="1007226" y="4224839"/>
                </a:cubicBezTo>
                <a:cubicBezTo>
                  <a:pt x="990106" y="4209202"/>
                  <a:pt x="971530" y="4212206"/>
                  <a:pt x="951768" y="4221810"/>
                </a:cubicBezTo>
                <a:cubicBezTo>
                  <a:pt x="937572" y="4228639"/>
                  <a:pt x="921644" y="4233679"/>
                  <a:pt x="906114" y="4235593"/>
                </a:cubicBezTo>
                <a:cubicBezTo>
                  <a:pt x="884782" y="4238224"/>
                  <a:pt x="863800" y="4238468"/>
                  <a:pt x="841245" y="4234521"/>
                </a:cubicBezTo>
                <a:cubicBezTo>
                  <a:pt x="825289" y="4231767"/>
                  <a:pt x="812226" y="4230137"/>
                  <a:pt x="800332" y="4219495"/>
                </a:cubicBezTo>
                <a:cubicBezTo>
                  <a:pt x="798402" y="4217879"/>
                  <a:pt x="794734" y="4217259"/>
                  <a:pt x="791951" y="4217256"/>
                </a:cubicBezTo>
                <a:cubicBezTo>
                  <a:pt x="755353" y="4217923"/>
                  <a:pt x="719451" y="4213811"/>
                  <a:pt x="682847" y="4209095"/>
                </a:cubicBezTo>
                <a:cubicBezTo>
                  <a:pt x="636323" y="4202966"/>
                  <a:pt x="586603" y="4208305"/>
                  <a:pt x="544048" y="4236583"/>
                </a:cubicBezTo>
                <a:cubicBezTo>
                  <a:pt x="537823" y="4240799"/>
                  <a:pt x="528820" y="4242229"/>
                  <a:pt x="520986" y="4242810"/>
                </a:cubicBezTo>
                <a:cubicBezTo>
                  <a:pt x="484092" y="4245125"/>
                  <a:pt x="447111" y="4245951"/>
                  <a:pt x="410178" y="4248822"/>
                </a:cubicBezTo>
                <a:cubicBezTo>
                  <a:pt x="390031" y="4250420"/>
                  <a:pt x="368985" y="4251587"/>
                  <a:pt x="350333" y="4258484"/>
                </a:cubicBezTo>
                <a:cubicBezTo>
                  <a:pt x="332065" y="4265218"/>
                  <a:pt x="317199" y="4273672"/>
                  <a:pt x="307802" y="4256334"/>
                </a:cubicBezTo>
                <a:cubicBezTo>
                  <a:pt x="288364" y="4263918"/>
                  <a:pt x="271422" y="4270190"/>
                  <a:pt x="254816" y="4277037"/>
                </a:cubicBezTo>
                <a:cubicBezTo>
                  <a:pt x="248704" y="4279592"/>
                  <a:pt x="243390" y="4284054"/>
                  <a:pt x="237292" y="4286423"/>
                </a:cubicBezTo>
                <a:cubicBezTo>
                  <a:pt x="230810" y="4288952"/>
                  <a:pt x="223666" y="4290321"/>
                  <a:pt x="216734" y="4291334"/>
                </a:cubicBezTo>
                <a:cubicBezTo>
                  <a:pt x="185806" y="4295911"/>
                  <a:pt x="154918" y="4299934"/>
                  <a:pt x="124141" y="4305079"/>
                </a:cubicBezTo>
                <a:cubicBezTo>
                  <a:pt x="118127" y="4306154"/>
                  <a:pt x="112739" y="4311724"/>
                  <a:pt x="107121" y="4315238"/>
                </a:cubicBezTo>
                <a:cubicBezTo>
                  <a:pt x="103434" y="4317587"/>
                  <a:pt x="99664" y="4321227"/>
                  <a:pt x="95746" y="4321517"/>
                </a:cubicBezTo>
                <a:cubicBezTo>
                  <a:pt x="65894" y="4323941"/>
                  <a:pt x="36179" y="4327118"/>
                  <a:pt x="6292" y="4327311"/>
                </a:cubicBezTo>
                <a:lnTo>
                  <a:pt x="1" y="4327851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177" y="873720"/>
            <a:ext cx="7777055" cy="219671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Policy-Grounded Explainable AI for</a:t>
            </a:r>
            <a:b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Medicare Fraud Detection Integrating Machine Learning and Retrieval-Augmented Generation</a:t>
            </a:r>
            <a:b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177" y="3285460"/>
            <a:ext cx="6408055" cy="1050506"/>
          </a:xfrm>
        </p:spPr>
        <p:txBody>
          <a:bodyPr wrap="square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Roya Sanjanaki </a:t>
            </a:r>
          </a:p>
          <a:p>
            <a:pPr algn="l"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Master of Data Science </a:t>
            </a:r>
          </a:p>
          <a:p>
            <a:pPr algn="l"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Feb 2026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579200-569C-441E-840B-B8541A01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3630" y="3637714"/>
            <a:ext cx="7859836" cy="2198910"/>
            <a:chOff x="839281" y="3610818"/>
            <a:chExt cx="10479782" cy="219891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BEB88F5-C5AF-4DC0-A8DF-1B824164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9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16618E-4C0F-42EC-BE06-F84BE1E74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8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66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Background and problem statement</a:t>
            </a:r>
          </a:p>
          <a:p>
            <a:pPr>
              <a:defRPr sz="2400"/>
            </a:pPr>
            <a:r>
              <a:rPr dirty="0"/>
              <a:t>Research gap and objectives</a:t>
            </a:r>
          </a:p>
          <a:p>
            <a:pPr>
              <a:defRPr sz="2400"/>
            </a:pPr>
            <a:r>
              <a:rPr dirty="0"/>
              <a:t>Proposed framework</a:t>
            </a:r>
          </a:p>
          <a:p>
            <a:pPr>
              <a:defRPr sz="2400"/>
            </a:pPr>
            <a:r>
              <a:rPr dirty="0"/>
              <a:t>Methodology and data</a:t>
            </a:r>
          </a:p>
          <a:p>
            <a:pPr>
              <a:defRPr sz="2400"/>
            </a:pPr>
            <a:r>
              <a:rPr dirty="0"/>
              <a:t>Analytical methods</a:t>
            </a:r>
          </a:p>
          <a:p>
            <a:pPr>
              <a:defRPr sz="2400"/>
            </a:pPr>
            <a:r>
              <a:rPr dirty="0"/>
              <a:t>Expected contributions</a:t>
            </a:r>
          </a:p>
          <a:p>
            <a:pPr>
              <a:defRPr sz="2400"/>
            </a:pPr>
            <a:r>
              <a:rPr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95" y="1195697"/>
            <a:ext cx="2973843" cy="423811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grpSp>
        <p:nvGrpSpPr>
          <p:cNvPr id="4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70B771-04F4-FAAB-F46D-DF835E9EA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58934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49114" cy="11938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Problem and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4371"/>
            <a:ext cx="4560561" cy="3987209"/>
          </a:xfrm>
        </p:spPr>
        <p:txBody>
          <a:bodyPr anchor="t">
            <a:noAutofit/>
          </a:bodyPr>
          <a:lstStyle/>
          <a:p>
            <a:pPr>
              <a:defRPr sz="24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Black-box ML outputs reduce investigator trust and actionability.</a:t>
            </a:r>
          </a:p>
          <a:p>
            <a:pPr marL="0" indent="0">
              <a:buNone/>
              <a:defRPr sz="2400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Explanations must align with CMS/OIG policy and regulatory guidance.</a:t>
            </a:r>
          </a:p>
          <a:p>
            <a:pPr marL="0" indent="0">
              <a:buNone/>
              <a:defRPr sz="2400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Prior work addresses class imbalance or accuracy, not policy grounding.</a:t>
            </a:r>
          </a:p>
          <a:p>
            <a:pPr marL="0" indent="0">
              <a:buNone/>
              <a:defRPr sz="2400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4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Need a unified system that detects fraud, explains the reasoning, and links results to Medicare policy guidance.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257364"/>
            <a:ext cx="3022599" cy="38355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Objectives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377893"/>
            <a:ext cx="3912879" cy="56720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Medicare fraud detection model that not only predicts fraud risk for claims and providers but also uses SHAP to clearly show which factors lead to those predictions.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 and evaluate a framework that uses large language models (LLMs) with RAG to incorporate trusted Medicare policy and regulatory guidance and combine these explanations with machine learning outputs within a chatbot-based interface to support Medicare fraud investigation workflows. </a:t>
            </a:r>
          </a:p>
          <a:p>
            <a:pPr>
              <a:lnSpc>
                <a:spcPct val="90000"/>
              </a:lnSpc>
              <a:defRPr sz="2400"/>
            </a:pPr>
            <a:endParaRPr lang="en-US" sz="1000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Framework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Predictive models flag high-risk claims and providers</a:t>
            </a:r>
          </a:p>
          <a:p>
            <a:pPr>
              <a:defRPr sz="2400"/>
            </a:pPr>
            <a:r>
              <a:t>SHAP explains feature contributions to risk scores</a:t>
            </a:r>
          </a:p>
          <a:p>
            <a:pPr>
              <a:defRPr sz="2400"/>
            </a:pPr>
            <a:r>
              <a:t>RAG retrieves relevant policy passages</a:t>
            </a:r>
          </a:p>
          <a:p>
            <a:pPr>
              <a:defRPr sz="2400"/>
            </a:pPr>
            <a:r>
              <a:t>LLM generates guidance-grounded explanations</a:t>
            </a:r>
          </a:p>
          <a:p>
            <a:pPr>
              <a:defRPr sz="2400"/>
            </a:pPr>
            <a:r>
              <a:t>Chatbot enables interactive investigation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KDD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 selection to preprocessing to transformation</a:t>
            </a:r>
          </a:p>
          <a:p>
            <a:pPr>
              <a:defRPr sz="2400"/>
            </a:pPr>
            <a:r>
              <a:t>Model development and evaluation</a:t>
            </a:r>
          </a:p>
          <a:p>
            <a:pPr>
              <a:defRPr sz="2400"/>
            </a:pPr>
            <a:r>
              <a:t>Interpretation using SHAP and policy grounding</a:t>
            </a:r>
          </a:p>
          <a:p>
            <a:pPr>
              <a:defRPr sz="2400"/>
            </a:pPr>
            <a:r>
              <a:t>Designed for rigor, transparency, and reproducibility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CMS Part B and Part D claims data (2013-2022)</a:t>
            </a:r>
          </a:p>
          <a:p>
            <a:pPr>
              <a:defRPr sz="2400"/>
            </a:pPr>
            <a:r>
              <a:t>OIG LEIE list for fraud labels</a:t>
            </a:r>
          </a:p>
          <a:p>
            <a:pPr>
              <a:defRPr sz="2400"/>
            </a:pPr>
            <a:r>
              <a:t>CMS program manuals and OIG fraud alerts for policy grounding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Provider ID (NPI) for dataset linkage</a:t>
            </a:r>
          </a:p>
          <a:p>
            <a:pPr>
              <a:defRPr sz="2400"/>
            </a:pPr>
            <a:r>
              <a:t>Procedure and specialty codes (HCPCS, provider type)</a:t>
            </a:r>
          </a:p>
          <a:p>
            <a:pPr>
              <a:defRPr sz="2400"/>
            </a:pPr>
            <a:r>
              <a:t>Service volume and beneficiary counts</a:t>
            </a:r>
          </a:p>
          <a:p>
            <a:pPr>
              <a:defRPr sz="2400"/>
            </a:pPr>
            <a:r>
              <a:t>Cost and payment variables (submitted, allowed, paid)</a:t>
            </a:r>
          </a:p>
          <a:p>
            <a:pPr>
              <a:defRPr sz="2400"/>
            </a:pPr>
            <a:r>
              <a:t>Drug utilization (brand/generic, claims, day supply, cost)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Join claims with LEIE using NPI</a:t>
            </a:r>
          </a:p>
          <a:p>
            <a:pPr>
              <a:defRPr sz="2400"/>
            </a:pPr>
            <a:r>
              <a:t>Handle missing and inconsistent values</a:t>
            </a:r>
          </a:p>
          <a:p>
            <a:pPr>
              <a:defRPr sz="2400"/>
            </a:pPr>
            <a:r>
              <a:t>Address severe class imbalance with resampling</a:t>
            </a:r>
          </a:p>
          <a:p>
            <a:pPr>
              <a:defRPr sz="2400"/>
            </a:pPr>
            <a:r>
              <a:t>Normalize numeric features; encode categorical features</a:t>
            </a:r>
          </a:p>
          <a:p>
            <a:pPr>
              <a:defRPr sz="2400"/>
            </a:pPr>
            <a:r>
              <a:t>Chunk and index policy documents for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Ensemble ML: LightGBM, XGBoost, CatBoost</a:t>
            </a:r>
          </a:p>
          <a:p>
            <a:pPr>
              <a:defRPr sz="2400"/>
            </a:pPr>
            <a:r>
              <a:t>Metrics: precision, recall, F1, accuracy, ROC-AUC</a:t>
            </a:r>
          </a:p>
          <a:p>
            <a:pPr>
              <a:defRPr sz="2400"/>
            </a:pPr>
            <a:r>
              <a:t>Explainability: SHAP and counterfactual explanations</a:t>
            </a:r>
          </a:p>
          <a:p>
            <a:pPr>
              <a:defRPr sz="2400"/>
            </a:pPr>
            <a:r>
              <a:t>LLM (GPT-4) with RAG for policy-grounded interpretation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Policy-Grounded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Retrieve CMS/OIG guidance relevant to model signals</a:t>
            </a:r>
          </a:p>
          <a:p>
            <a:pPr>
              <a:defRPr sz="2400"/>
            </a:pPr>
            <a:r>
              <a:t>Generate natural-language explanations tied to policy</a:t>
            </a:r>
          </a:p>
          <a:p>
            <a:pPr>
              <a:defRPr sz="2400"/>
            </a:pPr>
            <a:r>
              <a:t>Chatbot supports interactive, evidence-based review</a:t>
            </a:r>
          </a:p>
          <a:p>
            <a:pPr>
              <a:defRPr sz="2400"/>
            </a:pPr>
            <a:r>
              <a:t>Keeps interpretation separate from model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Transparent fraud detection with interpretable ML</a:t>
            </a:r>
          </a:p>
          <a:p>
            <a:pPr>
              <a:defRPr sz="2400"/>
            </a:pPr>
            <a:r>
              <a:t>Policy-aligned explanations to improve investigator trust</a:t>
            </a:r>
          </a:p>
          <a:p>
            <a:pPr>
              <a:defRPr sz="2400"/>
            </a:pPr>
            <a:r>
              <a:t>Reusable framework for regulated, high-stakes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Hancock et al., 2024 - Imbalanced Medicare data reduction</a:t>
            </a:r>
          </a:p>
          <a:p>
            <a:pPr>
              <a:defRPr sz="2400"/>
            </a:pPr>
            <a:r>
              <a:t>Bounab et al., 2024 - SMOTE-ENN for Medicare Part B</a:t>
            </a:r>
          </a:p>
          <a:p>
            <a:pPr>
              <a:defRPr sz="2400"/>
            </a:pPr>
            <a:r>
              <a:t>Bauder and Khoshgoftaar, 2018 - ML for Medicare fraud</a:t>
            </a:r>
          </a:p>
          <a:p>
            <a:pPr>
              <a:defRPr sz="2400"/>
            </a:pPr>
            <a:r>
              <a:t>Lewis et al., 2020 - RAG for grounded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523</Words>
  <Application>Microsoft Macintosh PowerPoint</Application>
  <PresentationFormat>On-screen Show (4:3)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Policy-Grounded Explainable AI for Medicare Fraud Detection Integrating Machine Learning and Retrieval-Augmented Generation </vt:lpstr>
      <vt:lpstr>Outline</vt:lpstr>
      <vt:lpstr>Background</vt:lpstr>
      <vt:lpstr>Problem and Research Gap</vt:lpstr>
      <vt:lpstr>Research Objectives</vt:lpstr>
      <vt:lpstr>Proposed Framework Overview</vt:lpstr>
      <vt:lpstr>Methodology: KDD Process Model</vt:lpstr>
      <vt:lpstr>Data Sources</vt:lpstr>
      <vt:lpstr>Key Variables (Selected)</vt:lpstr>
      <vt:lpstr>Data Preprocessing</vt:lpstr>
      <vt:lpstr>Analytical Methods</vt:lpstr>
      <vt:lpstr>Policy-Grounded Interpretation</vt:lpstr>
      <vt:lpstr>Expected Contributions</vt:lpstr>
      <vt:lpstr>Selected References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Roya Sanjanaki</cp:lastModifiedBy>
  <cp:revision>7</cp:revision>
  <dcterms:created xsi:type="dcterms:W3CDTF">2013-01-27T09:14:16Z</dcterms:created>
  <dcterms:modified xsi:type="dcterms:W3CDTF">2026-02-20T06:46:01Z</dcterms:modified>
  <cp:category/>
</cp:coreProperties>
</file>