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3" r:id="rId6"/>
    <p:sldId id="292" r:id="rId7"/>
    <p:sldId id="260" r:id="rId8"/>
    <p:sldId id="261" r:id="rId9"/>
    <p:sldId id="265" r:id="rId10"/>
    <p:sldId id="266" r:id="rId11"/>
    <p:sldId id="267" r:id="rId12"/>
    <p:sldId id="268" r:id="rId13"/>
    <p:sldId id="269" r:id="rId14"/>
    <p:sldId id="291" r:id="rId15"/>
    <p:sldId id="270" r:id="rId16"/>
    <p:sldId id="294" r:id="rId17"/>
    <p:sldId id="272" r:id="rId18"/>
    <p:sldId id="273" r:id="rId19"/>
    <p:sldId id="289" r:id="rId20"/>
    <p:sldId id="275" r:id="rId21"/>
    <p:sldId id="290" r:id="rId22"/>
    <p:sldId id="276" r:id="rId23"/>
    <p:sldId id="277" r:id="rId24"/>
    <p:sldId id="279" r:id="rId25"/>
    <p:sldId id="274" r:id="rId26"/>
    <p:sldId id="293" r:id="rId27"/>
    <p:sldId id="281" r:id="rId28"/>
    <p:sldId id="282" r:id="rId29"/>
    <p:sldId id="287" r:id="rId30"/>
    <p:sldId id="284" r:id="rId31"/>
    <p:sldId id="288" r:id="rId32"/>
    <p:sldId id="295" r:id="rId33"/>
    <p:sldId id="296"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52"/>
    <p:restoredTop sz="94610"/>
  </p:normalViewPr>
  <p:slideViewPr>
    <p:cSldViewPr snapToGrid="0" snapToObjects="1">
      <p:cViewPr varScale="1">
        <p:scale>
          <a:sx n="157" d="100"/>
          <a:sy n="157" d="100"/>
        </p:scale>
        <p:origin x="184"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2404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My thesis is titled 'Policy-Grounded Explainable AI for Medicare Fraud Detection: Integrating Machine Learning and Retrieval-Augmented Generation.' I'll walk you through the problem, the data, the methods, the results, and the system I built to make these predictions actionable for fraud investigators — with no ML expertise required.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roadmap for the next 40 minutes. Six sections covering the full thesis: why Medicare fraud is hard to detect automatically, how I set up the experiments, what machine learning models I trained, the results and explainability analysis, the RAG chatbot, and finally the discussion and contributions.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problem matters. I'll cover the scale and impact of Medicare fraud, the research gap — why detection alone isn't enough — and introduce the two research objectives this thesis addresses.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Medicare fraud costs U.S. taxpayers an estimated $60 billion or more annually — nearly 10% of total Medicare spending. With 65 million beneficiaries, manual review is impossible. Four problems define why this is hard: legacy rules can't adapt to evolving schemes; the massive scale demands automation; ML predictions are black boxes that investigators cannot act on; and the data has an extreme 5,824-to-1 class imbalance between fraud and legitimate providers.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eras of Medicare fraud detection. Rule-based systems couldn't scale to 70M claims/year. The 2015–2021 ML wave used RF and SVM on small subsets with no explainability. Recent deep learning work is promising but untested at real CMS scale with proper imbalance handling. This thesis fills all three gaps simultaneously.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DDC2A-7C22-B307-AD08-4A388B8BA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A2D59-DC20-D94F-F90A-769EBAF6BA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1676C-483D-5F14-426D-1683081415C5}"/>
              </a:ext>
            </a:extLst>
          </p:cNvPr>
          <p:cNvSpPr>
            <a:spLocks noGrp="1"/>
          </p:cNvSpPr>
          <p:nvPr>
            <p:ph type="body" idx="1"/>
          </p:nvPr>
        </p:nvSpPr>
        <p:spPr/>
        <p:txBody>
          <a:bodyPr/>
          <a:lstStyle/>
          <a:p>
            <a:r>
              <a:rPr lang="en-US" dirty="0"/>
              <a:t>Three eras of Medicare fraud detection. Rule-based systems couldn't scale to 70M claims/year. The 2015–2021 ML wave used RF and SVM on small subsets with no explainability. Recent deep learning work is promising but untested at real CMS scale with proper imbalance handling. This thesis fills all three gaps simultaneously.</a:t>
            </a:r>
          </a:p>
        </p:txBody>
      </p:sp>
      <p:sp>
        <p:nvSpPr>
          <p:cNvPr id="4" name="Slide Number Placeholder 3">
            <a:extLst>
              <a:ext uri="{FF2B5EF4-FFF2-40B4-BE49-F238E27FC236}">
                <a16:creationId xmlns:a16="http://schemas.microsoft.com/office/drawing/2014/main" id="{286D0C70-379F-A990-5860-C08A3DEDC29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900927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distinct unsolved problems in the literature motivate this work. First, black-box ML predictions aren't actionable. Second, SHAP values alone aren't regulatory language. Third, investigators need a tool, not a research artifact. This thesis addresses all three simultaneously.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research objectives. RO1 focuses on the ML side: build and evaluate a systematic detection model using structured CMS Part B and D data, with SHAP explainability for every prediction. RO2 focuses on the NLP/RAG side: an LLM framework that connects SHAP outputs to specific CMS and OIG policy language through a chatbot interface accessible to non-technical investigators. Together they address both the detection gap and the explanation gap.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walk through the complete methodology: starting with the overall research design, then data sources, feature engineering, experimental design, the ML training pipeline, and the RAG system.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details, here is the full system architecture from the thesis. On the top: Phase 1, the ML pipeline — CMS data ingestion, feature engineering, model training, calibration, and SHAP attribution. On the bottom: Phase 2, the RAG pipeline — PDF indexing, FAISS vector search, CRAG filtering, SHAP-to-text bridge, and the Streamlit chatbot. The two phases connect: SHAP outputs feed into the RAG query to retrieve relevant CMS/OIG policy passages.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data sources, all from 2023 CMS public datasets. Part B is physician billing — the primary source. Part D adds prescription drug behavior. OIG LEIE provides the confirmed fraud labels. After joining on NPI, we have 1.57 million providers with 270 confirmed fraud cases.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5,824:1 imbalance is the central challenge of this project. A naive model that labels everything as 'legitimate' would be 99.98% accurate but completely useless. We need to handle this imbalance carefully, and we evaluate three different strategies.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feature sets: Set A (39 features, Part B only), Set B (57 features, adding Part D prescription data), and Set C (58 features, adding the engineered Payment_to_Allowed_Ratio which turns out to be the single most important predictor). We test all three to understand which data source and which features drive detection performance.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02100-4694-4412-2A9A-AAD58A67F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7AE38-6CB8-1363-D1AA-6C6B95EA7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97459-6E23-E16D-59D8-2140AB0549F4}"/>
              </a:ext>
            </a:extLst>
          </p:cNvPr>
          <p:cNvSpPr>
            <a:spLocks noGrp="1"/>
          </p:cNvSpPr>
          <p:nvPr>
            <p:ph type="body" idx="1"/>
          </p:nvPr>
        </p:nvSpPr>
        <p:spPr/>
        <p:txBody>
          <a:bodyPr/>
          <a:lstStyle/>
          <a:p>
            <a:r>
              <a:rPr lang="en-US" dirty="0"/>
              <a:t>Three feature sets: Set A (39 features, Part B only), Set B (57 features, adding Part D prescription data), and Set C (58 features, adding the engineered Payment_to_Allowed_Ratio which turns out to be the single most important predictor). We test all three to understand which data source and which features drive detection performance.</a:t>
            </a:r>
          </a:p>
        </p:txBody>
      </p:sp>
      <p:sp>
        <p:nvSpPr>
          <p:cNvPr id="4" name="Slide Number Placeholder 3">
            <a:extLst>
              <a:ext uri="{FF2B5EF4-FFF2-40B4-BE49-F238E27FC236}">
                <a16:creationId xmlns:a16="http://schemas.microsoft.com/office/drawing/2014/main" id="{DE7E0D2A-C15A-F03F-7A70-C3FBAAD7C47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951657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experimental settings: the feature sets on one axis, the imbalance strategies on the other. I train all 10 models under each setting, giving 60 total experiments. S1 (Set A + RUS+SMOTE-ENN) produces the best recall overall. S4 (Set B + RUS+SMOTE-ENN) produces the best AUC. S6 (Set C + class weights) produces the best DNN result.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EF370-C8CC-8AAB-BA42-1FB4494EA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539E20-B71C-C79D-A726-CAD8B648C2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AA9A4-DA57-A789-0196-6F3D24D56BD6}"/>
              </a:ext>
            </a:extLst>
          </p:cNvPr>
          <p:cNvSpPr>
            <a:spLocks noGrp="1"/>
          </p:cNvSpPr>
          <p:nvPr>
            <p:ph type="body" idx="1"/>
          </p:nvPr>
        </p:nvSpPr>
        <p:spPr/>
        <p:txBody>
          <a:bodyPr/>
          <a:lstStyle/>
          <a:p>
            <a:r>
              <a:rPr lang="en-US" dirty="0"/>
              <a:t>Six experimental settings: the feature sets on one axis, the imbalance strategies on the other. I train all 10 models under each setting, giving 60 total experiments. S1 (Set A + RUS+SMOTE-ENN) produces the best recall overall. S4 (Set B + RUS+SMOTE-ENN) produces the best AUC. S6 (Set C + class weights) produces the best DNN result.</a:t>
            </a:r>
          </a:p>
        </p:txBody>
      </p:sp>
      <p:sp>
        <p:nvSpPr>
          <p:cNvPr id="4" name="Slide Number Placeholder 3">
            <a:extLst>
              <a:ext uri="{FF2B5EF4-FFF2-40B4-BE49-F238E27FC236}">
                <a16:creationId xmlns:a16="http://schemas.microsoft.com/office/drawing/2014/main" id="{82A05092-49EF-8E9B-33AF-D760D0804E8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6463356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evaluated 10 models spanning four categories: linear, tree ensemble, neural network, and graph neural network. Hyperopt TPE (Tree Parzen Estimator) automates hyperparameter search over 50 iterations per model, optimizing for recall on 5-fold cross-validation. After training, Platt scaling or isotonic regression calibrates the predicted probabilities so they are interpretable as fraud likelihoods.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RAG pipeline has four stages. First, 135 CMS and OIG documents are ingested and split into 8,943 chunks. Second, each chunk is embedded using all-MiniLM-L6-v2 — a sentence transformer with 384 dimensions. Third, chunks are indexed in FAISS for fast vector search. Fourth, a CRAG filter discards any retrieved chunk with cosine similarity below 0.6 — this prevents the chatbot from citing irrelevant policy passages.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chatbot has four specialized tools. An investigator can ask about a specific provider, search policy documents, get a plain-English SHAP explanation, or explore the full high-risk unconfirmed list. The key design principle: zero ML expertise required. Built in Streamlit with LangChain tool-calling and Claude Haiku as the LLM orchestrator.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results. I'll cover model performance across all 60 experiments, what the models learned via SHAP, a concrete provider-level example, and the RAG chatbot in action.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shows all 10 algorithms ranked by Setting 1 recall. SVM is the top performer in Setting 1 (79.6%, 43/54 fraud providers caught). Adding Part D data in Setting 4 boosts DNN dramatically (29.6% → 74.1%) and RF (37% → 66.7%), but slightly reduces SVM performance. 54 confirmed fraud providers in the test set. Red highlighting marks the best result in each setting.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SHAP views, one story. Left: the global beeswarm shows which features matter most across ALL providers — Payment_to_Allowed_Ratio is #1. Right: the waterfall shows exactly how those features combine to give NPI 250978 a 100% fraud probability. High_Service_High_Payment is the biggest single push, with Max_Medicare_Allowed_B and Charge_x_Volume also contributing. This is the explainability layer that makes the model auditable by CMS investigators and OIG regulators.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SHAP-to-text bridge is a novel component of this thesis. SHAP values alone can't query a document — a score of +0.148 means nothing to a fraud investigator or a policy database. The bridge converts these scores into natural-language sentences that describe the billing behavior in regulatory terms, making them suitable both for investigator communication and for FAISS vector retrieval.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94E2F-B91C-76AD-5D7D-E3189D3D1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963DC-15BF-B6F9-1E8C-2FADAC480C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E4908-C1EF-5695-92BB-931CBA6D8BF6}"/>
              </a:ext>
            </a:extLst>
          </p:cNvPr>
          <p:cNvSpPr>
            <a:spLocks noGrp="1"/>
          </p:cNvSpPr>
          <p:nvPr>
            <p:ph type="body" idx="1"/>
          </p:nvPr>
        </p:nvSpPr>
        <p:spPr/>
        <p:txBody>
          <a:bodyPr/>
          <a:lstStyle/>
          <a:p>
            <a:r>
              <a:rPr lang="en-US" dirty="0"/>
              <a:t>Let me now discuss what the results mean, including a key interpretability finding, ethical design considerations, and limitations.</a:t>
            </a:r>
          </a:p>
        </p:txBody>
      </p:sp>
      <p:sp>
        <p:nvSpPr>
          <p:cNvPr id="4" name="Slide Number Placeholder 3">
            <a:extLst>
              <a:ext uri="{FF2B5EF4-FFF2-40B4-BE49-F238E27FC236}">
                <a16:creationId xmlns:a16="http://schemas.microsoft.com/office/drawing/2014/main" id="{5C2F2EDA-0294-1DDD-64CB-BDB393190E2C}"/>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1917438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now discuss what the results mean, including a key interpretability finding, ethical design considerations, and limitations.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interesting findings. Linear SVM outperforms deep learning by 50 percentage points under the same experimental conditions. Four reasons: the fraud signal is sparse and extreme (a few key features, not complex patterns); the tiny minority class gives deep networks very little to learn from; tabular billing data lacks the spatial/sequential structure deep learning needs; and calibration is more stable for linear models at this imbalance ratio.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research objectives fully achieved. RO1: 79.6% recall at the fraud-detection task with calibrated probabilities and SHAP explanations for every provider. RO2: a fully operational RAG chatbot grounded in 135 policy documents, with CRAG filtering, SHAP narratives, and four investigator tools. Together, they close the loop from statistical detection to regulatory action.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limitations: label completeness, temporal generalization, the inherent precision ceiling at extreme imbalance, and underexploited graph structure. Future work I'm most excited about: cross-referencing the 111 HRU providers with 2024-2025 LEIE updates to validate whether any were subsequently excluded — that would be empirical evidence of the system's detection capability.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welcome questions on any aspect of the thesis: the experimental design and why I chose 6 settings rather than more; the SHAP-to-text bridge design and how it handles ambiguous feature contributions; the CRAG threshold selection and why 0.6; the 111 HRU providers and what investigation would look like in practice; and any future directions you'd like to explore.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9DEC3-C463-5608-F701-8DB707725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9F433-1344-FC48-AD9A-6F781B0E59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8DC60-FA63-0443-88BE-45BC20B35DA3}"/>
              </a:ext>
            </a:extLst>
          </p:cNvPr>
          <p:cNvSpPr>
            <a:spLocks noGrp="1"/>
          </p:cNvSpPr>
          <p:nvPr>
            <p:ph type="body" idx="1"/>
          </p:nvPr>
        </p:nvSpPr>
        <p:spPr/>
        <p:txBody>
          <a:bodyPr/>
          <a:lstStyle/>
          <a:p>
            <a:r>
              <a:rPr lang="en-US" dirty="0"/>
              <a:t>Thank you. I welcome questions on any aspect of the thesis: the experimental design and why I chose 6 settings rather than more; the SHAP-to-text bridge design and how it handles ambiguous feature contributions; the CRAG threshold selection and why 0.6; the 111 HRU providers and what investigation would look like in practice; and any future directions you'd like to explore.</a:t>
            </a:r>
          </a:p>
        </p:txBody>
      </p:sp>
      <p:sp>
        <p:nvSpPr>
          <p:cNvPr id="4" name="Slide Number Placeholder 3">
            <a:extLst>
              <a:ext uri="{FF2B5EF4-FFF2-40B4-BE49-F238E27FC236}">
                <a16:creationId xmlns:a16="http://schemas.microsoft.com/office/drawing/2014/main" id="{74EC33DB-FBAE-BEE2-2DCC-0C5A6446BE63}"/>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4612006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C0470-243D-8E84-BBB9-5FD9A1775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67299-AD33-841E-2F1E-472FD04BB7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3DA875-12AC-69B3-4280-375A85F93266}"/>
              </a:ext>
            </a:extLst>
          </p:cNvPr>
          <p:cNvSpPr>
            <a:spLocks noGrp="1"/>
          </p:cNvSpPr>
          <p:nvPr>
            <p:ph type="body" idx="1"/>
          </p:nvPr>
        </p:nvSpPr>
        <p:spPr/>
        <p:txBody>
          <a:bodyPr/>
          <a:lstStyle/>
          <a:p>
            <a:r>
              <a:rPr lang="en-US" dirty="0"/>
              <a:t>Thank you. I welcome questions on any aspect of the thesis: the experimental design and why I chose 6 settings rather than more; the SHAP-to-text bridge design and how it handles ambiguous feature contributions; the CRAG threshold selection and why 0.6; the 111 HRU providers and what investigation would look like in practice; and any future directions you'd like to explore.</a:t>
            </a:r>
          </a:p>
        </p:txBody>
      </p:sp>
      <p:sp>
        <p:nvSpPr>
          <p:cNvPr id="4" name="Slide Number Placeholder 3">
            <a:extLst>
              <a:ext uri="{FF2B5EF4-FFF2-40B4-BE49-F238E27FC236}">
                <a16:creationId xmlns:a16="http://schemas.microsoft.com/office/drawing/2014/main" id="{F7945D11-CC4D-9639-A434-581EA9F77038}"/>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970396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hyperlink" Target="https://oig.hhs.gov/compliance/alerts/" TargetMode="External"/><Relationship Id="rId3" Type="http://schemas.openxmlformats.org/officeDocument/2006/relationships/image" Target="../media/image1.jpeg"/><Relationship Id="rId7" Type="http://schemas.openxmlformats.org/officeDocument/2006/relationships/hyperlink" Target="https://www.cms.gov/data-research"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hyperlink" Target="https://oig.hhs.gov/exclusions/exclusions_list.asp" TargetMode="External"/><Relationship Id="rId11" Type="http://schemas.openxmlformats.org/officeDocument/2006/relationships/hyperlink" Target="https://proceedings.neurips.cc/paper/2020/hash/6b493230205f780e1bc26945df7481e5-Abstract.html" TargetMode="External"/><Relationship Id="rId5" Type="http://schemas.openxmlformats.org/officeDocument/2006/relationships/hyperlink" Target="https://data.cms.gov/provider-summary-by-type-of-service/medicare-part-d-prescribers/medicare-part-d-prescribers-by-provider-and-drug" TargetMode="External"/><Relationship Id="rId10" Type="http://schemas.openxmlformats.org/officeDocument/2006/relationships/hyperlink" Target="https://doi.org/10.1145/3637528.3671470" TargetMode="External"/><Relationship Id="rId4" Type="http://schemas.openxmlformats.org/officeDocument/2006/relationships/hyperlink" Target="https://data.cms.gov/provider-summary-by-type-of-service/medicare-physician-other-practitioners/medicare-physician-other-practitioners-by-provider-and-service" TargetMode="External"/><Relationship Id="rId9" Type="http://schemas.openxmlformats.org/officeDocument/2006/relationships/hyperlink" Target="https://oig.hhs.gov/"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s://doi.org/10.1007/s13755-018-0051-3"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hyperlink" Target="https://doi.org/10.1186/s40537-023-00869-3" TargetMode="External"/><Relationship Id="rId5" Type="http://schemas.openxmlformats.org/officeDocument/2006/relationships/hyperlink" Target="https://doi.org/10.1145/3236009" TargetMode="External"/><Relationship Id="rId4" Type="http://schemas.openxmlformats.org/officeDocument/2006/relationships/hyperlink" Target="https://doi.org/10.1109/ACCESS.2018.2870052"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261690"/>
            <a:ext cx="8046720" cy="1901952"/>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POLICY-GROUNDED EXPLAINABLE AI FOR MEDICARE FRAUD DETECTION INTEGRATING MACHINE LEARNING AND RETRIEVAL-AUGMENTED GENERATION</a:t>
            </a:r>
            <a:endParaRPr lang="en-US" sz="2400" dirty="0"/>
          </a:p>
        </p:txBody>
      </p:sp>
      <p:sp>
        <p:nvSpPr>
          <p:cNvPr id="3" name="Shape 1"/>
          <p:cNvSpPr/>
          <p:nvPr/>
        </p:nvSpPr>
        <p:spPr>
          <a:xfrm>
            <a:off x="457200" y="3139519"/>
            <a:ext cx="8046720" cy="21946"/>
          </a:xfrm>
          <a:prstGeom prst="rect">
            <a:avLst/>
          </a:prstGeom>
          <a:solidFill>
            <a:srgbClr val="FFFFFF"/>
          </a:solidFill>
          <a:ln w="12700">
            <a:solidFill>
              <a:srgbClr val="FFFFFF"/>
            </a:solidFill>
            <a:prstDash val="solid"/>
          </a:ln>
        </p:spPr>
        <p:txBody>
          <a:bodyPr/>
          <a:lstStyle/>
          <a:p>
            <a:endParaRPr lang="en-US"/>
          </a:p>
        </p:txBody>
      </p:sp>
      <p:sp>
        <p:nvSpPr>
          <p:cNvPr id="4" name="Text 2"/>
          <p:cNvSpPr/>
          <p:nvPr/>
        </p:nvSpPr>
        <p:spPr>
          <a:xfrm>
            <a:off x="457200" y="3295314"/>
            <a:ext cx="8046720" cy="395021"/>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Roya Sanjanaki</a:t>
            </a:r>
            <a:endParaRPr lang="en-US" sz="2400" dirty="0"/>
          </a:p>
        </p:txBody>
      </p:sp>
      <p:sp>
        <p:nvSpPr>
          <p:cNvPr id="5" name="Text 3"/>
          <p:cNvSpPr/>
          <p:nvPr/>
        </p:nvSpPr>
        <p:spPr>
          <a:xfrm>
            <a:off x="457200" y="3719596"/>
            <a:ext cx="8046720" cy="277978"/>
          </a:xfrm>
          <a:prstGeom prst="rect">
            <a:avLst/>
          </a:prstGeom>
          <a:noFill/>
          <a:ln/>
        </p:spPr>
        <p:txBody>
          <a:bodyPr wrap="square" rtlCol="0" anchor="ctr"/>
          <a:lstStyle/>
          <a:p>
            <a:pPr marL="0" indent="0" algn="ctr">
              <a:buNone/>
            </a:pPr>
            <a:r>
              <a:rPr lang="en-US" sz="1500" dirty="0">
                <a:solidFill>
                  <a:srgbClr val="CCCCCC"/>
                </a:solidFill>
                <a:latin typeface="Arial" pitchFamily="34" charset="0"/>
                <a:ea typeface="Arial" pitchFamily="34" charset="-122"/>
                <a:cs typeface="Arial" pitchFamily="34" charset="-120"/>
              </a:rPr>
              <a:t>Master of Science in Data Science  |  July 2026</a:t>
            </a:r>
            <a:endParaRPr lang="en-US" sz="1500" dirty="0"/>
          </a:p>
        </p:txBody>
      </p:sp>
      <p:sp>
        <p:nvSpPr>
          <p:cNvPr id="6" name="Text 4"/>
          <p:cNvSpPr/>
          <p:nvPr/>
        </p:nvSpPr>
        <p:spPr>
          <a:xfrm>
            <a:off x="457200" y="4041464"/>
            <a:ext cx="8046720" cy="277978"/>
          </a:xfrm>
          <a:prstGeom prst="rect">
            <a:avLst/>
          </a:prstGeom>
          <a:noFill/>
          <a:ln/>
        </p:spPr>
        <p:txBody>
          <a:bodyPr wrap="square" rtlCol="0" anchor="ctr"/>
          <a:lstStyle/>
          <a:p>
            <a:pPr marL="0" indent="0" algn="ctr">
              <a:buNone/>
            </a:pPr>
            <a:r>
              <a:rPr lang="en-US" sz="1300" dirty="0">
                <a:solidFill>
                  <a:srgbClr val="AAAAAA"/>
                </a:solidFill>
                <a:latin typeface="Arial" pitchFamily="34" charset="0"/>
                <a:ea typeface="Arial" pitchFamily="34" charset="-122"/>
                <a:cs typeface="Arial" pitchFamily="34" charset="-120"/>
              </a:rPr>
              <a:t>Advisor: Dr. Xiaoyue Cheng     Committee: Dr. Mahbubul Majumder  ·  Dr. Fadi Alsaleem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Presentation Overview</a:t>
            </a:r>
            <a:endParaRPr lang="en-US" sz="2400" dirty="0"/>
          </a:p>
        </p:txBody>
      </p:sp>
      <p:sp>
        <p:nvSpPr>
          <p:cNvPr id="5" name="Shape 3"/>
          <p:cNvSpPr/>
          <p:nvPr/>
        </p:nvSpPr>
        <p:spPr>
          <a:xfrm>
            <a:off x="365760" y="932688"/>
            <a:ext cx="4114800" cy="987552"/>
          </a:xfrm>
          <a:prstGeom prst="roundRect">
            <a:avLst>
              <a:gd name="adj" fmla="val 740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6" name="Shape 4"/>
          <p:cNvSpPr/>
          <p:nvPr/>
        </p:nvSpPr>
        <p:spPr>
          <a:xfrm>
            <a:off x="566928" y="1133856"/>
            <a:ext cx="731520" cy="512064"/>
          </a:xfrm>
          <a:prstGeom prst="ellipse">
            <a:avLst/>
          </a:prstGeom>
          <a:solidFill>
            <a:srgbClr val="000000"/>
          </a:solidFill>
          <a:ln w="12700">
            <a:solidFill>
              <a:srgbClr val="000000"/>
            </a:solidFill>
            <a:prstDash val="solid"/>
          </a:ln>
        </p:spPr>
        <p:txBody>
          <a:bodyPr/>
          <a:lstStyle/>
          <a:p>
            <a:endParaRPr lang="en-US"/>
          </a:p>
        </p:txBody>
      </p:sp>
      <p:sp>
        <p:nvSpPr>
          <p:cNvPr id="7" name="Text 5"/>
          <p:cNvSpPr/>
          <p:nvPr/>
        </p:nvSpPr>
        <p:spPr>
          <a:xfrm>
            <a:off x="566928" y="1133856"/>
            <a:ext cx="731520" cy="512064"/>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8" name="Text 6"/>
          <p:cNvSpPr/>
          <p:nvPr/>
        </p:nvSpPr>
        <p:spPr>
          <a:xfrm>
            <a:off x="1444752" y="1024128"/>
            <a:ext cx="2907792" cy="256032"/>
          </a:xfrm>
          <a:prstGeom prst="rect">
            <a:avLst/>
          </a:prstGeom>
          <a:noFill/>
          <a:ln/>
        </p:spPr>
        <p:txBody>
          <a:bodyPr wrap="square" rtlCol="0" anchor="ctr"/>
          <a:lstStyle/>
          <a:p>
            <a:pPr marL="0" indent="0">
              <a:buNone/>
            </a:pPr>
            <a:r>
              <a:rPr lang="en-US" sz="1400" b="1" dirty="0">
                <a:solidFill>
                  <a:srgbClr val="2D2D2D"/>
                </a:solidFill>
                <a:latin typeface="Arial" pitchFamily="34" charset="0"/>
                <a:ea typeface="Arial" pitchFamily="34" charset="-122"/>
                <a:cs typeface="Arial" pitchFamily="34" charset="-120"/>
              </a:rPr>
              <a:t>Introduction</a:t>
            </a:r>
            <a:endParaRPr lang="en-US" sz="1400" dirty="0"/>
          </a:p>
        </p:txBody>
      </p:sp>
      <p:sp>
        <p:nvSpPr>
          <p:cNvPr id="9" name="Text 7"/>
          <p:cNvSpPr/>
          <p:nvPr/>
        </p:nvSpPr>
        <p:spPr>
          <a:xfrm>
            <a:off x="1444752" y="1335024"/>
            <a:ext cx="2907792" cy="347472"/>
          </a:xfrm>
          <a:prstGeom prst="rect">
            <a:avLst/>
          </a:prstGeom>
          <a:noFill/>
          <a:ln/>
        </p:spPr>
        <p:txBody>
          <a:bodyPr wrap="square" rtlCol="0" anchor="ctr"/>
          <a:lstStyle/>
          <a:p>
            <a:pPr marL="0" indent="0">
              <a:buNone/>
            </a:pPr>
            <a:r>
              <a:rPr lang="en-US" sz="1000" dirty="0">
                <a:solidFill>
                  <a:srgbClr val="626568"/>
                </a:solidFill>
                <a:latin typeface="Arial" pitchFamily="34" charset="0"/>
                <a:ea typeface="Arial" pitchFamily="34" charset="-122"/>
                <a:cs typeface="Arial" pitchFamily="34" charset="-120"/>
              </a:rPr>
              <a:t>Medicare fraud problem, motivation, objectives</a:t>
            </a:r>
            <a:endParaRPr lang="en-US" sz="1000" dirty="0"/>
          </a:p>
        </p:txBody>
      </p:sp>
      <p:sp>
        <p:nvSpPr>
          <p:cNvPr id="10" name="Shape 8"/>
          <p:cNvSpPr/>
          <p:nvPr/>
        </p:nvSpPr>
        <p:spPr>
          <a:xfrm>
            <a:off x="4663440" y="932688"/>
            <a:ext cx="4114800" cy="987552"/>
          </a:xfrm>
          <a:prstGeom prst="roundRect">
            <a:avLst>
              <a:gd name="adj" fmla="val 740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1" name="Shape 9"/>
          <p:cNvSpPr/>
          <p:nvPr/>
        </p:nvSpPr>
        <p:spPr>
          <a:xfrm>
            <a:off x="4864608" y="1133856"/>
            <a:ext cx="731520" cy="512064"/>
          </a:xfrm>
          <a:prstGeom prst="ellipse">
            <a:avLst/>
          </a:prstGeom>
          <a:solidFill>
            <a:srgbClr val="000000"/>
          </a:solidFill>
          <a:ln w="12700">
            <a:solidFill>
              <a:srgbClr val="000000"/>
            </a:solidFill>
            <a:prstDash val="solid"/>
          </a:ln>
        </p:spPr>
        <p:txBody>
          <a:bodyPr/>
          <a:lstStyle/>
          <a:p>
            <a:endParaRPr lang="en-US"/>
          </a:p>
        </p:txBody>
      </p:sp>
      <p:sp>
        <p:nvSpPr>
          <p:cNvPr id="12" name="Text 10"/>
          <p:cNvSpPr/>
          <p:nvPr/>
        </p:nvSpPr>
        <p:spPr>
          <a:xfrm>
            <a:off x="4864608" y="1133856"/>
            <a:ext cx="731520" cy="512064"/>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3" name="Text 11"/>
          <p:cNvSpPr/>
          <p:nvPr/>
        </p:nvSpPr>
        <p:spPr>
          <a:xfrm>
            <a:off x="5742432" y="1024128"/>
            <a:ext cx="2907792" cy="256032"/>
          </a:xfrm>
          <a:prstGeom prst="rect">
            <a:avLst/>
          </a:prstGeom>
          <a:noFill/>
          <a:ln/>
        </p:spPr>
        <p:txBody>
          <a:bodyPr wrap="square" rtlCol="0" anchor="ctr"/>
          <a:lstStyle/>
          <a:p>
            <a:pPr marL="0" indent="0">
              <a:buNone/>
            </a:pPr>
            <a:r>
              <a:rPr lang="en-US" sz="1400" b="1" dirty="0">
                <a:solidFill>
                  <a:srgbClr val="2D2D2D"/>
                </a:solidFill>
                <a:latin typeface="Arial" pitchFamily="34" charset="0"/>
                <a:ea typeface="Arial" pitchFamily="34" charset="-122"/>
                <a:cs typeface="Arial" pitchFamily="34" charset="-120"/>
              </a:rPr>
              <a:t>Related Work</a:t>
            </a:r>
            <a:endParaRPr lang="en-US" sz="1400" dirty="0"/>
          </a:p>
        </p:txBody>
      </p:sp>
      <p:sp>
        <p:nvSpPr>
          <p:cNvPr id="14" name="Text 12"/>
          <p:cNvSpPr/>
          <p:nvPr/>
        </p:nvSpPr>
        <p:spPr>
          <a:xfrm>
            <a:off x="5742432" y="1335024"/>
            <a:ext cx="2907792" cy="347472"/>
          </a:xfrm>
          <a:prstGeom prst="rect">
            <a:avLst/>
          </a:prstGeom>
          <a:noFill/>
          <a:ln/>
        </p:spPr>
        <p:txBody>
          <a:bodyPr wrap="square" rtlCol="0" anchor="ctr"/>
          <a:lstStyle/>
          <a:p>
            <a:pPr marL="0" indent="0">
              <a:buNone/>
            </a:pPr>
            <a:r>
              <a:rPr lang="en-US" sz="1000" dirty="0">
                <a:solidFill>
                  <a:srgbClr val="626568"/>
                </a:solidFill>
                <a:latin typeface="Arial" pitchFamily="34" charset="0"/>
                <a:ea typeface="Arial" pitchFamily="34" charset="-122"/>
                <a:cs typeface="Arial" pitchFamily="34" charset="-120"/>
              </a:rPr>
              <a:t>Fraud detection, XAI, RAG &amp; LLM methods</a:t>
            </a:r>
            <a:endParaRPr lang="en-US" sz="1000" dirty="0"/>
          </a:p>
        </p:txBody>
      </p:sp>
      <p:sp>
        <p:nvSpPr>
          <p:cNvPr id="15" name="Shape 13"/>
          <p:cNvSpPr/>
          <p:nvPr/>
        </p:nvSpPr>
        <p:spPr>
          <a:xfrm>
            <a:off x="365760" y="2029968"/>
            <a:ext cx="4114800" cy="987552"/>
          </a:xfrm>
          <a:prstGeom prst="roundRect">
            <a:avLst>
              <a:gd name="adj" fmla="val 740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6" name="Shape 14"/>
          <p:cNvSpPr/>
          <p:nvPr/>
        </p:nvSpPr>
        <p:spPr>
          <a:xfrm>
            <a:off x="566928" y="2231136"/>
            <a:ext cx="731520" cy="512064"/>
          </a:xfrm>
          <a:prstGeom prst="ellipse">
            <a:avLst/>
          </a:prstGeom>
          <a:solidFill>
            <a:srgbClr val="000000"/>
          </a:solidFill>
          <a:ln w="12700">
            <a:solidFill>
              <a:srgbClr val="000000"/>
            </a:solidFill>
            <a:prstDash val="solid"/>
          </a:ln>
        </p:spPr>
        <p:txBody>
          <a:bodyPr/>
          <a:lstStyle/>
          <a:p>
            <a:endParaRPr lang="en-US"/>
          </a:p>
        </p:txBody>
      </p:sp>
      <p:sp>
        <p:nvSpPr>
          <p:cNvPr id="17" name="Text 15"/>
          <p:cNvSpPr/>
          <p:nvPr/>
        </p:nvSpPr>
        <p:spPr>
          <a:xfrm>
            <a:off x="566928" y="2231136"/>
            <a:ext cx="731520" cy="512064"/>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8" name="Text 16"/>
          <p:cNvSpPr/>
          <p:nvPr/>
        </p:nvSpPr>
        <p:spPr>
          <a:xfrm>
            <a:off x="1444752" y="2121408"/>
            <a:ext cx="2907792" cy="256032"/>
          </a:xfrm>
          <a:prstGeom prst="rect">
            <a:avLst/>
          </a:prstGeom>
          <a:noFill/>
          <a:ln/>
        </p:spPr>
        <p:txBody>
          <a:bodyPr wrap="square" rtlCol="0" anchor="ctr"/>
          <a:lstStyle/>
          <a:p>
            <a:pPr marL="0" indent="0">
              <a:buNone/>
            </a:pPr>
            <a:r>
              <a:rPr lang="en-US" sz="1400" b="1" dirty="0">
                <a:solidFill>
                  <a:srgbClr val="2D2D2D"/>
                </a:solidFill>
                <a:latin typeface="Arial" pitchFamily="34" charset="0"/>
                <a:ea typeface="Arial" pitchFamily="34" charset="-122"/>
                <a:cs typeface="Arial" pitchFamily="34" charset="-120"/>
              </a:rPr>
              <a:t>Methodology</a:t>
            </a:r>
            <a:endParaRPr lang="en-US" sz="1400" dirty="0"/>
          </a:p>
        </p:txBody>
      </p:sp>
      <p:sp>
        <p:nvSpPr>
          <p:cNvPr id="19" name="Text 17"/>
          <p:cNvSpPr/>
          <p:nvPr/>
        </p:nvSpPr>
        <p:spPr>
          <a:xfrm>
            <a:off x="1444752" y="2432304"/>
            <a:ext cx="2907792" cy="347472"/>
          </a:xfrm>
          <a:prstGeom prst="rect">
            <a:avLst/>
          </a:prstGeom>
          <a:noFill/>
          <a:ln/>
        </p:spPr>
        <p:txBody>
          <a:bodyPr wrap="square" rtlCol="0" anchor="ctr"/>
          <a:lstStyle/>
          <a:p>
            <a:pPr marL="0" indent="0">
              <a:buNone/>
            </a:pPr>
            <a:r>
              <a:rPr lang="en-US" sz="1000" dirty="0">
                <a:solidFill>
                  <a:srgbClr val="626568"/>
                </a:solidFill>
                <a:latin typeface="Arial" pitchFamily="34" charset="0"/>
                <a:ea typeface="Arial" pitchFamily="34" charset="-122"/>
                <a:cs typeface="Arial" pitchFamily="34" charset="-120"/>
              </a:rPr>
              <a:t>Research design, data sources, feature engineering, ML models &amp; RAG pipeline</a:t>
            </a:r>
            <a:endParaRPr lang="en-US" sz="1000" dirty="0"/>
          </a:p>
        </p:txBody>
      </p:sp>
      <p:sp>
        <p:nvSpPr>
          <p:cNvPr id="20" name="Shape 18"/>
          <p:cNvSpPr/>
          <p:nvPr/>
        </p:nvSpPr>
        <p:spPr>
          <a:xfrm>
            <a:off x="4663440" y="2029968"/>
            <a:ext cx="4114800" cy="987552"/>
          </a:xfrm>
          <a:prstGeom prst="roundRect">
            <a:avLst>
              <a:gd name="adj" fmla="val 740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21" name="Shape 19"/>
          <p:cNvSpPr/>
          <p:nvPr/>
        </p:nvSpPr>
        <p:spPr>
          <a:xfrm>
            <a:off x="4864608" y="2231136"/>
            <a:ext cx="731520" cy="512064"/>
          </a:xfrm>
          <a:prstGeom prst="ellipse">
            <a:avLst/>
          </a:prstGeom>
          <a:solidFill>
            <a:srgbClr val="000000"/>
          </a:solidFill>
          <a:ln w="12700">
            <a:solidFill>
              <a:srgbClr val="000000"/>
            </a:solidFill>
            <a:prstDash val="solid"/>
          </a:ln>
        </p:spPr>
        <p:txBody>
          <a:bodyPr/>
          <a:lstStyle/>
          <a:p>
            <a:endParaRPr lang="en-US"/>
          </a:p>
        </p:txBody>
      </p:sp>
      <p:sp>
        <p:nvSpPr>
          <p:cNvPr id="22" name="Text 20"/>
          <p:cNvSpPr/>
          <p:nvPr/>
        </p:nvSpPr>
        <p:spPr>
          <a:xfrm>
            <a:off x="4864608" y="2231136"/>
            <a:ext cx="731520" cy="512064"/>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3" name="Text 21"/>
          <p:cNvSpPr/>
          <p:nvPr/>
        </p:nvSpPr>
        <p:spPr>
          <a:xfrm>
            <a:off x="5742432" y="2121408"/>
            <a:ext cx="2907792" cy="256032"/>
          </a:xfrm>
          <a:prstGeom prst="rect">
            <a:avLst/>
          </a:prstGeom>
          <a:noFill/>
          <a:ln/>
        </p:spPr>
        <p:txBody>
          <a:bodyPr wrap="square" rtlCol="0" anchor="ctr"/>
          <a:lstStyle/>
          <a:p>
            <a:pPr marL="0" indent="0">
              <a:buNone/>
            </a:pPr>
            <a:r>
              <a:rPr lang="en-US" sz="1400" b="1" dirty="0">
                <a:solidFill>
                  <a:srgbClr val="2D2D2D"/>
                </a:solidFill>
                <a:latin typeface="Arial" pitchFamily="34" charset="0"/>
                <a:ea typeface="Arial" pitchFamily="34" charset="-122"/>
                <a:cs typeface="Arial" pitchFamily="34" charset="-120"/>
              </a:rPr>
              <a:t>Experiments &amp; Results</a:t>
            </a:r>
            <a:endParaRPr lang="en-US" sz="1400" dirty="0"/>
          </a:p>
        </p:txBody>
      </p:sp>
      <p:sp>
        <p:nvSpPr>
          <p:cNvPr id="24" name="Text 22"/>
          <p:cNvSpPr/>
          <p:nvPr/>
        </p:nvSpPr>
        <p:spPr>
          <a:xfrm>
            <a:off x="5742432" y="2432304"/>
            <a:ext cx="2907792" cy="347472"/>
          </a:xfrm>
          <a:prstGeom prst="rect">
            <a:avLst/>
          </a:prstGeom>
          <a:noFill/>
          <a:ln/>
        </p:spPr>
        <p:txBody>
          <a:bodyPr wrap="square" rtlCol="0" anchor="ctr"/>
          <a:lstStyle/>
          <a:p>
            <a:pPr marL="0" indent="0">
              <a:buNone/>
            </a:pPr>
            <a:r>
              <a:rPr lang="en-US" sz="1000" dirty="0">
                <a:solidFill>
                  <a:srgbClr val="626568"/>
                </a:solidFill>
                <a:latin typeface="Arial" pitchFamily="34" charset="0"/>
                <a:ea typeface="Arial" pitchFamily="34" charset="-122"/>
                <a:cs typeface="Arial" pitchFamily="34" charset="-120"/>
              </a:rPr>
              <a:t>Performance metrics, feature importance, calibration</a:t>
            </a:r>
            <a:endParaRPr lang="en-US" sz="1000" dirty="0"/>
          </a:p>
        </p:txBody>
      </p:sp>
      <p:sp>
        <p:nvSpPr>
          <p:cNvPr id="25" name="Shape 23"/>
          <p:cNvSpPr/>
          <p:nvPr/>
        </p:nvSpPr>
        <p:spPr>
          <a:xfrm>
            <a:off x="365760" y="3127248"/>
            <a:ext cx="4114800" cy="987552"/>
          </a:xfrm>
          <a:prstGeom prst="roundRect">
            <a:avLst>
              <a:gd name="adj" fmla="val 740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dirty="0"/>
          </a:p>
        </p:txBody>
      </p:sp>
      <p:sp>
        <p:nvSpPr>
          <p:cNvPr id="26" name="Shape 24"/>
          <p:cNvSpPr/>
          <p:nvPr/>
        </p:nvSpPr>
        <p:spPr>
          <a:xfrm>
            <a:off x="566928" y="3328416"/>
            <a:ext cx="731520" cy="512064"/>
          </a:xfrm>
          <a:prstGeom prst="ellipse">
            <a:avLst/>
          </a:prstGeom>
          <a:solidFill>
            <a:srgbClr val="000000"/>
          </a:solidFill>
          <a:ln w="12700">
            <a:solidFill>
              <a:srgbClr val="000000"/>
            </a:solidFill>
            <a:prstDash val="solid"/>
          </a:ln>
        </p:spPr>
        <p:txBody>
          <a:bodyPr/>
          <a:lstStyle/>
          <a:p>
            <a:endParaRPr lang="en-US"/>
          </a:p>
        </p:txBody>
      </p:sp>
      <p:sp>
        <p:nvSpPr>
          <p:cNvPr id="27" name="Text 25"/>
          <p:cNvSpPr/>
          <p:nvPr/>
        </p:nvSpPr>
        <p:spPr>
          <a:xfrm>
            <a:off x="566928" y="3328416"/>
            <a:ext cx="731520" cy="512064"/>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28" name="Text 26"/>
          <p:cNvSpPr/>
          <p:nvPr/>
        </p:nvSpPr>
        <p:spPr>
          <a:xfrm>
            <a:off x="1444752" y="3218688"/>
            <a:ext cx="2907792" cy="256032"/>
          </a:xfrm>
          <a:prstGeom prst="rect">
            <a:avLst/>
          </a:prstGeom>
          <a:noFill/>
          <a:ln/>
        </p:spPr>
        <p:txBody>
          <a:bodyPr wrap="square" rtlCol="0" anchor="ctr"/>
          <a:lstStyle/>
          <a:p>
            <a:pPr marL="0" indent="0">
              <a:buNone/>
            </a:pPr>
            <a:r>
              <a:rPr lang="en-US" sz="1400" b="1" dirty="0">
                <a:solidFill>
                  <a:srgbClr val="2D2D2D"/>
                </a:solidFill>
                <a:latin typeface="Arial" pitchFamily="34" charset="0"/>
                <a:ea typeface="Arial" pitchFamily="34" charset="-122"/>
                <a:cs typeface="Arial" pitchFamily="34" charset="-120"/>
              </a:rPr>
              <a:t>Discussion</a:t>
            </a:r>
            <a:endParaRPr lang="en-US" sz="1400" dirty="0"/>
          </a:p>
        </p:txBody>
      </p:sp>
      <p:sp>
        <p:nvSpPr>
          <p:cNvPr id="29" name="Text 27"/>
          <p:cNvSpPr/>
          <p:nvPr/>
        </p:nvSpPr>
        <p:spPr>
          <a:xfrm>
            <a:off x="1444752" y="3529584"/>
            <a:ext cx="2907792" cy="347472"/>
          </a:xfrm>
          <a:prstGeom prst="rect">
            <a:avLst/>
          </a:prstGeom>
          <a:noFill/>
          <a:ln/>
        </p:spPr>
        <p:txBody>
          <a:bodyPr wrap="square" rtlCol="0" anchor="ctr"/>
          <a:lstStyle/>
          <a:p>
            <a:pPr marL="0" indent="0">
              <a:buNone/>
            </a:pPr>
            <a:r>
              <a:rPr lang="en-US" sz="1000" dirty="0">
                <a:solidFill>
                  <a:srgbClr val="626568"/>
                </a:solidFill>
                <a:latin typeface="Arial" pitchFamily="34" charset="0"/>
                <a:ea typeface="Arial" pitchFamily="34" charset="-122"/>
                <a:cs typeface="Arial" pitchFamily="34" charset="-120"/>
              </a:rPr>
              <a:t>Key findings, limitations, contributions</a:t>
            </a:r>
            <a:endParaRPr lang="en-US" sz="1000" dirty="0"/>
          </a:p>
        </p:txBody>
      </p:sp>
      <p:sp>
        <p:nvSpPr>
          <p:cNvPr id="30" name="Shape 28"/>
          <p:cNvSpPr/>
          <p:nvPr/>
        </p:nvSpPr>
        <p:spPr>
          <a:xfrm>
            <a:off x="4663440" y="3127248"/>
            <a:ext cx="4114800" cy="987552"/>
          </a:xfrm>
          <a:prstGeom prst="roundRect">
            <a:avLst>
              <a:gd name="adj" fmla="val 740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31" name="Shape 29"/>
          <p:cNvSpPr/>
          <p:nvPr/>
        </p:nvSpPr>
        <p:spPr>
          <a:xfrm>
            <a:off x="4864608" y="3328416"/>
            <a:ext cx="731520" cy="512064"/>
          </a:xfrm>
          <a:prstGeom prst="ellipse">
            <a:avLst/>
          </a:prstGeom>
          <a:solidFill>
            <a:srgbClr val="000000"/>
          </a:solidFill>
          <a:ln w="12700">
            <a:solidFill>
              <a:srgbClr val="000000"/>
            </a:solidFill>
            <a:prstDash val="solid"/>
          </a:ln>
        </p:spPr>
        <p:txBody>
          <a:bodyPr/>
          <a:lstStyle/>
          <a:p>
            <a:endParaRPr lang="en-US"/>
          </a:p>
        </p:txBody>
      </p:sp>
      <p:sp>
        <p:nvSpPr>
          <p:cNvPr id="32" name="Text 30"/>
          <p:cNvSpPr/>
          <p:nvPr/>
        </p:nvSpPr>
        <p:spPr>
          <a:xfrm>
            <a:off x="4864608" y="3328416"/>
            <a:ext cx="731520" cy="512064"/>
          </a:xfrm>
          <a:prstGeom prst="rect">
            <a:avLst/>
          </a:prstGeom>
          <a:noFill/>
          <a:ln/>
        </p:spPr>
        <p:txBody>
          <a:bodyPr wrap="square" lIns="0" tIns="0" rIns="0" bIns="0" rtlCol="0" anchor="ctr"/>
          <a:lstStyle/>
          <a:p>
            <a:pPr marL="0" indent="0" algn="ctr">
              <a:buNone/>
            </a:pPr>
            <a:r>
              <a:rPr lang="en-US" sz="1800" b="1" dirty="0">
                <a:solidFill>
                  <a:srgbClr val="FFFFFF"/>
                </a:solidFill>
              </a:rPr>
              <a:t>6</a:t>
            </a:r>
            <a:endParaRPr lang="en-US" sz="1800" dirty="0"/>
          </a:p>
        </p:txBody>
      </p:sp>
      <p:sp>
        <p:nvSpPr>
          <p:cNvPr id="33" name="Text 31"/>
          <p:cNvSpPr/>
          <p:nvPr/>
        </p:nvSpPr>
        <p:spPr>
          <a:xfrm>
            <a:off x="5742432" y="3218688"/>
            <a:ext cx="2907792" cy="256032"/>
          </a:xfrm>
          <a:prstGeom prst="rect">
            <a:avLst/>
          </a:prstGeom>
          <a:noFill/>
          <a:ln/>
        </p:spPr>
        <p:txBody>
          <a:bodyPr wrap="square" rtlCol="0" anchor="ctr"/>
          <a:lstStyle/>
          <a:p>
            <a:pPr marL="0" indent="0">
              <a:buNone/>
            </a:pPr>
            <a:r>
              <a:rPr lang="en-US" sz="1400" b="1" dirty="0">
                <a:solidFill>
                  <a:srgbClr val="2D2D2D"/>
                </a:solidFill>
                <a:latin typeface="Arial" pitchFamily="34" charset="0"/>
                <a:ea typeface="Arial" pitchFamily="34" charset="-122"/>
                <a:cs typeface="Arial" pitchFamily="34" charset="-120"/>
              </a:rPr>
              <a:t>Conclusion</a:t>
            </a:r>
            <a:endParaRPr lang="en-US" sz="1400" dirty="0"/>
          </a:p>
        </p:txBody>
      </p:sp>
      <p:sp>
        <p:nvSpPr>
          <p:cNvPr id="34" name="Text 32"/>
          <p:cNvSpPr/>
          <p:nvPr/>
        </p:nvSpPr>
        <p:spPr>
          <a:xfrm>
            <a:off x="5742432" y="3529584"/>
            <a:ext cx="2907792" cy="347472"/>
          </a:xfrm>
          <a:prstGeom prst="rect">
            <a:avLst/>
          </a:prstGeom>
          <a:noFill/>
          <a:ln/>
        </p:spPr>
        <p:txBody>
          <a:bodyPr wrap="square" rtlCol="0" anchor="ctr"/>
          <a:lstStyle/>
          <a:p>
            <a:pPr marL="0" indent="0">
              <a:buNone/>
            </a:pPr>
            <a:r>
              <a:rPr lang="en-US" sz="1000" dirty="0">
                <a:solidFill>
                  <a:srgbClr val="626568"/>
                </a:solidFill>
                <a:latin typeface="Arial" pitchFamily="34" charset="0"/>
                <a:ea typeface="Arial" pitchFamily="34" charset="-122"/>
                <a:cs typeface="Arial" pitchFamily="34" charset="-120"/>
              </a:rPr>
              <a:t>Takeaways, future directions, Q&amp;A</a:t>
            </a:r>
            <a:endParaRPr lang="en-US" sz="1000" dirty="0"/>
          </a:p>
        </p:txBody>
      </p:sp>
      <p:sp>
        <p:nvSpPr>
          <p:cNvPr id="37" name="Shape 1">
            <a:extLst>
              <a:ext uri="{FF2B5EF4-FFF2-40B4-BE49-F238E27FC236}">
                <a16:creationId xmlns:a16="http://schemas.microsoft.com/office/drawing/2014/main" id="{454E75DC-89AE-65E0-5641-6E8F12FDF903}"/>
              </a:ext>
            </a:extLst>
          </p:cNvPr>
          <p:cNvSpPr/>
          <p:nvPr/>
        </p:nvSpPr>
        <p:spPr>
          <a:xfrm>
            <a:off x="658751" y="4771775"/>
            <a:ext cx="4754880" cy="274320"/>
          </a:xfrm>
          <a:prstGeom prst="rect">
            <a:avLst/>
          </a:prstGeom>
          <a:solidFill>
            <a:srgbClr val="000000"/>
          </a:solidFill>
          <a:ln w="12700">
            <a:solidFill>
              <a:srgbClr val="000000"/>
            </a:solidFill>
            <a:prstDash val="solid"/>
          </a:ln>
        </p:spPr>
        <p:txBody>
          <a:bodyPr/>
          <a:lstStyle/>
          <a:p>
            <a:endParaRPr lang="en-US" dirty="0"/>
          </a:p>
        </p:txBody>
      </p:sp>
      <p:sp>
        <p:nvSpPr>
          <p:cNvPr id="38" name="Text 2">
            <a:extLst>
              <a:ext uri="{FF2B5EF4-FFF2-40B4-BE49-F238E27FC236}">
                <a16:creationId xmlns:a16="http://schemas.microsoft.com/office/drawing/2014/main" id="{090C3028-9BB9-1D0F-68B6-FC26BB9852B1}"/>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41" name="TextBox 40">
            <a:extLst>
              <a:ext uri="{FF2B5EF4-FFF2-40B4-BE49-F238E27FC236}">
                <a16:creationId xmlns:a16="http://schemas.microsoft.com/office/drawing/2014/main" id="{365C1446-8C37-6CD2-531A-2064AEEA1FEC}"/>
              </a:ext>
            </a:extLst>
          </p:cNvPr>
          <p:cNvSpPr txBox="1"/>
          <p:nvPr/>
        </p:nvSpPr>
        <p:spPr>
          <a:xfrm>
            <a:off x="1632317" y="4866724"/>
            <a:ext cx="184731" cy="369332"/>
          </a:xfrm>
          <a:prstGeom prst="rect">
            <a:avLst/>
          </a:prstGeom>
          <a:noFill/>
        </p:spPr>
        <p:txBody>
          <a:bodyPr wrap="none" rtlCol="0">
            <a:spAutoFit/>
          </a:bodyPr>
          <a:lstStyle/>
          <a:p>
            <a:endParaRPr lang="en-US" dirty="0"/>
          </a:p>
        </p:txBody>
      </p:sp>
      <p:sp>
        <p:nvSpPr>
          <p:cNvPr id="110" name="PageNum"/>
          <p:cNvSpPr>
            <a:spLocks noGrp="1"/>
          </p:cNvSpPr>
          <p:nvPr/>
        </p:nvSpPr>
        <p:spPr>
          <a:xfrm>
            <a:off x="4329485" y="4752828"/>
            <a:ext cx="302150" cy="260000"/>
          </a:xfrm>
          <a:prstGeom prst="rect">
            <a:avLst/>
          </a:prstGeom>
          <a:noFill/>
        </p:spPr>
        <p:txBody>
          <a:bodyPr lIns="0" tIns="0" rIns="0" bIns="0" anchor="ctr"/>
          <a:lstStyle/>
          <a:p>
            <a:pPr algn="ctr"/>
            <a:r>
              <a:rPr lang="en-US" sz="1000" b="0" dirty="0">
                <a:solidFill>
                  <a:srgbClr val="FFFFFF"/>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457200" y="2169414"/>
            <a:ext cx="8229600" cy="804672"/>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Introduction</a:t>
            </a:r>
          </a:p>
          <a:p>
            <a:pPr marL="0" indent="0" algn="ctr">
              <a:buNone/>
            </a:pPr>
            <a:r>
              <a:rPr lang="en-US" sz="4800" b="1" dirty="0">
                <a:solidFill>
                  <a:srgbClr val="FFFFFF"/>
                </a:solidFill>
                <a:latin typeface="Arial" pitchFamily="34" charset="0"/>
                <a:cs typeface="Arial" pitchFamily="34" charset="-120"/>
              </a:rPr>
              <a:t>&amp; </a:t>
            </a:r>
          </a:p>
          <a:p>
            <a:pPr algn="ctr"/>
            <a:r>
              <a:rPr lang="en-US" sz="4800" b="1" dirty="0">
                <a:solidFill>
                  <a:srgbClr val="FFFFFF"/>
                </a:solidFill>
                <a:latin typeface="Arial" pitchFamily="34" charset="0"/>
                <a:ea typeface="Arial" pitchFamily="34" charset="-122"/>
                <a:cs typeface="Arial" pitchFamily="34" charset="-120"/>
              </a:rPr>
              <a:t>Related Works</a:t>
            </a:r>
            <a:endParaRPr lang="en-US" sz="4800" dirty="0"/>
          </a:p>
          <a:p>
            <a:pPr marL="0" indent="0" algn="ctr">
              <a:buNone/>
            </a:pPr>
            <a:endParaRPr lang="en-US" sz="4800" dirty="0"/>
          </a:p>
        </p:txBody>
      </p:sp>
      <p:sp>
        <p:nvSpPr>
          <p:cNvPr id="15" name="Shape 1">
            <a:extLst>
              <a:ext uri="{FF2B5EF4-FFF2-40B4-BE49-F238E27FC236}">
                <a16:creationId xmlns:a16="http://schemas.microsoft.com/office/drawing/2014/main" id="{949AB844-3FEA-8FD0-22B4-9FEDF98E1433}"/>
              </a:ext>
            </a:extLst>
          </p:cNvPr>
          <p:cNvSpPr/>
          <p:nvPr/>
        </p:nvSpPr>
        <p:spPr>
          <a:xfrm>
            <a:off x="2065927" y="4789217"/>
            <a:ext cx="4754880" cy="274320"/>
          </a:xfrm>
          <a:prstGeom prst="rect">
            <a:avLst/>
          </a:prstGeom>
          <a:solidFill>
            <a:srgbClr val="000000"/>
          </a:solidFill>
          <a:ln w="12700">
            <a:solidFill>
              <a:srgbClr val="000000"/>
            </a:solidFill>
            <a:prstDash val="solid"/>
          </a:ln>
        </p:spPr>
        <p:txBody>
          <a:bodyPr/>
          <a:lstStyle/>
          <a:p>
            <a:endParaRPr lang="en-US" dirty="0"/>
          </a:p>
        </p:txBody>
      </p:sp>
      <p:sp>
        <p:nvSpPr>
          <p:cNvPr id="3" name="Rectangle 2">
            <a:extLst>
              <a:ext uri="{FF2B5EF4-FFF2-40B4-BE49-F238E27FC236}">
                <a16:creationId xmlns:a16="http://schemas.microsoft.com/office/drawing/2014/main" id="{84062FE4-2771-31CB-686F-C4D60DE8199F}"/>
              </a:ext>
            </a:extLst>
          </p:cNvPr>
          <p:cNvSpPr/>
          <p:nvPr/>
        </p:nvSpPr>
        <p:spPr>
          <a:xfrm>
            <a:off x="874643" y="4744338"/>
            <a:ext cx="1636557" cy="27432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Text 2">
            <a:extLst>
              <a:ext uri="{FF2B5EF4-FFF2-40B4-BE49-F238E27FC236}">
                <a16:creationId xmlns:a16="http://schemas.microsoft.com/office/drawing/2014/main" id="{AEB51096-4E4D-C4CF-5823-81D7F88AF378}"/>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7" name="PageNum">
            <a:extLst>
              <a:ext uri="{FF2B5EF4-FFF2-40B4-BE49-F238E27FC236}">
                <a16:creationId xmlns:a16="http://schemas.microsoft.com/office/drawing/2014/main" id="{C7699D58-1033-0BE1-A804-EF3E0E01BA33}"/>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3</a:t>
            </a:r>
            <a:endParaRPr lang="en-US" sz="1000" b="0" dirty="0">
              <a:solidFill>
                <a:srgbClr val="FFFFFF"/>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The Medicare Fraud Problem</a:t>
            </a:r>
            <a:endParaRPr lang="en-US" sz="2400" dirty="0"/>
          </a:p>
        </p:txBody>
      </p:sp>
      <p:sp>
        <p:nvSpPr>
          <p:cNvPr id="4" name="Text 2"/>
          <p:cNvSpPr/>
          <p:nvPr/>
        </p:nvSpPr>
        <p:spPr>
          <a:xfrm>
            <a:off x="502920" y="4325112"/>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Shape 3"/>
          <p:cNvSpPr/>
          <p:nvPr/>
        </p:nvSpPr>
        <p:spPr>
          <a:xfrm>
            <a:off x="174934" y="962106"/>
            <a:ext cx="3108960" cy="3017520"/>
          </a:xfrm>
          <a:prstGeom prst="roundRect">
            <a:avLst>
              <a:gd name="adj" fmla="val 2424"/>
            </a:avLst>
          </a:prstGeom>
          <a:solidFill>
            <a:srgbClr val="000000"/>
          </a:solidFill>
          <a:ln w="6350">
            <a:solidFill>
              <a:srgbClr val="000000"/>
            </a:solidFill>
            <a:prstDash val="solid"/>
          </a:ln>
          <a:effectLst>
            <a:outerShdw blurRad="63500" dist="25400" dir="2700000" algn="bl" rotWithShape="0">
              <a:srgbClr val="000000">
                <a:alpha val="10000"/>
              </a:srgbClr>
            </a:outerShdw>
          </a:effectLst>
        </p:spPr>
        <p:txBody>
          <a:bodyPr/>
          <a:lstStyle/>
          <a:p>
            <a:endParaRPr lang="en-US"/>
          </a:p>
        </p:txBody>
      </p:sp>
      <p:sp>
        <p:nvSpPr>
          <p:cNvPr id="6" name="Text 4"/>
          <p:cNvSpPr/>
          <p:nvPr/>
        </p:nvSpPr>
        <p:spPr>
          <a:xfrm>
            <a:off x="266374" y="1016970"/>
            <a:ext cx="2926080" cy="804672"/>
          </a:xfrm>
          <a:prstGeom prst="rect">
            <a:avLst/>
          </a:prstGeom>
          <a:noFill/>
          <a:ln/>
        </p:spPr>
        <p:txBody>
          <a:bodyPr wrap="square" rtlCol="0" anchor="ctr"/>
          <a:lstStyle/>
          <a:p>
            <a:pPr marL="0" indent="0" algn="ctr">
              <a:buNone/>
            </a:pPr>
            <a:r>
              <a:rPr lang="en-US" sz="5400" b="1" dirty="0">
                <a:solidFill>
                  <a:srgbClr val="D61920"/>
                </a:solidFill>
                <a:latin typeface="Arial" pitchFamily="34" charset="0"/>
                <a:ea typeface="Arial" pitchFamily="34" charset="-122"/>
                <a:cs typeface="Arial" pitchFamily="34" charset="-120"/>
              </a:rPr>
              <a:t>$60B+</a:t>
            </a:r>
            <a:endParaRPr lang="en-US" sz="5400" dirty="0"/>
          </a:p>
        </p:txBody>
      </p:sp>
      <p:sp>
        <p:nvSpPr>
          <p:cNvPr id="7" name="Text 5"/>
          <p:cNvSpPr/>
          <p:nvPr/>
        </p:nvSpPr>
        <p:spPr>
          <a:xfrm>
            <a:off x="266374" y="1894794"/>
            <a:ext cx="2926080" cy="512064"/>
          </a:xfrm>
          <a:prstGeom prst="rect">
            <a:avLst/>
          </a:prstGeom>
          <a:noFill/>
          <a:ln/>
        </p:spPr>
        <p:txBody>
          <a:bodyPr wrap="square" rtlCol="0" anchor="ctr"/>
          <a:lstStyle/>
          <a:p>
            <a:pPr marL="0" indent="0" algn="ctr">
              <a:buNone/>
            </a:pPr>
            <a:r>
              <a:rPr lang="en-US" sz="1300" dirty="0">
                <a:solidFill>
                  <a:srgbClr val="FFFFFF"/>
                </a:solidFill>
                <a:latin typeface="Arial" pitchFamily="34" charset="0"/>
                <a:ea typeface="Arial" pitchFamily="34" charset="-122"/>
                <a:cs typeface="Arial" pitchFamily="34" charset="-120"/>
              </a:rPr>
              <a:t>estimated annual Medicare</a:t>
            </a:r>
            <a:endParaRPr lang="en-US" sz="1300" dirty="0"/>
          </a:p>
          <a:p>
            <a:pPr marL="0" indent="0" algn="ctr">
              <a:buNone/>
            </a:pPr>
            <a:r>
              <a:rPr lang="en-US" sz="1300" dirty="0">
                <a:solidFill>
                  <a:srgbClr val="FFFFFF"/>
                </a:solidFill>
                <a:latin typeface="Arial" pitchFamily="34" charset="0"/>
                <a:ea typeface="Arial" pitchFamily="34" charset="-122"/>
                <a:cs typeface="Arial" pitchFamily="34" charset="-120"/>
              </a:rPr>
              <a:t>fraud, waste, and abuse</a:t>
            </a:r>
            <a:endParaRPr lang="en-US" sz="1300" dirty="0"/>
          </a:p>
        </p:txBody>
      </p:sp>
      <p:sp>
        <p:nvSpPr>
          <p:cNvPr id="8" name="Shape 6"/>
          <p:cNvSpPr/>
          <p:nvPr/>
        </p:nvSpPr>
        <p:spPr>
          <a:xfrm>
            <a:off x="357814" y="2480010"/>
            <a:ext cx="2743200" cy="21946"/>
          </a:xfrm>
          <a:prstGeom prst="rect">
            <a:avLst/>
          </a:prstGeom>
          <a:solidFill>
            <a:srgbClr val="555555"/>
          </a:solidFill>
          <a:ln w="12700">
            <a:solidFill>
              <a:srgbClr val="555555"/>
            </a:solidFill>
            <a:prstDash val="solid"/>
          </a:ln>
        </p:spPr>
        <p:txBody>
          <a:bodyPr/>
          <a:lstStyle/>
          <a:p>
            <a:endParaRPr lang="en-US"/>
          </a:p>
        </p:txBody>
      </p:sp>
      <p:sp>
        <p:nvSpPr>
          <p:cNvPr id="9" name="Text 7"/>
          <p:cNvSpPr/>
          <p:nvPr/>
        </p:nvSpPr>
        <p:spPr>
          <a:xfrm>
            <a:off x="266374" y="2534874"/>
            <a:ext cx="2926080" cy="219456"/>
          </a:xfrm>
          <a:prstGeom prst="rect">
            <a:avLst/>
          </a:prstGeom>
          <a:noFill/>
          <a:ln/>
        </p:spPr>
        <p:txBody>
          <a:bodyPr wrap="square" rtlCol="0" anchor="ctr"/>
          <a:lstStyle/>
          <a:p>
            <a:pPr marL="0" indent="0" algn="ctr">
              <a:buNone/>
            </a:pPr>
            <a:r>
              <a:rPr lang="en-US" sz="1100" i="1" dirty="0">
                <a:solidFill>
                  <a:srgbClr val="888888"/>
                </a:solidFill>
                <a:latin typeface="Arial" pitchFamily="34" charset="0"/>
                <a:ea typeface="Arial" pitchFamily="34" charset="-122"/>
                <a:cs typeface="Arial" pitchFamily="34" charset="-120"/>
              </a:rPr>
              <a:t>Source: OIG Fraud Statistics</a:t>
            </a:r>
            <a:endParaRPr lang="en-US" sz="1100" dirty="0"/>
          </a:p>
        </p:txBody>
      </p:sp>
      <p:sp>
        <p:nvSpPr>
          <p:cNvPr id="10" name="Text 8"/>
          <p:cNvSpPr/>
          <p:nvPr/>
        </p:nvSpPr>
        <p:spPr>
          <a:xfrm>
            <a:off x="266374" y="2827482"/>
            <a:ext cx="2926080" cy="365760"/>
          </a:xfrm>
          <a:prstGeom prst="rect">
            <a:avLst/>
          </a:prstGeom>
          <a:noFill/>
          <a:ln/>
        </p:spPr>
        <p:txBody>
          <a:bodyPr wrap="square" rtlCol="0" anchor="ctr"/>
          <a:lstStyle/>
          <a:p>
            <a:pPr marL="0" indent="0" algn="ctr">
              <a:buNone/>
            </a:pPr>
            <a:r>
              <a:rPr lang="en-US" sz="1300" dirty="0">
                <a:solidFill>
                  <a:srgbClr val="CCCCCC"/>
                </a:solidFill>
                <a:latin typeface="Arial" pitchFamily="34" charset="0"/>
                <a:ea typeface="Arial" pitchFamily="34" charset="-122"/>
                <a:cs typeface="Arial" pitchFamily="34" charset="-120"/>
              </a:rPr>
              <a:t>9.5% of total Medicare spending</a:t>
            </a:r>
            <a:endParaRPr lang="en-US" sz="1300" dirty="0"/>
          </a:p>
        </p:txBody>
      </p:sp>
      <p:sp>
        <p:nvSpPr>
          <p:cNvPr id="11" name="Shape 9"/>
          <p:cNvSpPr/>
          <p:nvPr/>
        </p:nvSpPr>
        <p:spPr>
          <a:xfrm>
            <a:off x="3485062" y="980394"/>
            <a:ext cx="4058412" cy="640080"/>
          </a:xfrm>
          <a:prstGeom prst="roundRect">
            <a:avLst>
              <a:gd name="adj" fmla="val 11429"/>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2" name="Shape 10"/>
          <p:cNvSpPr/>
          <p:nvPr/>
        </p:nvSpPr>
        <p:spPr>
          <a:xfrm>
            <a:off x="3594790" y="1053546"/>
            <a:ext cx="347472" cy="277978"/>
          </a:xfrm>
          <a:prstGeom prst="ellipse">
            <a:avLst/>
          </a:prstGeom>
          <a:solidFill>
            <a:srgbClr val="D61920"/>
          </a:solidFill>
          <a:ln w="12700">
            <a:solidFill>
              <a:srgbClr val="D61920"/>
            </a:solidFill>
            <a:prstDash val="solid"/>
          </a:ln>
        </p:spPr>
        <p:txBody>
          <a:bodyPr/>
          <a:lstStyle/>
          <a:p>
            <a:endParaRPr lang="en-US"/>
          </a:p>
        </p:txBody>
      </p:sp>
      <p:sp>
        <p:nvSpPr>
          <p:cNvPr id="13" name="Text 11"/>
          <p:cNvSpPr/>
          <p:nvPr/>
        </p:nvSpPr>
        <p:spPr>
          <a:xfrm>
            <a:off x="3594790" y="1053546"/>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4" name="Text 12"/>
          <p:cNvSpPr/>
          <p:nvPr/>
        </p:nvSpPr>
        <p:spPr>
          <a:xfrm>
            <a:off x="4070278" y="980394"/>
            <a:ext cx="4389120" cy="530352"/>
          </a:xfrm>
          <a:prstGeom prst="rect">
            <a:avLst/>
          </a:prstGeom>
          <a:noFill/>
          <a:ln/>
        </p:spPr>
        <p:txBody>
          <a:bodyPr wrap="square" rtlCol="0" anchor="ctr"/>
          <a:lstStyle/>
          <a:p>
            <a:r>
              <a:rPr lang="en-US" sz="1300" b="1" dirty="0">
                <a:solidFill>
                  <a:srgbClr val="2D2D2D"/>
                </a:solidFill>
                <a:latin typeface="Arial" pitchFamily="34" charset="0"/>
                <a:cs typeface="Arial" pitchFamily="34" charset="-120"/>
              </a:rPr>
              <a:t>Evolving fraud schemes:</a:t>
            </a:r>
          </a:p>
          <a:p>
            <a:r>
              <a:rPr lang="en-US" sz="1100" dirty="0">
                <a:solidFill>
                  <a:srgbClr val="626568"/>
                </a:solidFill>
                <a:latin typeface="Arial" pitchFamily="34" charset="0"/>
                <a:cs typeface="Arial" pitchFamily="34" charset="-120"/>
              </a:rPr>
              <a:t>Rule-based systems miss new fraud patterns.</a:t>
            </a:r>
          </a:p>
        </p:txBody>
      </p:sp>
      <p:sp>
        <p:nvSpPr>
          <p:cNvPr id="15" name="Shape 13"/>
          <p:cNvSpPr/>
          <p:nvPr/>
        </p:nvSpPr>
        <p:spPr>
          <a:xfrm>
            <a:off x="3485062" y="1711914"/>
            <a:ext cx="4058412" cy="640080"/>
          </a:xfrm>
          <a:prstGeom prst="roundRect">
            <a:avLst>
              <a:gd name="adj" fmla="val 11429"/>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6" name="Shape 14"/>
          <p:cNvSpPr/>
          <p:nvPr/>
        </p:nvSpPr>
        <p:spPr>
          <a:xfrm>
            <a:off x="3594790" y="1803354"/>
            <a:ext cx="347472" cy="277978"/>
          </a:xfrm>
          <a:prstGeom prst="ellipse">
            <a:avLst/>
          </a:prstGeom>
          <a:solidFill>
            <a:srgbClr val="D61920"/>
          </a:solidFill>
          <a:ln w="12700">
            <a:solidFill>
              <a:srgbClr val="D61920"/>
            </a:solidFill>
            <a:prstDash val="solid"/>
          </a:ln>
        </p:spPr>
        <p:txBody>
          <a:bodyPr/>
          <a:lstStyle/>
          <a:p>
            <a:endParaRPr lang="en-US"/>
          </a:p>
        </p:txBody>
      </p:sp>
      <p:sp>
        <p:nvSpPr>
          <p:cNvPr id="17" name="Text 15"/>
          <p:cNvSpPr/>
          <p:nvPr/>
        </p:nvSpPr>
        <p:spPr>
          <a:xfrm>
            <a:off x="3594790" y="1803354"/>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8" name="Text 16"/>
          <p:cNvSpPr/>
          <p:nvPr/>
        </p:nvSpPr>
        <p:spPr>
          <a:xfrm>
            <a:off x="4070278" y="1730202"/>
            <a:ext cx="4389120" cy="530352"/>
          </a:xfrm>
          <a:prstGeom prst="rect">
            <a:avLst/>
          </a:prstGeom>
          <a:noFill/>
          <a:ln/>
        </p:spPr>
        <p:txBody>
          <a:bodyPr wrap="square" rtlCol="0" anchor="ctr"/>
          <a:lstStyle/>
          <a:p>
            <a:r>
              <a:rPr lang="en-US" sz="1300" b="1" dirty="0">
                <a:solidFill>
                  <a:srgbClr val="2D2D2D"/>
                </a:solidFill>
                <a:latin typeface="Arial" pitchFamily="34" charset="0"/>
                <a:cs typeface="Arial" pitchFamily="34" charset="-120"/>
              </a:rPr>
              <a:t>Massive data volume:</a:t>
            </a:r>
          </a:p>
          <a:p>
            <a:r>
              <a:rPr lang="en-US" sz="1100" dirty="0">
                <a:solidFill>
                  <a:srgbClr val="626568"/>
                </a:solidFill>
                <a:latin typeface="Arial" pitchFamily="34" charset="0"/>
                <a:cs typeface="Arial" pitchFamily="34" charset="-120"/>
              </a:rPr>
              <a:t>Manual investigation is impossible at Medicare scale.</a:t>
            </a:r>
          </a:p>
        </p:txBody>
      </p:sp>
      <p:sp>
        <p:nvSpPr>
          <p:cNvPr id="19" name="Shape 17"/>
          <p:cNvSpPr/>
          <p:nvPr/>
        </p:nvSpPr>
        <p:spPr>
          <a:xfrm>
            <a:off x="3485062" y="3339546"/>
            <a:ext cx="4058412" cy="640080"/>
          </a:xfrm>
          <a:prstGeom prst="roundRect">
            <a:avLst>
              <a:gd name="adj" fmla="val 11429"/>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20" name="Shape 18"/>
          <p:cNvSpPr/>
          <p:nvPr/>
        </p:nvSpPr>
        <p:spPr>
          <a:xfrm>
            <a:off x="3594790" y="3430986"/>
            <a:ext cx="347472" cy="277978"/>
          </a:xfrm>
          <a:prstGeom prst="ellipse">
            <a:avLst/>
          </a:prstGeom>
          <a:solidFill>
            <a:srgbClr val="D61920"/>
          </a:solidFill>
          <a:ln w="12700">
            <a:solidFill>
              <a:srgbClr val="D61920"/>
            </a:solidFill>
            <a:prstDash val="solid"/>
          </a:ln>
        </p:spPr>
        <p:txBody>
          <a:bodyPr/>
          <a:lstStyle/>
          <a:p>
            <a:endParaRPr lang="en-US"/>
          </a:p>
        </p:txBody>
      </p:sp>
      <p:sp>
        <p:nvSpPr>
          <p:cNvPr id="21" name="Text 19"/>
          <p:cNvSpPr/>
          <p:nvPr/>
        </p:nvSpPr>
        <p:spPr>
          <a:xfrm>
            <a:off x="3594790" y="3430986"/>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2" name="Text 20"/>
          <p:cNvSpPr/>
          <p:nvPr/>
        </p:nvSpPr>
        <p:spPr>
          <a:xfrm>
            <a:off x="4070278" y="3357834"/>
            <a:ext cx="4389120" cy="530352"/>
          </a:xfrm>
          <a:prstGeom prst="rect">
            <a:avLst/>
          </a:prstGeom>
          <a:noFill/>
          <a:ln/>
        </p:spPr>
        <p:txBody>
          <a:bodyPr wrap="square" rtlCol="0" anchor="ctr"/>
          <a:lstStyle/>
          <a:p>
            <a:r>
              <a:rPr lang="en-US" sz="1300" b="1" dirty="0">
                <a:solidFill>
                  <a:srgbClr val="2D2D2D"/>
                </a:solidFill>
                <a:latin typeface="Arial" pitchFamily="34" charset="0"/>
                <a:cs typeface="Arial" pitchFamily="34" charset="-120"/>
              </a:rPr>
              <a:t>Limited explainability:</a:t>
            </a:r>
          </a:p>
          <a:p>
            <a:r>
              <a:rPr lang="en-US" sz="1100" dirty="0">
                <a:solidFill>
                  <a:srgbClr val="626568"/>
                </a:solidFill>
                <a:latin typeface="Arial" pitchFamily="34" charset="0"/>
                <a:cs typeface="Arial" pitchFamily="34" charset="-120"/>
              </a:rPr>
              <a:t>Black-box models cannot justify investigations.</a:t>
            </a:r>
          </a:p>
        </p:txBody>
      </p:sp>
      <p:sp>
        <p:nvSpPr>
          <p:cNvPr id="3" name="Text 2">
            <a:extLst>
              <a:ext uri="{FF2B5EF4-FFF2-40B4-BE49-F238E27FC236}">
                <a16:creationId xmlns:a16="http://schemas.microsoft.com/office/drawing/2014/main" id="{6023E763-24EB-43D1-38D3-6820F748922F}"/>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23" name="PageNum">
            <a:extLst>
              <a:ext uri="{FF2B5EF4-FFF2-40B4-BE49-F238E27FC236}">
                <a16:creationId xmlns:a16="http://schemas.microsoft.com/office/drawing/2014/main" id="{C5712340-0863-9926-D209-85EA80AA3BE4}"/>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4</a:t>
            </a:r>
            <a:endParaRPr lang="en-US" sz="1000" b="0" dirty="0">
              <a:solidFill>
                <a:srgbClr val="FFFFFF"/>
              </a:solidFill>
              <a:latin typeface="Arial"/>
            </a:endParaRPr>
          </a:p>
        </p:txBody>
      </p:sp>
      <p:sp>
        <p:nvSpPr>
          <p:cNvPr id="24" name="Oval 23">
            <a:extLst>
              <a:ext uri="{FF2B5EF4-FFF2-40B4-BE49-F238E27FC236}">
                <a16:creationId xmlns:a16="http://schemas.microsoft.com/office/drawing/2014/main" id="{0F3BC383-8C17-834D-D814-2AD075DED99D}"/>
              </a:ext>
            </a:extLst>
          </p:cNvPr>
          <p:cNvSpPr/>
          <p:nvPr/>
        </p:nvSpPr>
        <p:spPr>
          <a:xfrm>
            <a:off x="8066972" y="1205572"/>
            <a:ext cx="811033" cy="880688"/>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5" name="TextBox 24">
            <a:extLst>
              <a:ext uri="{FF2B5EF4-FFF2-40B4-BE49-F238E27FC236}">
                <a16:creationId xmlns:a16="http://schemas.microsoft.com/office/drawing/2014/main" id="{6C287B42-8DEE-1877-B5FA-1A01E578E093}"/>
              </a:ext>
            </a:extLst>
          </p:cNvPr>
          <p:cNvSpPr txBox="1"/>
          <p:nvPr/>
        </p:nvSpPr>
        <p:spPr>
          <a:xfrm>
            <a:off x="8066972" y="1418655"/>
            <a:ext cx="869010" cy="523220"/>
          </a:xfrm>
          <a:prstGeom prst="rect">
            <a:avLst/>
          </a:prstGeom>
          <a:noFill/>
        </p:spPr>
        <p:txBody>
          <a:bodyPr wrap="square" rtlCol="0">
            <a:spAutoFit/>
          </a:bodyPr>
          <a:lstStyle/>
          <a:p>
            <a:r>
              <a:rPr lang="en-US" sz="1400" dirty="0"/>
              <a:t>Machine</a:t>
            </a:r>
          </a:p>
          <a:p>
            <a:r>
              <a:rPr lang="en-US" sz="1400" dirty="0"/>
              <a:t>Learning</a:t>
            </a:r>
          </a:p>
        </p:txBody>
      </p:sp>
      <p:sp>
        <p:nvSpPr>
          <p:cNvPr id="26" name="Right Brace 25">
            <a:extLst>
              <a:ext uri="{FF2B5EF4-FFF2-40B4-BE49-F238E27FC236}">
                <a16:creationId xmlns:a16="http://schemas.microsoft.com/office/drawing/2014/main" id="{FEB28151-F3F6-1236-DE23-FD1A9D57549A}"/>
              </a:ext>
            </a:extLst>
          </p:cNvPr>
          <p:cNvSpPr/>
          <p:nvPr/>
        </p:nvSpPr>
        <p:spPr>
          <a:xfrm>
            <a:off x="7585553" y="1045595"/>
            <a:ext cx="190831" cy="1207008"/>
          </a:xfrm>
          <a:prstGeom prst="righ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urved Connector 28">
            <a:extLst>
              <a:ext uri="{FF2B5EF4-FFF2-40B4-BE49-F238E27FC236}">
                <a16:creationId xmlns:a16="http://schemas.microsoft.com/office/drawing/2014/main" id="{EABF7577-A0E0-3E2A-CF86-85762DFE5481}"/>
              </a:ext>
            </a:extLst>
          </p:cNvPr>
          <p:cNvCxnSpPr>
            <a:stCxn id="24" idx="4"/>
            <a:endCxn id="19" idx="0"/>
          </p:cNvCxnSpPr>
          <p:nvPr/>
        </p:nvCxnSpPr>
        <p:spPr>
          <a:xfrm rot="5400000">
            <a:off x="6366736" y="1233793"/>
            <a:ext cx="1253286" cy="2958221"/>
          </a:xfrm>
          <a:prstGeom prst="curved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r>
              <a:rPr lang="en-US" sz="2400" b="1" dirty="0">
                <a:solidFill>
                  <a:srgbClr val="2D2D2D"/>
                </a:solidFill>
                <a:latin typeface="Arial" pitchFamily="34" charset="0"/>
                <a:ea typeface="Arial" pitchFamily="34" charset="-122"/>
                <a:cs typeface="Arial" pitchFamily="34" charset="-120"/>
              </a:rPr>
              <a:t>Prior Work: </a:t>
            </a:r>
            <a:r>
              <a:rPr lang="en-US" sz="2400" b="1" dirty="0">
                <a:solidFill>
                  <a:srgbClr val="2D2D2D"/>
                </a:solidFill>
                <a:latin typeface="Arial" pitchFamily="34" charset="0"/>
                <a:cs typeface="Arial" pitchFamily="34" charset="-120"/>
              </a:rPr>
              <a:t>ML-Based Medicare </a:t>
            </a:r>
            <a:r>
              <a:rPr lang="en-US" sz="2400" b="1" dirty="0">
                <a:solidFill>
                  <a:srgbClr val="2D2D2D"/>
                </a:solidFill>
                <a:latin typeface="Arial" pitchFamily="34" charset="0"/>
                <a:ea typeface="Arial" pitchFamily="34" charset="-122"/>
                <a:cs typeface="Arial" pitchFamily="34" charset="-120"/>
              </a:rPr>
              <a:t>Fraud Detection</a:t>
            </a:r>
            <a:endParaRPr lang="en-US" sz="2400" dirty="0"/>
          </a:p>
        </p:txBody>
      </p:sp>
      <p:sp>
        <p:nvSpPr>
          <p:cNvPr id="4" name="Text 2"/>
          <p:cNvSpPr/>
          <p:nvPr/>
        </p:nvSpPr>
        <p:spPr>
          <a:xfrm>
            <a:off x="502920" y="4325112"/>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Shape 3"/>
          <p:cNvSpPr/>
          <p:nvPr/>
        </p:nvSpPr>
        <p:spPr>
          <a:xfrm>
            <a:off x="365760" y="932688"/>
            <a:ext cx="2743200" cy="3401568"/>
          </a:xfrm>
          <a:prstGeom prst="roundRect">
            <a:avLst>
              <a:gd name="adj" fmla="val 266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6" name="Shape 4"/>
          <p:cNvSpPr/>
          <p:nvPr/>
        </p:nvSpPr>
        <p:spPr>
          <a:xfrm>
            <a:off x="365760" y="918058"/>
            <a:ext cx="2743200" cy="351130"/>
          </a:xfrm>
          <a:prstGeom prst="rect">
            <a:avLst/>
          </a:prstGeom>
          <a:solidFill>
            <a:srgbClr val="2D2D2D"/>
          </a:solidFill>
          <a:ln w="12700">
            <a:solidFill>
              <a:srgbClr val="2D2D2D"/>
            </a:solidFill>
            <a:prstDash val="solid"/>
          </a:ln>
        </p:spPr>
        <p:txBody>
          <a:bodyPr/>
          <a:lstStyle/>
          <a:p>
            <a:endParaRPr lang="en-US"/>
          </a:p>
        </p:txBody>
      </p:sp>
      <p:sp>
        <p:nvSpPr>
          <p:cNvPr id="7" name="Text 5"/>
          <p:cNvSpPr/>
          <p:nvPr/>
        </p:nvSpPr>
        <p:spPr>
          <a:xfrm>
            <a:off x="365760" y="918058"/>
            <a:ext cx="2743200" cy="351130"/>
          </a:xfrm>
          <a:prstGeom prst="rect">
            <a:avLst/>
          </a:prstGeom>
          <a:noFill/>
          <a:ln/>
        </p:spPr>
        <p:txBody>
          <a:bodyPr wrap="square" lIns="0" tIns="0" rIns="0" bIns="0" rtlCol="0" anchor="ctr"/>
          <a:lstStyle/>
          <a:p>
            <a:pPr marL="0" indent="0" algn="ctr">
              <a:buNone/>
            </a:pPr>
            <a:r>
              <a:rPr lang="en-US" sz="1200" b="1" dirty="0">
                <a:solidFill>
                  <a:srgbClr val="FFFFFF"/>
                </a:solidFill>
              </a:rPr>
              <a:t>Rule-Based (Pre-2015)</a:t>
            </a:r>
            <a:endParaRPr lang="en-US" sz="1200" dirty="0"/>
          </a:p>
        </p:txBody>
      </p:sp>
      <p:sp>
        <p:nvSpPr>
          <p:cNvPr id="8" name="Shape 6"/>
          <p:cNvSpPr/>
          <p:nvPr/>
        </p:nvSpPr>
        <p:spPr>
          <a:xfrm>
            <a:off x="493776" y="1481328"/>
            <a:ext cx="347472" cy="277978"/>
          </a:xfrm>
          <a:prstGeom prst="ellipse">
            <a:avLst/>
          </a:prstGeom>
          <a:solidFill>
            <a:srgbClr val="D61920"/>
          </a:solidFill>
          <a:ln w="12700">
            <a:solidFill>
              <a:srgbClr val="D61920"/>
            </a:solidFill>
            <a:prstDash val="solid"/>
          </a:ln>
        </p:spPr>
        <p:txBody>
          <a:bodyPr/>
          <a:lstStyle/>
          <a:p>
            <a:endParaRPr lang="en-US"/>
          </a:p>
        </p:txBody>
      </p:sp>
      <p:sp>
        <p:nvSpPr>
          <p:cNvPr id="9" name="Text 7"/>
          <p:cNvSpPr/>
          <p:nvPr/>
        </p:nvSpPr>
        <p:spPr>
          <a:xfrm>
            <a:off x="493776" y="1481328"/>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0" name="Text 8"/>
          <p:cNvSpPr/>
          <p:nvPr/>
        </p:nvSpPr>
        <p:spPr>
          <a:xfrm>
            <a:off x="932688" y="1356970"/>
            <a:ext cx="2084832" cy="482803"/>
          </a:xfrm>
          <a:prstGeom prst="rect">
            <a:avLst/>
          </a:prstGeom>
          <a:noFill/>
          <a:ln/>
        </p:spPr>
        <p:txBody>
          <a:bodyPr wrap="square" rtlCol="0" anchor="ctr"/>
          <a:lstStyle/>
          <a:p>
            <a:pPr marL="0" indent="0">
              <a:buNone/>
            </a:pPr>
            <a:r>
              <a:rPr lang="en-US" sz="1100" dirty="0">
                <a:solidFill>
                  <a:srgbClr val="2D2D2D"/>
                </a:solidFill>
                <a:latin typeface="Arial" pitchFamily="34" charset="0"/>
                <a:ea typeface="Arial" pitchFamily="34" charset="-122"/>
                <a:cs typeface="Arial" pitchFamily="34" charset="-120"/>
              </a:rPr>
              <a:t>OIG manual audits &amp; claim-level flag rules</a:t>
            </a:r>
            <a:endParaRPr lang="en-US" sz="1100" dirty="0"/>
          </a:p>
        </p:txBody>
      </p:sp>
      <p:sp>
        <p:nvSpPr>
          <p:cNvPr id="11" name="Shape 9"/>
          <p:cNvSpPr/>
          <p:nvPr/>
        </p:nvSpPr>
        <p:spPr>
          <a:xfrm>
            <a:off x="493776" y="2139696"/>
            <a:ext cx="347472" cy="277978"/>
          </a:xfrm>
          <a:prstGeom prst="ellipse">
            <a:avLst/>
          </a:prstGeom>
          <a:solidFill>
            <a:srgbClr val="D61920"/>
          </a:solidFill>
          <a:ln w="12700">
            <a:solidFill>
              <a:srgbClr val="D61920"/>
            </a:solidFill>
            <a:prstDash val="solid"/>
          </a:ln>
        </p:spPr>
        <p:txBody>
          <a:bodyPr/>
          <a:lstStyle/>
          <a:p>
            <a:endParaRPr lang="en-US"/>
          </a:p>
        </p:txBody>
      </p:sp>
      <p:sp>
        <p:nvSpPr>
          <p:cNvPr id="12" name="Text 10"/>
          <p:cNvSpPr/>
          <p:nvPr/>
        </p:nvSpPr>
        <p:spPr>
          <a:xfrm>
            <a:off x="493776" y="2139696"/>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932688" y="2015338"/>
            <a:ext cx="2084832" cy="482803"/>
          </a:xfrm>
          <a:prstGeom prst="rect">
            <a:avLst/>
          </a:prstGeom>
          <a:noFill/>
          <a:ln/>
        </p:spPr>
        <p:txBody>
          <a:bodyPr wrap="square" rtlCol="0" anchor="ctr"/>
          <a:lstStyle/>
          <a:p>
            <a:pPr marL="0" indent="0">
              <a:buNone/>
            </a:pPr>
            <a:r>
              <a:rPr lang="en-US" sz="1100" dirty="0">
                <a:solidFill>
                  <a:srgbClr val="2D2D2D"/>
                </a:solidFill>
                <a:latin typeface="Arial" pitchFamily="34" charset="0"/>
                <a:ea typeface="Arial" pitchFamily="34" charset="-122"/>
                <a:cs typeface="Arial" pitchFamily="34" charset="-120"/>
              </a:rPr>
              <a:t>National Correct Coding Initiative edits</a:t>
            </a:r>
            <a:endParaRPr lang="en-US" sz="1100" dirty="0"/>
          </a:p>
        </p:txBody>
      </p:sp>
      <p:sp>
        <p:nvSpPr>
          <p:cNvPr id="14" name="Shape 12"/>
          <p:cNvSpPr/>
          <p:nvPr/>
        </p:nvSpPr>
        <p:spPr>
          <a:xfrm>
            <a:off x="493776" y="2798064"/>
            <a:ext cx="347472" cy="277978"/>
          </a:xfrm>
          <a:prstGeom prst="ellipse">
            <a:avLst/>
          </a:prstGeom>
          <a:solidFill>
            <a:srgbClr val="D61920"/>
          </a:solidFill>
          <a:ln w="12700">
            <a:solidFill>
              <a:srgbClr val="D61920"/>
            </a:solidFill>
            <a:prstDash val="solid"/>
          </a:ln>
        </p:spPr>
        <p:txBody>
          <a:bodyPr/>
          <a:lstStyle/>
          <a:p>
            <a:endParaRPr lang="en-US"/>
          </a:p>
        </p:txBody>
      </p:sp>
      <p:sp>
        <p:nvSpPr>
          <p:cNvPr id="15" name="Text 13"/>
          <p:cNvSpPr/>
          <p:nvPr/>
        </p:nvSpPr>
        <p:spPr>
          <a:xfrm>
            <a:off x="493776" y="2798064"/>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6" name="Text 14"/>
          <p:cNvSpPr/>
          <p:nvPr/>
        </p:nvSpPr>
        <p:spPr>
          <a:xfrm>
            <a:off x="932688" y="2673706"/>
            <a:ext cx="2084832" cy="482803"/>
          </a:xfrm>
          <a:prstGeom prst="rect">
            <a:avLst/>
          </a:prstGeom>
          <a:noFill/>
          <a:ln/>
        </p:spPr>
        <p:txBody>
          <a:bodyPr wrap="square" rtlCol="0" anchor="ctr"/>
          <a:lstStyle/>
          <a:p>
            <a:pPr marL="0" indent="0">
              <a:buNone/>
            </a:pPr>
            <a:r>
              <a:rPr lang="en-US" sz="1100" dirty="0">
                <a:solidFill>
                  <a:srgbClr val="2D2D2D"/>
                </a:solidFill>
                <a:latin typeface="Arial" pitchFamily="34" charset="0"/>
                <a:ea typeface="Arial" pitchFamily="34" charset="-122"/>
                <a:cs typeface="Arial" pitchFamily="34" charset="-120"/>
              </a:rPr>
              <a:t>Threshold-based anomaly triggers</a:t>
            </a:r>
            <a:endParaRPr lang="en-US" sz="1100" dirty="0"/>
          </a:p>
        </p:txBody>
      </p:sp>
      <p:sp>
        <p:nvSpPr>
          <p:cNvPr id="17" name="Shape 15"/>
          <p:cNvSpPr/>
          <p:nvPr/>
        </p:nvSpPr>
        <p:spPr>
          <a:xfrm>
            <a:off x="493776" y="3456432"/>
            <a:ext cx="347472" cy="277978"/>
          </a:xfrm>
          <a:prstGeom prst="ellipse">
            <a:avLst/>
          </a:prstGeom>
          <a:solidFill>
            <a:srgbClr val="D61920"/>
          </a:solidFill>
          <a:ln w="12700">
            <a:solidFill>
              <a:srgbClr val="D61920"/>
            </a:solidFill>
            <a:prstDash val="solid"/>
          </a:ln>
        </p:spPr>
        <p:txBody>
          <a:bodyPr/>
          <a:lstStyle/>
          <a:p>
            <a:endParaRPr lang="en-US"/>
          </a:p>
        </p:txBody>
      </p:sp>
      <p:sp>
        <p:nvSpPr>
          <p:cNvPr id="18" name="Text 16"/>
          <p:cNvSpPr/>
          <p:nvPr/>
        </p:nvSpPr>
        <p:spPr>
          <a:xfrm>
            <a:off x="493776" y="3456432"/>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9" name="Text 17"/>
          <p:cNvSpPr/>
          <p:nvPr/>
        </p:nvSpPr>
        <p:spPr>
          <a:xfrm>
            <a:off x="932688" y="3332074"/>
            <a:ext cx="2084832" cy="482803"/>
          </a:xfrm>
          <a:prstGeom prst="rect">
            <a:avLst/>
          </a:prstGeom>
          <a:noFill/>
          <a:ln/>
        </p:spPr>
        <p:txBody>
          <a:bodyPr wrap="square" rtlCol="0" anchor="ctr"/>
          <a:lstStyle/>
          <a:p>
            <a:pPr marL="0" indent="0">
              <a:buNone/>
            </a:pPr>
            <a:r>
              <a:rPr lang="en-US" sz="1100" dirty="0">
                <a:solidFill>
                  <a:srgbClr val="2D2D2D"/>
                </a:solidFill>
                <a:latin typeface="Arial" pitchFamily="34" charset="0"/>
                <a:ea typeface="Arial" pitchFamily="34" charset="-122"/>
                <a:cs typeface="Arial" pitchFamily="34" charset="-120"/>
              </a:rPr>
              <a:t>Limitation: 70M+ claims/year, unscalable</a:t>
            </a:r>
            <a:endParaRPr lang="en-US" sz="1100" dirty="0"/>
          </a:p>
        </p:txBody>
      </p:sp>
      <p:sp>
        <p:nvSpPr>
          <p:cNvPr id="20" name="Shape 18"/>
          <p:cNvSpPr/>
          <p:nvPr/>
        </p:nvSpPr>
        <p:spPr>
          <a:xfrm>
            <a:off x="3310128" y="932688"/>
            <a:ext cx="2743200" cy="3401568"/>
          </a:xfrm>
          <a:prstGeom prst="roundRect">
            <a:avLst>
              <a:gd name="adj" fmla="val 266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21" name="Shape 19"/>
          <p:cNvSpPr/>
          <p:nvPr/>
        </p:nvSpPr>
        <p:spPr>
          <a:xfrm>
            <a:off x="3310128" y="918058"/>
            <a:ext cx="2743200" cy="351130"/>
          </a:xfrm>
          <a:prstGeom prst="rect">
            <a:avLst/>
          </a:prstGeom>
          <a:solidFill>
            <a:srgbClr val="2D2D2D"/>
          </a:solidFill>
          <a:ln w="12700">
            <a:solidFill>
              <a:srgbClr val="2D2D2D"/>
            </a:solidFill>
            <a:prstDash val="solid"/>
          </a:ln>
        </p:spPr>
        <p:txBody>
          <a:bodyPr/>
          <a:lstStyle/>
          <a:p>
            <a:endParaRPr lang="en-US"/>
          </a:p>
        </p:txBody>
      </p:sp>
      <p:sp>
        <p:nvSpPr>
          <p:cNvPr id="22" name="Text 20"/>
          <p:cNvSpPr/>
          <p:nvPr/>
        </p:nvSpPr>
        <p:spPr>
          <a:xfrm>
            <a:off x="3310128" y="918058"/>
            <a:ext cx="2743200" cy="351130"/>
          </a:xfrm>
          <a:prstGeom prst="rect">
            <a:avLst/>
          </a:prstGeom>
          <a:noFill/>
          <a:ln/>
        </p:spPr>
        <p:txBody>
          <a:bodyPr wrap="square" lIns="0" tIns="0" rIns="0" bIns="0" rtlCol="0" anchor="ctr"/>
          <a:lstStyle/>
          <a:p>
            <a:pPr marL="0" indent="0" algn="ctr">
              <a:buNone/>
            </a:pPr>
            <a:r>
              <a:rPr lang="en-US" sz="1200" b="1" dirty="0">
                <a:solidFill>
                  <a:srgbClr val="FFFFFF"/>
                </a:solidFill>
              </a:rPr>
              <a:t>Traditional ML (2015–2021)</a:t>
            </a:r>
            <a:endParaRPr lang="en-US" sz="1200" dirty="0"/>
          </a:p>
        </p:txBody>
      </p:sp>
      <p:sp>
        <p:nvSpPr>
          <p:cNvPr id="23" name="Shape 21"/>
          <p:cNvSpPr/>
          <p:nvPr/>
        </p:nvSpPr>
        <p:spPr>
          <a:xfrm>
            <a:off x="3438144" y="1481328"/>
            <a:ext cx="347472" cy="277978"/>
          </a:xfrm>
          <a:prstGeom prst="ellipse">
            <a:avLst/>
          </a:prstGeom>
          <a:solidFill>
            <a:srgbClr val="D61920"/>
          </a:solidFill>
          <a:ln w="12700">
            <a:solidFill>
              <a:srgbClr val="D61920"/>
            </a:solidFill>
            <a:prstDash val="solid"/>
          </a:ln>
        </p:spPr>
        <p:txBody>
          <a:bodyPr/>
          <a:lstStyle/>
          <a:p>
            <a:endParaRPr lang="en-US"/>
          </a:p>
        </p:txBody>
      </p:sp>
      <p:sp>
        <p:nvSpPr>
          <p:cNvPr id="24" name="Text 22"/>
          <p:cNvSpPr/>
          <p:nvPr/>
        </p:nvSpPr>
        <p:spPr>
          <a:xfrm>
            <a:off x="3438144" y="1481328"/>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25" name="Text 23"/>
          <p:cNvSpPr/>
          <p:nvPr/>
        </p:nvSpPr>
        <p:spPr>
          <a:xfrm>
            <a:off x="3877056" y="1356970"/>
            <a:ext cx="2084832" cy="482803"/>
          </a:xfrm>
          <a:prstGeom prst="rect">
            <a:avLst/>
          </a:prstGeom>
          <a:noFill/>
          <a:ln/>
        </p:spPr>
        <p:txBody>
          <a:bodyPr wrap="square" rtlCol="0" anchor="ctr"/>
          <a:lstStyle/>
          <a:p>
            <a:r>
              <a:rPr lang="en-US" sz="1100" dirty="0">
                <a:solidFill>
                  <a:srgbClr val="2D2D2D"/>
                </a:solidFill>
                <a:latin typeface="Arial" pitchFamily="34" charset="0"/>
                <a:cs typeface="Arial" pitchFamily="34" charset="-120"/>
              </a:rPr>
              <a:t>Classical ML (LR, SVM, Random Forest, Decision Trees)</a:t>
            </a:r>
          </a:p>
        </p:txBody>
      </p:sp>
      <p:sp>
        <p:nvSpPr>
          <p:cNvPr id="26" name="Shape 24"/>
          <p:cNvSpPr/>
          <p:nvPr/>
        </p:nvSpPr>
        <p:spPr>
          <a:xfrm>
            <a:off x="3438144" y="2139696"/>
            <a:ext cx="347472" cy="277978"/>
          </a:xfrm>
          <a:prstGeom prst="ellipse">
            <a:avLst/>
          </a:prstGeom>
          <a:solidFill>
            <a:srgbClr val="D61920"/>
          </a:solidFill>
          <a:ln w="12700">
            <a:solidFill>
              <a:srgbClr val="D61920"/>
            </a:solidFill>
            <a:prstDash val="solid"/>
          </a:ln>
        </p:spPr>
        <p:txBody>
          <a:bodyPr/>
          <a:lstStyle/>
          <a:p>
            <a:endParaRPr lang="en-US"/>
          </a:p>
        </p:txBody>
      </p:sp>
      <p:sp>
        <p:nvSpPr>
          <p:cNvPr id="27" name="Text 25"/>
          <p:cNvSpPr/>
          <p:nvPr/>
        </p:nvSpPr>
        <p:spPr>
          <a:xfrm>
            <a:off x="3438144" y="2139696"/>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28" name="Text 26"/>
          <p:cNvSpPr/>
          <p:nvPr/>
        </p:nvSpPr>
        <p:spPr>
          <a:xfrm>
            <a:off x="3877056" y="2015338"/>
            <a:ext cx="2084832" cy="482803"/>
          </a:xfrm>
          <a:prstGeom prst="rect">
            <a:avLst/>
          </a:prstGeom>
          <a:noFill/>
          <a:ln/>
        </p:spPr>
        <p:txBody>
          <a:bodyPr wrap="square" rtlCol="0" anchor="ctr"/>
          <a:lstStyle/>
          <a:p>
            <a:r>
              <a:rPr lang="en-US" sz="1100" dirty="0">
                <a:solidFill>
                  <a:srgbClr val="2D2D2D"/>
                </a:solidFill>
                <a:latin typeface="Arial" pitchFamily="34" charset="0"/>
                <a:cs typeface="Arial" pitchFamily="34" charset="-120"/>
              </a:rPr>
              <a:t>Tree-based ensemble methods (Gradient Boosting, </a:t>
            </a:r>
            <a:r>
              <a:rPr lang="en-US" sz="1100" dirty="0" err="1">
                <a:solidFill>
                  <a:srgbClr val="2D2D2D"/>
                </a:solidFill>
                <a:latin typeface="Arial" pitchFamily="34" charset="0"/>
                <a:cs typeface="Arial" pitchFamily="34" charset="-120"/>
              </a:rPr>
              <a:t>XGBoost</a:t>
            </a:r>
            <a:r>
              <a:rPr lang="en-US" sz="1100" dirty="0">
                <a:solidFill>
                  <a:srgbClr val="2D2D2D"/>
                </a:solidFill>
                <a:latin typeface="Arial" pitchFamily="34" charset="0"/>
                <a:cs typeface="Arial" pitchFamily="34" charset="-120"/>
              </a:rPr>
              <a:t>)</a:t>
            </a:r>
          </a:p>
        </p:txBody>
      </p:sp>
      <p:sp>
        <p:nvSpPr>
          <p:cNvPr id="29" name="Shape 27"/>
          <p:cNvSpPr/>
          <p:nvPr/>
        </p:nvSpPr>
        <p:spPr>
          <a:xfrm>
            <a:off x="3438144" y="2798064"/>
            <a:ext cx="347472" cy="277978"/>
          </a:xfrm>
          <a:prstGeom prst="ellipse">
            <a:avLst/>
          </a:prstGeom>
          <a:solidFill>
            <a:srgbClr val="D61920"/>
          </a:solidFill>
          <a:ln w="12700">
            <a:solidFill>
              <a:srgbClr val="D61920"/>
            </a:solidFill>
            <a:prstDash val="solid"/>
          </a:ln>
        </p:spPr>
        <p:txBody>
          <a:bodyPr/>
          <a:lstStyle/>
          <a:p>
            <a:endParaRPr lang="en-US"/>
          </a:p>
        </p:txBody>
      </p:sp>
      <p:sp>
        <p:nvSpPr>
          <p:cNvPr id="30" name="Text 28"/>
          <p:cNvSpPr/>
          <p:nvPr/>
        </p:nvSpPr>
        <p:spPr>
          <a:xfrm>
            <a:off x="3438144" y="2798064"/>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31" name="Text 29"/>
          <p:cNvSpPr/>
          <p:nvPr/>
        </p:nvSpPr>
        <p:spPr>
          <a:xfrm>
            <a:off x="3877056" y="2673706"/>
            <a:ext cx="2084832" cy="482803"/>
          </a:xfrm>
          <a:prstGeom prst="rect">
            <a:avLst/>
          </a:prstGeom>
          <a:noFill/>
          <a:ln/>
        </p:spPr>
        <p:txBody>
          <a:bodyPr wrap="square" rtlCol="0" anchor="ctr"/>
          <a:lstStyle/>
          <a:p>
            <a:r>
              <a:rPr lang="en-US" sz="1100" dirty="0">
                <a:solidFill>
                  <a:srgbClr val="2D2D2D"/>
                </a:solidFill>
                <a:latin typeface="Arial" pitchFamily="34" charset="0"/>
                <a:cs typeface="Arial" pitchFamily="34" charset="-120"/>
              </a:rPr>
              <a:t>Learning from provider billing patterns</a:t>
            </a:r>
          </a:p>
        </p:txBody>
      </p:sp>
      <p:sp>
        <p:nvSpPr>
          <p:cNvPr id="32" name="Shape 30"/>
          <p:cNvSpPr/>
          <p:nvPr/>
        </p:nvSpPr>
        <p:spPr>
          <a:xfrm>
            <a:off x="3438144" y="3456432"/>
            <a:ext cx="347472" cy="277978"/>
          </a:xfrm>
          <a:prstGeom prst="ellipse">
            <a:avLst/>
          </a:prstGeom>
          <a:solidFill>
            <a:srgbClr val="D61920"/>
          </a:solidFill>
          <a:ln w="12700">
            <a:solidFill>
              <a:srgbClr val="D61920"/>
            </a:solidFill>
            <a:prstDash val="solid"/>
          </a:ln>
        </p:spPr>
        <p:txBody>
          <a:bodyPr/>
          <a:lstStyle/>
          <a:p>
            <a:endParaRPr lang="en-US"/>
          </a:p>
        </p:txBody>
      </p:sp>
      <p:sp>
        <p:nvSpPr>
          <p:cNvPr id="33" name="Text 31"/>
          <p:cNvSpPr/>
          <p:nvPr/>
        </p:nvSpPr>
        <p:spPr>
          <a:xfrm>
            <a:off x="3438144" y="3456432"/>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34" name="Text 32"/>
          <p:cNvSpPr/>
          <p:nvPr/>
        </p:nvSpPr>
        <p:spPr>
          <a:xfrm>
            <a:off x="3877056" y="3332074"/>
            <a:ext cx="2084832" cy="482803"/>
          </a:xfrm>
          <a:prstGeom prst="rect">
            <a:avLst/>
          </a:prstGeom>
          <a:noFill/>
          <a:ln/>
        </p:spPr>
        <p:txBody>
          <a:bodyPr wrap="square" rtlCol="0" anchor="ctr"/>
          <a:lstStyle/>
          <a:p>
            <a:pPr indent="0">
              <a:buNone/>
            </a:pPr>
            <a:r>
              <a:rPr lang="en-US" sz="1100" dirty="0">
                <a:solidFill>
                  <a:srgbClr val="2D2D2D"/>
                </a:solidFill>
                <a:latin typeface="Arial" pitchFamily="34" charset="0"/>
                <a:cs typeface="Arial" pitchFamily="34" charset="-120"/>
              </a:rPr>
              <a:t>Limitation: no explainability, simulated labels</a:t>
            </a:r>
          </a:p>
        </p:txBody>
      </p:sp>
      <p:sp>
        <p:nvSpPr>
          <p:cNvPr id="35" name="Shape 33"/>
          <p:cNvSpPr/>
          <p:nvPr/>
        </p:nvSpPr>
        <p:spPr>
          <a:xfrm>
            <a:off x="6254496" y="932688"/>
            <a:ext cx="2743200" cy="3401568"/>
          </a:xfrm>
          <a:prstGeom prst="roundRect">
            <a:avLst>
              <a:gd name="adj" fmla="val 266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dirty="0"/>
          </a:p>
        </p:txBody>
      </p:sp>
      <p:sp>
        <p:nvSpPr>
          <p:cNvPr id="36" name="Shape 34"/>
          <p:cNvSpPr/>
          <p:nvPr/>
        </p:nvSpPr>
        <p:spPr>
          <a:xfrm>
            <a:off x="6254496" y="918058"/>
            <a:ext cx="2743200" cy="351130"/>
          </a:xfrm>
          <a:prstGeom prst="rect">
            <a:avLst/>
          </a:prstGeom>
          <a:solidFill>
            <a:srgbClr val="000000"/>
          </a:solidFill>
          <a:ln w="12700">
            <a:solidFill>
              <a:srgbClr val="000000"/>
            </a:solidFill>
            <a:prstDash val="solid"/>
          </a:ln>
        </p:spPr>
        <p:txBody>
          <a:bodyPr/>
          <a:lstStyle/>
          <a:p>
            <a:endParaRPr lang="en-US"/>
          </a:p>
        </p:txBody>
      </p:sp>
      <p:sp>
        <p:nvSpPr>
          <p:cNvPr id="37" name="Text 35"/>
          <p:cNvSpPr/>
          <p:nvPr/>
        </p:nvSpPr>
        <p:spPr>
          <a:xfrm>
            <a:off x="6254496" y="918058"/>
            <a:ext cx="2743200" cy="351130"/>
          </a:xfrm>
          <a:prstGeom prst="rect">
            <a:avLst/>
          </a:prstGeom>
          <a:noFill/>
          <a:ln/>
        </p:spPr>
        <p:txBody>
          <a:bodyPr wrap="square" lIns="0" tIns="0" rIns="0" bIns="0" rtlCol="0" anchor="ctr"/>
          <a:lstStyle/>
          <a:p>
            <a:pPr marL="0" indent="0" algn="ctr">
              <a:buNone/>
            </a:pPr>
            <a:r>
              <a:rPr lang="en-US" sz="1200" b="1" dirty="0">
                <a:solidFill>
                  <a:srgbClr val="FFFFFF"/>
                </a:solidFill>
              </a:rPr>
              <a:t>Recent Advances (2022–2025)</a:t>
            </a:r>
            <a:endParaRPr lang="en-US" sz="1200" dirty="0"/>
          </a:p>
        </p:txBody>
      </p:sp>
      <p:sp>
        <p:nvSpPr>
          <p:cNvPr id="38" name="Shape 36"/>
          <p:cNvSpPr/>
          <p:nvPr/>
        </p:nvSpPr>
        <p:spPr>
          <a:xfrm>
            <a:off x="6382512" y="1481328"/>
            <a:ext cx="347472" cy="277978"/>
          </a:xfrm>
          <a:prstGeom prst="ellipse">
            <a:avLst/>
          </a:prstGeom>
          <a:solidFill>
            <a:srgbClr val="D61920"/>
          </a:solidFill>
          <a:ln w="12700">
            <a:solidFill>
              <a:srgbClr val="D61920"/>
            </a:solidFill>
            <a:prstDash val="solid"/>
          </a:ln>
        </p:spPr>
        <p:txBody>
          <a:bodyPr/>
          <a:lstStyle/>
          <a:p>
            <a:endParaRPr lang="en-US"/>
          </a:p>
        </p:txBody>
      </p:sp>
      <p:sp>
        <p:nvSpPr>
          <p:cNvPr id="39" name="Text 37"/>
          <p:cNvSpPr/>
          <p:nvPr/>
        </p:nvSpPr>
        <p:spPr>
          <a:xfrm>
            <a:off x="6382512" y="1481328"/>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40" name="Text 38"/>
          <p:cNvSpPr/>
          <p:nvPr/>
        </p:nvSpPr>
        <p:spPr>
          <a:xfrm>
            <a:off x="6821424" y="1356970"/>
            <a:ext cx="2084832" cy="482803"/>
          </a:xfrm>
          <a:prstGeom prst="rect">
            <a:avLst/>
          </a:prstGeom>
          <a:noFill/>
          <a:ln/>
        </p:spPr>
        <p:txBody>
          <a:bodyPr wrap="square" rtlCol="0" anchor="ctr"/>
          <a:lstStyle/>
          <a:p>
            <a:r>
              <a:rPr lang="en-US" sz="1100" dirty="0">
                <a:solidFill>
                  <a:srgbClr val="2D2D2D"/>
                </a:solidFill>
                <a:latin typeface="Arial" pitchFamily="34" charset="0"/>
                <a:cs typeface="Arial" pitchFamily="34" charset="-120"/>
              </a:rPr>
              <a:t>Graph Neural Networks</a:t>
            </a:r>
          </a:p>
        </p:txBody>
      </p:sp>
      <p:sp>
        <p:nvSpPr>
          <p:cNvPr id="41" name="Shape 39"/>
          <p:cNvSpPr/>
          <p:nvPr/>
        </p:nvSpPr>
        <p:spPr>
          <a:xfrm>
            <a:off x="6382512" y="2139696"/>
            <a:ext cx="347472" cy="277978"/>
          </a:xfrm>
          <a:prstGeom prst="ellipse">
            <a:avLst/>
          </a:prstGeom>
          <a:solidFill>
            <a:srgbClr val="D61920"/>
          </a:solidFill>
          <a:ln w="12700">
            <a:solidFill>
              <a:srgbClr val="D61920"/>
            </a:solidFill>
            <a:prstDash val="solid"/>
          </a:ln>
        </p:spPr>
        <p:txBody>
          <a:bodyPr/>
          <a:lstStyle/>
          <a:p>
            <a:endParaRPr lang="en-US"/>
          </a:p>
        </p:txBody>
      </p:sp>
      <p:sp>
        <p:nvSpPr>
          <p:cNvPr id="42" name="Text 40"/>
          <p:cNvSpPr/>
          <p:nvPr/>
        </p:nvSpPr>
        <p:spPr>
          <a:xfrm>
            <a:off x="6382512" y="2139696"/>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43" name="Text 41"/>
          <p:cNvSpPr/>
          <p:nvPr/>
        </p:nvSpPr>
        <p:spPr>
          <a:xfrm>
            <a:off x="6821424" y="2015338"/>
            <a:ext cx="2084832" cy="482803"/>
          </a:xfrm>
          <a:prstGeom prst="rect">
            <a:avLst/>
          </a:prstGeom>
          <a:noFill/>
          <a:ln/>
        </p:spPr>
        <p:txBody>
          <a:bodyPr wrap="square" rtlCol="0" anchor="ctr"/>
          <a:lstStyle/>
          <a:p>
            <a:pPr marL="0" indent="0">
              <a:buNone/>
            </a:pPr>
            <a:endParaRPr lang="en-US" sz="1100" dirty="0"/>
          </a:p>
        </p:txBody>
      </p:sp>
      <p:sp>
        <p:nvSpPr>
          <p:cNvPr id="44" name="Shape 42"/>
          <p:cNvSpPr/>
          <p:nvPr/>
        </p:nvSpPr>
        <p:spPr>
          <a:xfrm>
            <a:off x="6382512" y="2798064"/>
            <a:ext cx="347472" cy="277978"/>
          </a:xfrm>
          <a:prstGeom prst="ellipse">
            <a:avLst/>
          </a:prstGeom>
          <a:solidFill>
            <a:srgbClr val="D61920"/>
          </a:solidFill>
          <a:ln w="12700">
            <a:solidFill>
              <a:srgbClr val="D61920"/>
            </a:solidFill>
            <a:prstDash val="solid"/>
          </a:ln>
        </p:spPr>
        <p:txBody>
          <a:bodyPr/>
          <a:lstStyle/>
          <a:p>
            <a:endParaRPr lang="en-US"/>
          </a:p>
        </p:txBody>
      </p:sp>
      <p:sp>
        <p:nvSpPr>
          <p:cNvPr id="45" name="Text 43"/>
          <p:cNvSpPr/>
          <p:nvPr/>
        </p:nvSpPr>
        <p:spPr>
          <a:xfrm>
            <a:off x="6382512" y="2798064"/>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46" name="Text 44"/>
          <p:cNvSpPr/>
          <p:nvPr/>
        </p:nvSpPr>
        <p:spPr>
          <a:xfrm>
            <a:off x="6821424" y="2015338"/>
            <a:ext cx="2084832" cy="482803"/>
          </a:xfrm>
          <a:prstGeom prst="rect">
            <a:avLst/>
          </a:prstGeom>
          <a:noFill/>
          <a:ln/>
        </p:spPr>
        <p:txBody>
          <a:bodyPr wrap="square" rtlCol="0" anchor="ctr"/>
          <a:lstStyle/>
          <a:p>
            <a:r>
              <a:rPr lang="en-US" sz="1100" dirty="0">
                <a:solidFill>
                  <a:srgbClr val="2D2D2D"/>
                </a:solidFill>
                <a:latin typeface="Arial" pitchFamily="34" charset="0"/>
                <a:cs typeface="Arial" pitchFamily="34" charset="-120"/>
              </a:rPr>
              <a:t>LLMs for healthcare question answering</a:t>
            </a:r>
          </a:p>
        </p:txBody>
      </p:sp>
      <p:sp>
        <p:nvSpPr>
          <p:cNvPr id="48" name="Text 46"/>
          <p:cNvSpPr/>
          <p:nvPr/>
        </p:nvSpPr>
        <p:spPr>
          <a:xfrm>
            <a:off x="6382512" y="3456432"/>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49" name="Text 47"/>
          <p:cNvSpPr/>
          <p:nvPr/>
        </p:nvSpPr>
        <p:spPr>
          <a:xfrm>
            <a:off x="6741824" y="2668220"/>
            <a:ext cx="2084832" cy="482803"/>
          </a:xfrm>
          <a:prstGeom prst="rect">
            <a:avLst/>
          </a:prstGeom>
          <a:noFill/>
          <a:ln/>
        </p:spPr>
        <p:txBody>
          <a:bodyPr wrap="square" rtlCol="0" anchor="ctr"/>
          <a:lstStyle/>
          <a:p>
            <a:r>
              <a:rPr lang="en-US" sz="1100" dirty="0">
                <a:solidFill>
                  <a:srgbClr val="2D2D2D"/>
                </a:solidFill>
                <a:latin typeface="Arial" pitchFamily="34" charset="0"/>
                <a:cs typeface="Arial" pitchFamily="34" charset="-120"/>
              </a:rPr>
              <a:t>Remaining gap: Limited policy-grounded, investigator-oriented systems.</a:t>
            </a:r>
          </a:p>
        </p:txBody>
      </p:sp>
      <p:sp>
        <p:nvSpPr>
          <p:cNvPr id="3" name="Text 2">
            <a:extLst>
              <a:ext uri="{FF2B5EF4-FFF2-40B4-BE49-F238E27FC236}">
                <a16:creationId xmlns:a16="http://schemas.microsoft.com/office/drawing/2014/main" id="{23A0FC30-8F37-8D0B-5895-8B5F478FE245}"/>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47" name="PageNum">
            <a:extLst>
              <a:ext uri="{FF2B5EF4-FFF2-40B4-BE49-F238E27FC236}">
                <a16:creationId xmlns:a16="http://schemas.microsoft.com/office/drawing/2014/main" id="{ED052CA4-5A9B-1EF4-F28D-A41EA8D15113}"/>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5</a:t>
            </a:r>
            <a:endParaRPr lang="en-US" sz="1000" b="0" dirty="0">
              <a:solidFill>
                <a:srgbClr val="FFFFFF"/>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ED73EBA-D11B-6135-8CDD-A461487E84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3FD562-8BDF-C981-6C05-2E1E2C5E614D}"/>
              </a:ext>
            </a:extLst>
          </p:cNvPr>
          <p:cNvSpPr/>
          <p:nvPr/>
        </p:nvSpPr>
        <p:spPr>
          <a:xfrm>
            <a:off x="365760" y="109728"/>
            <a:ext cx="7680960" cy="512064"/>
          </a:xfrm>
          <a:prstGeom prst="rect">
            <a:avLst/>
          </a:prstGeom>
          <a:noFill/>
          <a:ln/>
        </p:spPr>
        <p:txBody>
          <a:bodyPr wrap="square" rtlCol="0" anchor="ctr"/>
          <a:lstStyle/>
          <a:p>
            <a:r>
              <a:rPr lang="en-US" sz="2400" b="1" dirty="0">
                <a:solidFill>
                  <a:srgbClr val="2D2D2D"/>
                </a:solidFill>
                <a:latin typeface="Arial" pitchFamily="34" charset="0"/>
                <a:ea typeface="Arial" pitchFamily="34" charset="-122"/>
                <a:cs typeface="Arial" pitchFamily="34" charset="-120"/>
              </a:rPr>
              <a:t>Prior Work: </a:t>
            </a:r>
            <a:r>
              <a:rPr lang="en-US" sz="2400" b="1" dirty="0">
                <a:solidFill>
                  <a:srgbClr val="2D2D2D"/>
                </a:solidFill>
                <a:latin typeface="Arial" pitchFamily="34" charset="0"/>
                <a:cs typeface="Arial" pitchFamily="34" charset="-120"/>
              </a:rPr>
              <a:t>ML-Based Medicare </a:t>
            </a:r>
            <a:r>
              <a:rPr lang="en-US" sz="2400" b="1" dirty="0">
                <a:solidFill>
                  <a:srgbClr val="2D2D2D"/>
                </a:solidFill>
                <a:latin typeface="Arial" pitchFamily="34" charset="0"/>
                <a:ea typeface="Arial" pitchFamily="34" charset="-122"/>
                <a:cs typeface="Arial" pitchFamily="34" charset="-120"/>
              </a:rPr>
              <a:t>Fraud Detection</a:t>
            </a:r>
            <a:endParaRPr lang="en-US" sz="2400" dirty="0"/>
          </a:p>
        </p:txBody>
      </p:sp>
      <p:sp>
        <p:nvSpPr>
          <p:cNvPr id="4" name="Text 2">
            <a:extLst>
              <a:ext uri="{FF2B5EF4-FFF2-40B4-BE49-F238E27FC236}">
                <a16:creationId xmlns:a16="http://schemas.microsoft.com/office/drawing/2014/main" id="{6B365F12-2EBF-6F6C-E656-DD3C60D7CF96}"/>
              </a:ext>
            </a:extLst>
          </p:cNvPr>
          <p:cNvSpPr/>
          <p:nvPr/>
        </p:nvSpPr>
        <p:spPr>
          <a:xfrm>
            <a:off x="502920" y="4325112"/>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7" name="Text 5">
            <a:extLst>
              <a:ext uri="{FF2B5EF4-FFF2-40B4-BE49-F238E27FC236}">
                <a16:creationId xmlns:a16="http://schemas.microsoft.com/office/drawing/2014/main" id="{3C31CD8C-592A-C1AB-DF69-E7902B9C7FC9}"/>
              </a:ext>
            </a:extLst>
          </p:cNvPr>
          <p:cNvSpPr/>
          <p:nvPr/>
        </p:nvSpPr>
        <p:spPr>
          <a:xfrm>
            <a:off x="365760" y="918058"/>
            <a:ext cx="2743200" cy="351130"/>
          </a:xfrm>
          <a:prstGeom prst="rect">
            <a:avLst/>
          </a:prstGeom>
          <a:noFill/>
          <a:ln/>
        </p:spPr>
        <p:txBody>
          <a:bodyPr wrap="square" lIns="0" tIns="0" rIns="0" bIns="0" rtlCol="0" anchor="ctr"/>
          <a:lstStyle/>
          <a:p>
            <a:pPr marL="0" indent="0" algn="ctr">
              <a:buNone/>
            </a:pPr>
            <a:r>
              <a:rPr lang="en-US" sz="1200" b="1" dirty="0">
                <a:solidFill>
                  <a:srgbClr val="FFFFFF"/>
                </a:solidFill>
              </a:rPr>
              <a:t>Rule-Based (Pre-2015)</a:t>
            </a:r>
            <a:endParaRPr lang="en-US" sz="1200" dirty="0"/>
          </a:p>
        </p:txBody>
      </p:sp>
      <p:pic>
        <p:nvPicPr>
          <p:cNvPr id="51" name="Picture 50">
            <a:extLst>
              <a:ext uri="{FF2B5EF4-FFF2-40B4-BE49-F238E27FC236}">
                <a16:creationId xmlns:a16="http://schemas.microsoft.com/office/drawing/2014/main" id="{542D128D-2DB7-E7FF-6D5D-A72D61DC0DD7}"/>
              </a:ext>
            </a:extLst>
          </p:cNvPr>
          <p:cNvPicPr>
            <a:picLocks noChangeAspect="1"/>
          </p:cNvPicPr>
          <p:nvPr/>
        </p:nvPicPr>
        <p:blipFill>
          <a:blip r:embed="rId4"/>
          <a:stretch>
            <a:fillRect/>
          </a:stretch>
        </p:blipFill>
        <p:spPr>
          <a:xfrm>
            <a:off x="685800" y="1161569"/>
            <a:ext cx="7772400" cy="2820361"/>
          </a:xfrm>
          <a:prstGeom prst="rect">
            <a:avLst/>
          </a:prstGeom>
        </p:spPr>
      </p:pic>
      <p:sp>
        <p:nvSpPr>
          <p:cNvPr id="3" name="Text 2">
            <a:extLst>
              <a:ext uri="{FF2B5EF4-FFF2-40B4-BE49-F238E27FC236}">
                <a16:creationId xmlns:a16="http://schemas.microsoft.com/office/drawing/2014/main" id="{A791E6D5-B65A-AB84-111D-23BB54CBF02D}"/>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PageNum">
            <a:extLst>
              <a:ext uri="{FF2B5EF4-FFF2-40B4-BE49-F238E27FC236}">
                <a16:creationId xmlns:a16="http://schemas.microsoft.com/office/drawing/2014/main" id="{6D61FBBF-F7EB-B4F8-BD3D-7844732CCAC9}"/>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6</a:t>
            </a:r>
            <a:endParaRPr lang="en-US" sz="1000" b="0" dirty="0">
              <a:solidFill>
                <a:srgbClr val="FFFFFF"/>
              </a:solidFill>
              <a:latin typeface="Arial"/>
            </a:endParaRPr>
          </a:p>
        </p:txBody>
      </p:sp>
    </p:spTree>
    <p:extLst>
      <p:ext uri="{BB962C8B-B14F-4D97-AF65-F5344CB8AC3E}">
        <p14:creationId xmlns:p14="http://schemas.microsoft.com/office/powerpoint/2010/main" val="1935631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The Research Gap: Three Unsolved Problems</a:t>
            </a:r>
            <a:endParaRPr lang="en-US" sz="2400" dirty="0"/>
          </a:p>
        </p:txBody>
      </p:sp>
      <p:sp>
        <p:nvSpPr>
          <p:cNvPr id="3" name="Shape 1"/>
          <p:cNvSpPr/>
          <p:nvPr/>
        </p:nvSpPr>
        <p:spPr>
          <a:xfrm>
            <a:off x="336666" y="3917033"/>
            <a:ext cx="4754880" cy="274320"/>
          </a:xfrm>
          <a:prstGeom prst="rect">
            <a:avLst/>
          </a:prstGeom>
          <a:solidFill>
            <a:srgbClr val="000000"/>
          </a:solidFill>
          <a:ln w="12700">
            <a:solidFill>
              <a:srgbClr val="000000"/>
            </a:solidFill>
            <a:prstDash val="solid"/>
          </a:ln>
        </p:spPr>
        <p:txBody>
          <a:bodyPr/>
          <a:lstStyle/>
          <a:p>
            <a:endParaRPr lang="en-US"/>
          </a:p>
        </p:txBody>
      </p:sp>
      <p:sp>
        <p:nvSpPr>
          <p:cNvPr id="4" name="Text 2"/>
          <p:cNvSpPr/>
          <p:nvPr/>
        </p:nvSpPr>
        <p:spPr>
          <a:xfrm>
            <a:off x="336666" y="3917033"/>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Shape 3"/>
          <p:cNvSpPr/>
          <p:nvPr/>
        </p:nvSpPr>
        <p:spPr>
          <a:xfrm>
            <a:off x="197239" y="669541"/>
            <a:ext cx="8412480" cy="1106424"/>
          </a:xfrm>
          <a:prstGeom prst="roundRect">
            <a:avLst>
              <a:gd name="adj" fmla="val 579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6" name="Shape 4"/>
          <p:cNvSpPr/>
          <p:nvPr/>
        </p:nvSpPr>
        <p:spPr>
          <a:xfrm>
            <a:off x="197239" y="669541"/>
            <a:ext cx="1188720" cy="321869"/>
          </a:xfrm>
          <a:prstGeom prst="roundRect">
            <a:avLst>
              <a:gd name="adj" fmla="val 17045"/>
            </a:avLst>
          </a:prstGeom>
          <a:solidFill>
            <a:srgbClr val="D61920"/>
          </a:solidFill>
          <a:ln w="12700">
            <a:solidFill>
              <a:srgbClr val="D61920"/>
            </a:solidFill>
            <a:prstDash val="solid"/>
          </a:ln>
        </p:spPr>
        <p:txBody>
          <a:bodyPr/>
          <a:lstStyle/>
          <a:p>
            <a:endParaRPr lang="en-US"/>
          </a:p>
        </p:txBody>
      </p:sp>
      <p:sp>
        <p:nvSpPr>
          <p:cNvPr id="7" name="Text 5"/>
          <p:cNvSpPr/>
          <p:nvPr/>
        </p:nvSpPr>
        <p:spPr>
          <a:xfrm>
            <a:off x="197239" y="669541"/>
            <a:ext cx="1188720" cy="321869"/>
          </a:xfrm>
          <a:prstGeom prst="rect">
            <a:avLst/>
          </a:prstGeom>
          <a:noFill/>
          <a:ln/>
        </p:spPr>
        <p:txBody>
          <a:bodyPr wrap="square" lIns="0" tIns="0" rIns="0" bIns="0" rtlCol="0" anchor="ctr"/>
          <a:lstStyle/>
          <a:p>
            <a:pPr marL="0" indent="0" algn="ctr">
              <a:buNone/>
            </a:pPr>
            <a:r>
              <a:rPr lang="en-US" sz="1200" b="1" dirty="0">
                <a:solidFill>
                  <a:srgbClr val="FFFFFF"/>
                </a:solidFill>
              </a:rPr>
              <a:t>Gap 1</a:t>
            </a:r>
            <a:endParaRPr lang="en-US" sz="1200" dirty="0"/>
          </a:p>
        </p:txBody>
      </p:sp>
      <p:sp>
        <p:nvSpPr>
          <p:cNvPr id="8" name="Text 6"/>
          <p:cNvSpPr/>
          <p:nvPr/>
        </p:nvSpPr>
        <p:spPr>
          <a:xfrm>
            <a:off x="1513975" y="724405"/>
            <a:ext cx="6949440" cy="234086"/>
          </a:xfrm>
          <a:prstGeom prst="rect">
            <a:avLst/>
          </a:prstGeom>
          <a:noFill/>
          <a:ln/>
        </p:spPr>
        <p:txBody>
          <a:bodyPr wrap="square" rtlCol="0" anchor="ctr"/>
          <a:lstStyle/>
          <a:p>
            <a:pPr marL="0" indent="0">
              <a:buNone/>
            </a:pPr>
            <a:r>
              <a:rPr lang="en-US" sz="1300" b="1" dirty="0">
                <a:solidFill>
                  <a:srgbClr val="2D2D2D"/>
                </a:solidFill>
                <a:latin typeface="Arial" pitchFamily="34" charset="0"/>
                <a:ea typeface="Arial" pitchFamily="34" charset="-122"/>
                <a:cs typeface="Arial" pitchFamily="34" charset="-120"/>
              </a:rPr>
              <a:t>ML models predict but cannot explain</a:t>
            </a:r>
            <a:endParaRPr lang="en-US" sz="1300" dirty="0"/>
          </a:p>
        </p:txBody>
      </p:sp>
      <p:sp>
        <p:nvSpPr>
          <p:cNvPr id="9" name="Text 7"/>
          <p:cNvSpPr/>
          <p:nvPr/>
        </p:nvSpPr>
        <p:spPr>
          <a:xfrm>
            <a:off x="1513975" y="1053589"/>
            <a:ext cx="6949440" cy="321869"/>
          </a:xfrm>
          <a:prstGeom prst="rect">
            <a:avLst/>
          </a:prstGeom>
          <a:noFill/>
          <a:ln/>
        </p:spPr>
        <p:txBody>
          <a:bodyPr wrap="square" rtlCol="0" anchor="ctr"/>
          <a:lstStyle/>
          <a:p>
            <a:r>
              <a:rPr lang="en-US" sz="1100" dirty="0">
                <a:solidFill>
                  <a:srgbClr val="626568"/>
                </a:solidFill>
                <a:latin typeface="Arial" pitchFamily="34" charset="0"/>
                <a:ea typeface="Arial" pitchFamily="34" charset="-122"/>
                <a:cs typeface="Arial" pitchFamily="34" charset="-120"/>
              </a:rPr>
              <a:t>Existing fraud detection systems output a risk score with no reasoning. Investigators cannot use a black-box score to open a case — they need to know which</a:t>
            </a:r>
            <a:r>
              <a:rPr lang="en-US" sz="1100" b="1" dirty="0"/>
              <a:t> </a:t>
            </a:r>
            <a:r>
              <a:rPr lang="en-US" sz="1100" dirty="0">
                <a:solidFill>
                  <a:srgbClr val="626568"/>
                </a:solidFill>
                <a:latin typeface="Arial" pitchFamily="34" charset="0"/>
                <a:cs typeface="Arial" pitchFamily="34" charset="-120"/>
              </a:rPr>
              <a:t>features contributed most to the prediction..</a:t>
            </a:r>
          </a:p>
        </p:txBody>
      </p:sp>
      <p:sp>
        <p:nvSpPr>
          <p:cNvPr id="10" name="Text 8"/>
          <p:cNvSpPr/>
          <p:nvPr/>
        </p:nvSpPr>
        <p:spPr>
          <a:xfrm>
            <a:off x="1513975" y="1492501"/>
            <a:ext cx="6949440" cy="219456"/>
          </a:xfrm>
          <a:prstGeom prst="rect">
            <a:avLst/>
          </a:prstGeom>
          <a:noFill/>
          <a:ln/>
        </p:spPr>
        <p:txBody>
          <a:bodyPr wrap="square" rtlCol="0" anchor="ctr"/>
          <a:lstStyle/>
          <a:p>
            <a:pPr marL="0" indent="0">
              <a:buNone/>
            </a:pPr>
            <a:r>
              <a:rPr lang="en-US" sz="1100" b="1" dirty="0">
                <a:solidFill>
                  <a:srgbClr val="D61920"/>
                </a:solidFill>
                <a:latin typeface="Arial" pitchFamily="34" charset="0"/>
                <a:ea typeface="Arial" pitchFamily="34" charset="-122"/>
                <a:cs typeface="Arial" pitchFamily="34" charset="-120"/>
              </a:rPr>
              <a:t>→  This thesis: SHAP explainability for every prediction</a:t>
            </a:r>
            <a:endParaRPr lang="en-US" sz="1100" dirty="0"/>
          </a:p>
        </p:txBody>
      </p:sp>
      <p:sp>
        <p:nvSpPr>
          <p:cNvPr id="11" name="Shape 9"/>
          <p:cNvSpPr/>
          <p:nvPr/>
        </p:nvSpPr>
        <p:spPr>
          <a:xfrm>
            <a:off x="197239" y="1962046"/>
            <a:ext cx="8412480" cy="1106424"/>
          </a:xfrm>
          <a:prstGeom prst="roundRect">
            <a:avLst>
              <a:gd name="adj" fmla="val 579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2" name="Shape 10"/>
          <p:cNvSpPr/>
          <p:nvPr/>
        </p:nvSpPr>
        <p:spPr>
          <a:xfrm>
            <a:off x="197239" y="1962046"/>
            <a:ext cx="1188720" cy="321869"/>
          </a:xfrm>
          <a:prstGeom prst="roundRect">
            <a:avLst>
              <a:gd name="adj" fmla="val 17045"/>
            </a:avLst>
          </a:prstGeom>
          <a:solidFill>
            <a:srgbClr val="D61920"/>
          </a:solidFill>
          <a:ln w="12700">
            <a:solidFill>
              <a:srgbClr val="D61920"/>
            </a:solidFill>
            <a:prstDash val="solid"/>
          </a:ln>
        </p:spPr>
        <p:txBody>
          <a:bodyPr/>
          <a:lstStyle/>
          <a:p>
            <a:endParaRPr lang="en-US"/>
          </a:p>
        </p:txBody>
      </p:sp>
      <p:sp>
        <p:nvSpPr>
          <p:cNvPr id="13" name="Text 11"/>
          <p:cNvSpPr/>
          <p:nvPr/>
        </p:nvSpPr>
        <p:spPr>
          <a:xfrm>
            <a:off x="197239" y="1962046"/>
            <a:ext cx="1188720" cy="321869"/>
          </a:xfrm>
          <a:prstGeom prst="rect">
            <a:avLst/>
          </a:prstGeom>
          <a:noFill/>
          <a:ln/>
        </p:spPr>
        <p:txBody>
          <a:bodyPr wrap="square" lIns="0" tIns="0" rIns="0" bIns="0" rtlCol="0" anchor="ctr"/>
          <a:lstStyle/>
          <a:p>
            <a:pPr marL="0" indent="0" algn="ctr">
              <a:buNone/>
            </a:pPr>
            <a:r>
              <a:rPr lang="en-US" sz="1200" b="1" dirty="0">
                <a:solidFill>
                  <a:srgbClr val="FFFFFF"/>
                </a:solidFill>
              </a:rPr>
              <a:t>Gap 2</a:t>
            </a:r>
            <a:endParaRPr lang="en-US" sz="1200" dirty="0"/>
          </a:p>
        </p:txBody>
      </p:sp>
      <p:sp>
        <p:nvSpPr>
          <p:cNvPr id="14" name="Text 12"/>
          <p:cNvSpPr/>
          <p:nvPr/>
        </p:nvSpPr>
        <p:spPr>
          <a:xfrm>
            <a:off x="1513975" y="2016910"/>
            <a:ext cx="6949440" cy="234086"/>
          </a:xfrm>
          <a:prstGeom prst="rect">
            <a:avLst/>
          </a:prstGeom>
          <a:noFill/>
          <a:ln/>
        </p:spPr>
        <p:txBody>
          <a:bodyPr wrap="square" rtlCol="0" anchor="ctr"/>
          <a:lstStyle/>
          <a:p>
            <a:pPr marL="0" indent="0">
              <a:buNone/>
            </a:pPr>
            <a:r>
              <a:rPr lang="en-US" sz="1300" b="1" dirty="0">
                <a:solidFill>
                  <a:srgbClr val="2D2D2D"/>
                </a:solidFill>
                <a:latin typeface="Arial" pitchFamily="34" charset="0"/>
                <a:ea typeface="Arial" pitchFamily="34" charset="-122"/>
                <a:cs typeface="Arial" pitchFamily="34" charset="-120"/>
              </a:rPr>
              <a:t>Explanations don't cite specific policy</a:t>
            </a:r>
            <a:endParaRPr lang="en-US" sz="1300" dirty="0"/>
          </a:p>
        </p:txBody>
      </p:sp>
      <p:sp>
        <p:nvSpPr>
          <p:cNvPr id="15" name="Text 13"/>
          <p:cNvSpPr/>
          <p:nvPr/>
        </p:nvSpPr>
        <p:spPr>
          <a:xfrm>
            <a:off x="1513975" y="2346094"/>
            <a:ext cx="6949440" cy="321869"/>
          </a:xfrm>
          <a:prstGeom prst="rect">
            <a:avLst/>
          </a:prstGeom>
          <a:noFill/>
          <a:ln/>
        </p:spPr>
        <p:txBody>
          <a:bodyPr wrap="square" rtlCol="0" anchor="ctr"/>
          <a:lstStyle/>
          <a:p>
            <a:pPr marL="0" indent="0">
              <a:buNone/>
            </a:pPr>
            <a:r>
              <a:rPr lang="en-US" sz="1100" dirty="0">
                <a:solidFill>
                  <a:srgbClr val="626568"/>
                </a:solidFill>
                <a:latin typeface="Arial" pitchFamily="34" charset="0"/>
                <a:ea typeface="Arial" pitchFamily="34" charset="-122"/>
                <a:cs typeface="Arial" pitchFamily="34" charset="-120"/>
              </a:rPr>
              <a:t>Even when feature importance is available, it's expressed as statistics (e.g., SHAP value = 0.14), not as regulatory language. Investigators need citations to CMS manuals and OIG alerts to build a case.</a:t>
            </a:r>
            <a:endParaRPr lang="en-US" sz="1100" dirty="0"/>
          </a:p>
        </p:txBody>
      </p:sp>
      <p:sp>
        <p:nvSpPr>
          <p:cNvPr id="16" name="Text 14"/>
          <p:cNvSpPr/>
          <p:nvPr/>
        </p:nvSpPr>
        <p:spPr>
          <a:xfrm>
            <a:off x="1513975" y="2785006"/>
            <a:ext cx="6949440" cy="219456"/>
          </a:xfrm>
          <a:prstGeom prst="rect">
            <a:avLst/>
          </a:prstGeom>
          <a:noFill/>
          <a:ln/>
        </p:spPr>
        <p:txBody>
          <a:bodyPr wrap="square" rtlCol="0" anchor="ctr"/>
          <a:lstStyle/>
          <a:p>
            <a:pPr marL="0" indent="0">
              <a:buNone/>
            </a:pPr>
            <a:r>
              <a:rPr lang="en-US" sz="1100" b="1" dirty="0">
                <a:solidFill>
                  <a:srgbClr val="D61920"/>
                </a:solidFill>
                <a:latin typeface="Arial" pitchFamily="34" charset="0"/>
                <a:ea typeface="Arial" pitchFamily="34" charset="-122"/>
                <a:cs typeface="Arial" pitchFamily="34" charset="-120"/>
              </a:rPr>
              <a:t>→  This thesis: RAG retrieval grounded in 135 CMS/OIG documents</a:t>
            </a:r>
            <a:endParaRPr lang="en-US" sz="1100" dirty="0"/>
          </a:p>
        </p:txBody>
      </p:sp>
      <p:sp>
        <p:nvSpPr>
          <p:cNvPr id="17" name="Shape 15"/>
          <p:cNvSpPr/>
          <p:nvPr/>
        </p:nvSpPr>
        <p:spPr>
          <a:xfrm>
            <a:off x="197239" y="3241291"/>
            <a:ext cx="8412480" cy="1106424"/>
          </a:xfrm>
          <a:prstGeom prst="roundRect">
            <a:avLst>
              <a:gd name="adj" fmla="val 579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6"/>
          <p:cNvSpPr/>
          <p:nvPr/>
        </p:nvSpPr>
        <p:spPr>
          <a:xfrm>
            <a:off x="199506" y="3249521"/>
            <a:ext cx="1188720" cy="321869"/>
          </a:xfrm>
          <a:prstGeom prst="roundRect">
            <a:avLst>
              <a:gd name="adj" fmla="val 17045"/>
            </a:avLst>
          </a:prstGeom>
          <a:solidFill>
            <a:srgbClr val="D61920"/>
          </a:solidFill>
          <a:ln w="12700">
            <a:solidFill>
              <a:srgbClr val="D61920"/>
            </a:solidFill>
            <a:prstDash val="solid"/>
          </a:ln>
        </p:spPr>
        <p:txBody>
          <a:bodyPr/>
          <a:lstStyle/>
          <a:p>
            <a:endParaRPr lang="en-US"/>
          </a:p>
        </p:txBody>
      </p:sp>
      <p:sp>
        <p:nvSpPr>
          <p:cNvPr id="19" name="Text 17"/>
          <p:cNvSpPr/>
          <p:nvPr/>
        </p:nvSpPr>
        <p:spPr>
          <a:xfrm>
            <a:off x="199506" y="3249521"/>
            <a:ext cx="1188720" cy="321869"/>
          </a:xfrm>
          <a:prstGeom prst="rect">
            <a:avLst/>
          </a:prstGeom>
          <a:noFill/>
          <a:ln/>
        </p:spPr>
        <p:txBody>
          <a:bodyPr wrap="square" lIns="0" tIns="0" rIns="0" bIns="0" rtlCol="0" anchor="ctr"/>
          <a:lstStyle/>
          <a:p>
            <a:pPr marL="0" indent="0" algn="ctr">
              <a:buNone/>
            </a:pPr>
            <a:r>
              <a:rPr lang="en-US" sz="1200" b="1" dirty="0">
                <a:solidFill>
                  <a:srgbClr val="FFFFFF"/>
                </a:solidFill>
              </a:rPr>
              <a:t>Gap 3</a:t>
            </a:r>
            <a:endParaRPr lang="en-US" sz="1200" dirty="0"/>
          </a:p>
        </p:txBody>
      </p:sp>
      <p:sp>
        <p:nvSpPr>
          <p:cNvPr id="20" name="Text 18"/>
          <p:cNvSpPr/>
          <p:nvPr/>
        </p:nvSpPr>
        <p:spPr>
          <a:xfrm>
            <a:off x="1516242" y="3304385"/>
            <a:ext cx="6949440" cy="234086"/>
          </a:xfrm>
          <a:prstGeom prst="rect">
            <a:avLst/>
          </a:prstGeom>
          <a:noFill/>
          <a:ln/>
        </p:spPr>
        <p:txBody>
          <a:bodyPr wrap="square" rtlCol="0" anchor="ctr"/>
          <a:lstStyle/>
          <a:p>
            <a:pPr marL="0" indent="0">
              <a:buNone/>
            </a:pPr>
            <a:r>
              <a:rPr lang="en-US" sz="1300" b="1" dirty="0">
                <a:solidFill>
                  <a:srgbClr val="2D2D2D"/>
                </a:solidFill>
                <a:latin typeface="Arial" pitchFamily="34" charset="0"/>
                <a:ea typeface="Arial" pitchFamily="34" charset="-122"/>
                <a:cs typeface="Arial" pitchFamily="34" charset="-120"/>
              </a:rPr>
              <a:t>No usable tool for non-technical investigators</a:t>
            </a:r>
            <a:endParaRPr lang="en-US" sz="1300" dirty="0"/>
          </a:p>
        </p:txBody>
      </p:sp>
      <p:sp>
        <p:nvSpPr>
          <p:cNvPr id="21" name="Text 19"/>
          <p:cNvSpPr/>
          <p:nvPr/>
        </p:nvSpPr>
        <p:spPr>
          <a:xfrm>
            <a:off x="1516242" y="3633569"/>
            <a:ext cx="6949440" cy="321869"/>
          </a:xfrm>
          <a:prstGeom prst="rect">
            <a:avLst/>
          </a:prstGeom>
          <a:noFill/>
          <a:ln/>
        </p:spPr>
        <p:txBody>
          <a:bodyPr wrap="square" rtlCol="0" anchor="ctr"/>
          <a:lstStyle/>
          <a:p>
            <a:pPr marL="0" indent="0">
              <a:buNone/>
            </a:pPr>
            <a:r>
              <a:rPr lang="en-US" sz="1100" dirty="0">
                <a:solidFill>
                  <a:srgbClr val="626568"/>
                </a:solidFill>
                <a:latin typeface="Arial" pitchFamily="34" charset="0"/>
                <a:ea typeface="Arial" pitchFamily="34" charset="-122"/>
                <a:cs typeface="Arial" pitchFamily="34" charset="-120"/>
              </a:rPr>
              <a:t>Prior work produces research outputs — spreadsheets and plots — not interactive tools. Fraud investigators are not data scientists; they need a conversational interface.</a:t>
            </a:r>
            <a:endParaRPr lang="en-US" sz="1100" dirty="0"/>
          </a:p>
        </p:txBody>
      </p:sp>
      <p:sp>
        <p:nvSpPr>
          <p:cNvPr id="22" name="Text 20"/>
          <p:cNvSpPr/>
          <p:nvPr/>
        </p:nvSpPr>
        <p:spPr>
          <a:xfrm>
            <a:off x="1516242" y="4072481"/>
            <a:ext cx="6949440" cy="219456"/>
          </a:xfrm>
          <a:prstGeom prst="rect">
            <a:avLst/>
          </a:prstGeom>
          <a:noFill/>
          <a:ln/>
        </p:spPr>
        <p:txBody>
          <a:bodyPr wrap="square" rtlCol="0" anchor="ctr"/>
          <a:lstStyle/>
          <a:p>
            <a:pPr marL="0" indent="0">
              <a:buNone/>
            </a:pPr>
            <a:r>
              <a:rPr lang="en-US" sz="1100" b="1" dirty="0">
                <a:solidFill>
                  <a:srgbClr val="D61920"/>
                </a:solidFill>
                <a:latin typeface="Arial" pitchFamily="34" charset="0"/>
                <a:ea typeface="Arial" pitchFamily="34" charset="-122"/>
                <a:cs typeface="Arial" pitchFamily="34" charset="-120"/>
              </a:rPr>
              <a:t>→  This thesis: Streamlit chatbot with 4 investigator-facing tools</a:t>
            </a:r>
            <a:endParaRPr lang="en-US" sz="1100" dirty="0"/>
          </a:p>
        </p:txBody>
      </p:sp>
      <p:sp>
        <p:nvSpPr>
          <p:cNvPr id="24" name="Text 2">
            <a:extLst>
              <a:ext uri="{FF2B5EF4-FFF2-40B4-BE49-F238E27FC236}">
                <a16:creationId xmlns:a16="http://schemas.microsoft.com/office/drawing/2014/main" id="{BDC6EDB1-4B2A-5530-49BD-3E55A3F1096D}"/>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25" name="PageNum">
            <a:extLst>
              <a:ext uri="{FF2B5EF4-FFF2-40B4-BE49-F238E27FC236}">
                <a16:creationId xmlns:a16="http://schemas.microsoft.com/office/drawing/2014/main" id="{FE6A6152-67FA-3B37-BC51-CF616F45F7F8}"/>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7</a:t>
            </a:r>
            <a:endParaRPr lang="en-US" sz="1000" b="0" dirty="0">
              <a:solidFill>
                <a:srgbClr val="FFFFFF"/>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Research Objectives</a:t>
            </a:r>
            <a:endParaRPr lang="en-US" sz="2400" dirty="0"/>
          </a:p>
        </p:txBody>
      </p:sp>
      <p:sp>
        <p:nvSpPr>
          <p:cNvPr id="4" name="Text 2"/>
          <p:cNvSpPr/>
          <p:nvPr/>
        </p:nvSpPr>
        <p:spPr>
          <a:xfrm>
            <a:off x="502920" y="4325112"/>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Shape 3"/>
          <p:cNvSpPr/>
          <p:nvPr/>
        </p:nvSpPr>
        <p:spPr>
          <a:xfrm>
            <a:off x="365760" y="914400"/>
            <a:ext cx="8412480" cy="1444752"/>
          </a:xfrm>
          <a:prstGeom prst="roundRect">
            <a:avLst>
              <a:gd name="adj" fmla="val 5063"/>
            </a:avLst>
          </a:prstGeom>
          <a:solidFill>
            <a:srgbClr val="F4F4F4"/>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6" name="Shape 4"/>
          <p:cNvSpPr/>
          <p:nvPr/>
        </p:nvSpPr>
        <p:spPr>
          <a:xfrm>
            <a:off x="365760" y="914400"/>
            <a:ext cx="914400" cy="402336"/>
          </a:xfrm>
          <a:prstGeom prst="roundRect">
            <a:avLst>
              <a:gd name="adj" fmla="val 13636"/>
            </a:avLst>
          </a:prstGeom>
          <a:solidFill>
            <a:srgbClr val="D61920"/>
          </a:solidFill>
          <a:ln w="12700">
            <a:solidFill>
              <a:srgbClr val="D61920"/>
            </a:solidFill>
            <a:prstDash val="solid"/>
          </a:ln>
        </p:spPr>
        <p:txBody>
          <a:bodyPr/>
          <a:lstStyle/>
          <a:p>
            <a:endParaRPr lang="en-US"/>
          </a:p>
        </p:txBody>
      </p:sp>
      <p:sp>
        <p:nvSpPr>
          <p:cNvPr id="7" name="Text 5"/>
          <p:cNvSpPr/>
          <p:nvPr/>
        </p:nvSpPr>
        <p:spPr>
          <a:xfrm>
            <a:off x="365760" y="914400"/>
            <a:ext cx="914400" cy="402336"/>
          </a:xfrm>
          <a:prstGeom prst="rect">
            <a:avLst/>
          </a:prstGeom>
          <a:noFill/>
          <a:ln/>
        </p:spPr>
        <p:txBody>
          <a:bodyPr wrap="square" lIns="0" tIns="0" rIns="0" bIns="0" rtlCol="0" anchor="ctr"/>
          <a:lstStyle/>
          <a:p>
            <a:pPr marL="0" indent="0" algn="ctr">
              <a:buNone/>
            </a:pPr>
            <a:r>
              <a:rPr lang="en-US" sz="1300" b="1" dirty="0">
                <a:solidFill>
                  <a:srgbClr val="FFFFFF"/>
                </a:solidFill>
              </a:rPr>
              <a:t>RO 1</a:t>
            </a:r>
            <a:endParaRPr lang="en-US" sz="1300" dirty="0"/>
          </a:p>
        </p:txBody>
      </p:sp>
      <p:sp>
        <p:nvSpPr>
          <p:cNvPr id="8" name="Text 6"/>
          <p:cNvSpPr/>
          <p:nvPr/>
        </p:nvSpPr>
        <p:spPr>
          <a:xfrm>
            <a:off x="1426464" y="969264"/>
            <a:ext cx="7205472" cy="987552"/>
          </a:xfrm>
          <a:prstGeom prst="rect">
            <a:avLst/>
          </a:prstGeom>
          <a:noFill/>
          <a:ln/>
        </p:spPr>
        <p:txBody>
          <a:bodyPr wrap="square" rtlCol="0" anchor="ctr"/>
          <a:lstStyle/>
          <a:p>
            <a:pPr marL="0" indent="0">
              <a:buNone/>
            </a:pPr>
            <a:r>
              <a:rPr lang="en-US" sz="1300" dirty="0">
                <a:solidFill>
                  <a:srgbClr val="2D2D2D"/>
                </a:solidFill>
                <a:latin typeface="Arial" pitchFamily="34" charset="0"/>
                <a:ea typeface="Arial" pitchFamily="34" charset="-122"/>
                <a:cs typeface="Arial" pitchFamily="34" charset="-120"/>
              </a:rPr>
              <a:t>Build a provider-level Medicare fraud detection model using structured CMS claims data and demonstrate how SHAP explanations identify the key billing features driving each individual prediction.</a:t>
            </a:r>
            <a:endParaRPr lang="en-US" sz="1300" dirty="0"/>
          </a:p>
        </p:txBody>
      </p:sp>
      <p:sp>
        <p:nvSpPr>
          <p:cNvPr id="9" name="Shape 7"/>
          <p:cNvSpPr/>
          <p:nvPr/>
        </p:nvSpPr>
        <p:spPr>
          <a:xfrm>
            <a:off x="365760" y="2505456"/>
            <a:ext cx="8412480" cy="1444752"/>
          </a:xfrm>
          <a:prstGeom prst="roundRect">
            <a:avLst>
              <a:gd name="adj" fmla="val 5063"/>
            </a:avLst>
          </a:prstGeom>
          <a:solidFill>
            <a:srgbClr val="F4F4F4"/>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0" name="Shape 8"/>
          <p:cNvSpPr/>
          <p:nvPr/>
        </p:nvSpPr>
        <p:spPr>
          <a:xfrm>
            <a:off x="365760" y="2505456"/>
            <a:ext cx="914400" cy="402336"/>
          </a:xfrm>
          <a:prstGeom prst="roundRect">
            <a:avLst>
              <a:gd name="adj" fmla="val 13636"/>
            </a:avLst>
          </a:prstGeom>
          <a:solidFill>
            <a:srgbClr val="D61920"/>
          </a:solidFill>
          <a:ln w="12700">
            <a:solidFill>
              <a:srgbClr val="D61920"/>
            </a:solidFill>
            <a:prstDash val="solid"/>
          </a:ln>
        </p:spPr>
        <p:txBody>
          <a:bodyPr/>
          <a:lstStyle/>
          <a:p>
            <a:endParaRPr lang="en-US"/>
          </a:p>
        </p:txBody>
      </p:sp>
      <p:sp>
        <p:nvSpPr>
          <p:cNvPr id="11" name="Text 9"/>
          <p:cNvSpPr/>
          <p:nvPr/>
        </p:nvSpPr>
        <p:spPr>
          <a:xfrm>
            <a:off x="365760" y="2505456"/>
            <a:ext cx="914400" cy="402336"/>
          </a:xfrm>
          <a:prstGeom prst="rect">
            <a:avLst/>
          </a:prstGeom>
          <a:noFill/>
          <a:ln/>
        </p:spPr>
        <p:txBody>
          <a:bodyPr wrap="square" lIns="0" tIns="0" rIns="0" bIns="0" rtlCol="0" anchor="ctr"/>
          <a:lstStyle/>
          <a:p>
            <a:pPr marL="0" indent="0" algn="ctr">
              <a:buNone/>
            </a:pPr>
            <a:r>
              <a:rPr lang="en-US" sz="1300" b="1" dirty="0">
                <a:solidFill>
                  <a:srgbClr val="FFFFFF"/>
                </a:solidFill>
              </a:rPr>
              <a:t>RO 2</a:t>
            </a:r>
            <a:endParaRPr lang="en-US" sz="1300" dirty="0"/>
          </a:p>
        </p:txBody>
      </p:sp>
      <p:sp>
        <p:nvSpPr>
          <p:cNvPr id="12" name="Text 10"/>
          <p:cNvSpPr/>
          <p:nvPr/>
        </p:nvSpPr>
        <p:spPr>
          <a:xfrm>
            <a:off x="1426464" y="2560320"/>
            <a:ext cx="7205472" cy="987552"/>
          </a:xfrm>
          <a:prstGeom prst="rect">
            <a:avLst/>
          </a:prstGeom>
          <a:noFill/>
          <a:ln/>
        </p:spPr>
        <p:txBody>
          <a:bodyPr wrap="square" rtlCol="0" anchor="ctr"/>
          <a:lstStyle/>
          <a:p>
            <a:r>
              <a:rPr lang="en-US" sz="1300" dirty="0">
                <a:solidFill>
                  <a:srgbClr val="2D2D2D"/>
                </a:solidFill>
                <a:latin typeface="Arial" pitchFamily="34" charset="0"/>
                <a:cs typeface="Arial" pitchFamily="34" charset="-120"/>
              </a:rPr>
              <a:t>Develop and evaluate an RAG-augmented LLM framework that retrieves CMS and OIG policy guidance and delivers policy-grounded explanations through a conversational chatbot that investigators can use without technical expertise.</a:t>
            </a:r>
          </a:p>
        </p:txBody>
      </p:sp>
      <p:sp>
        <p:nvSpPr>
          <p:cNvPr id="3" name="Text 2">
            <a:extLst>
              <a:ext uri="{FF2B5EF4-FFF2-40B4-BE49-F238E27FC236}">
                <a16:creationId xmlns:a16="http://schemas.microsoft.com/office/drawing/2014/main" id="{333A7113-9DE2-D664-34D1-663959E96BE3}"/>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13" name="PageNum">
            <a:extLst>
              <a:ext uri="{FF2B5EF4-FFF2-40B4-BE49-F238E27FC236}">
                <a16:creationId xmlns:a16="http://schemas.microsoft.com/office/drawing/2014/main" id="{EBC7667D-C15C-A267-F222-035BB7D2B19C}"/>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8</a:t>
            </a:r>
            <a:endParaRPr lang="en-US" sz="1000" b="0" dirty="0">
              <a:solidFill>
                <a:srgbClr val="FFFFFF"/>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65760" y="2023110"/>
            <a:ext cx="8412480" cy="1097280"/>
          </a:xfrm>
          <a:prstGeom prst="rect">
            <a:avLst/>
          </a:prstGeom>
          <a:noFill/>
          <a:ln/>
        </p:spPr>
        <p:txBody>
          <a:bodyPr wrap="square" rtlCol="0" anchor="ctr"/>
          <a:lstStyle/>
          <a:p>
            <a:pPr marL="0" indent="0" algn="ctr">
              <a:buNone/>
            </a:pPr>
            <a:r>
              <a:rPr lang="en-US" sz="4200" b="1" dirty="0">
                <a:solidFill>
                  <a:srgbClr val="FFFFFF"/>
                </a:solidFill>
                <a:latin typeface="Arial" pitchFamily="34" charset="0"/>
                <a:ea typeface="Arial" pitchFamily="34" charset="-122"/>
                <a:cs typeface="Arial" pitchFamily="34" charset="-120"/>
              </a:rPr>
              <a:t>Methodology</a:t>
            </a:r>
            <a:endParaRPr lang="en-US" sz="4200" dirty="0"/>
          </a:p>
        </p:txBody>
      </p:sp>
      <p:sp>
        <p:nvSpPr>
          <p:cNvPr id="2" name="Rectangle 1">
            <a:extLst>
              <a:ext uri="{FF2B5EF4-FFF2-40B4-BE49-F238E27FC236}">
                <a16:creationId xmlns:a16="http://schemas.microsoft.com/office/drawing/2014/main" id="{230D03D4-790B-C031-4E8D-218221433037}"/>
              </a:ext>
            </a:extLst>
          </p:cNvPr>
          <p:cNvSpPr/>
          <p:nvPr/>
        </p:nvSpPr>
        <p:spPr>
          <a:xfrm>
            <a:off x="890546" y="4780000"/>
            <a:ext cx="1598212" cy="197517"/>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 2">
            <a:extLst>
              <a:ext uri="{FF2B5EF4-FFF2-40B4-BE49-F238E27FC236}">
                <a16:creationId xmlns:a16="http://schemas.microsoft.com/office/drawing/2014/main" id="{4EFE1AD9-6A27-7EE4-99FC-646B01CAB64D}"/>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PageNum">
            <a:extLst>
              <a:ext uri="{FF2B5EF4-FFF2-40B4-BE49-F238E27FC236}">
                <a16:creationId xmlns:a16="http://schemas.microsoft.com/office/drawing/2014/main" id="{B5112EA4-EFBC-2688-C2EC-85991E086E7A}"/>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9</a:t>
            </a:r>
            <a:endParaRPr lang="en-US" sz="1000" b="0" dirty="0">
              <a:solidFill>
                <a:srgbClr val="FFFFFF"/>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Research Design</a:t>
            </a:r>
            <a:endParaRPr lang="en-US" sz="2400" dirty="0"/>
          </a:p>
        </p:txBody>
      </p:sp>
      <p:sp>
        <p:nvSpPr>
          <p:cNvPr id="4" name="Text 2"/>
          <p:cNvSpPr/>
          <p:nvPr/>
        </p:nvSpPr>
        <p:spPr>
          <a:xfrm>
            <a:off x="502920" y="4325112"/>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pic>
        <p:nvPicPr>
          <p:cNvPr id="7" name="Picture 6">
            <a:extLst>
              <a:ext uri="{FF2B5EF4-FFF2-40B4-BE49-F238E27FC236}">
                <a16:creationId xmlns:a16="http://schemas.microsoft.com/office/drawing/2014/main" id="{7A674ED3-E14F-EF9E-6896-52D497DA3A96}"/>
              </a:ext>
            </a:extLst>
          </p:cNvPr>
          <p:cNvPicPr>
            <a:picLocks noChangeAspect="1"/>
          </p:cNvPicPr>
          <p:nvPr/>
        </p:nvPicPr>
        <p:blipFill>
          <a:blip r:embed="rId4"/>
          <a:stretch>
            <a:fillRect/>
          </a:stretch>
        </p:blipFill>
        <p:spPr>
          <a:xfrm>
            <a:off x="430518" y="989861"/>
            <a:ext cx="8282964" cy="3163777"/>
          </a:xfrm>
          <a:prstGeom prst="rect">
            <a:avLst/>
          </a:prstGeom>
        </p:spPr>
      </p:pic>
      <p:sp>
        <p:nvSpPr>
          <p:cNvPr id="3" name="Text 2">
            <a:extLst>
              <a:ext uri="{FF2B5EF4-FFF2-40B4-BE49-F238E27FC236}">
                <a16:creationId xmlns:a16="http://schemas.microsoft.com/office/drawing/2014/main" id="{E95CFA73-5393-D4EA-B52A-CE62119660E9}"/>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PageNum">
            <a:extLst>
              <a:ext uri="{FF2B5EF4-FFF2-40B4-BE49-F238E27FC236}">
                <a16:creationId xmlns:a16="http://schemas.microsoft.com/office/drawing/2014/main" id="{494A1250-918A-19BA-A8D6-B2A9DAE1D7EF}"/>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b="0" dirty="0">
                <a:solidFill>
                  <a:srgbClr val="FFFFFF"/>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Data Sources: CMS Part B, Part D &amp; OIG LEIE</a:t>
            </a:r>
            <a:endParaRPr lang="en-US" sz="2400" dirty="0"/>
          </a:p>
        </p:txBody>
      </p:sp>
      <p:sp>
        <p:nvSpPr>
          <p:cNvPr id="4" name="Text 2"/>
          <p:cNvSpPr/>
          <p:nvPr/>
        </p:nvSpPr>
        <p:spPr>
          <a:xfrm>
            <a:off x="253538" y="3954818"/>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Shape 3"/>
          <p:cNvSpPr/>
          <p:nvPr/>
        </p:nvSpPr>
        <p:spPr>
          <a:xfrm>
            <a:off x="-18289" y="898886"/>
            <a:ext cx="2877865" cy="3099320"/>
          </a:xfrm>
          <a:prstGeom prst="roundRect">
            <a:avLst>
              <a:gd name="adj" fmla="val 266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dirty="0"/>
          </a:p>
        </p:txBody>
      </p:sp>
      <p:sp>
        <p:nvSpPr>
          <p:cNvPr id="6" name="Shape 4"/>
          <p:cNvSpPr/>
          <p:nvPr/>
        </p:nvSpPr>
        <p:spPr>
          <a:xfrm>
            <a:off x="0" y="903883"/>
            <a:ext cx="2859578" cy="380390"/>
          </a:xfrm>
          <a:prstGeom prst="rect">
            <a:avLst/>
          </a:prstGeom>
          <a:solidFill>
            <a:srgbClr val="000000"/>
          </a:solidFill>
          <a:ln w="12700">
            <a:solidFill>
              <a:srgbClr val="000000"/>
            </a:solidFill>
            <a:prstDash val="solid"/>
          </a:ln>
        </p:spPr>
        <p:txBody>
          <a:bodyPr/>
          <a:lstStyle/>
          <a:p>
            <a:endParaRPr lang="en-US"/>
          </a:p>
        </p:txBody>
      </p:sp>
      <p:sp>
        <p:nvSpPr>
          <p:cNvPr id="7" name="Text 5"/>
          <p:cNvSpPr/>
          <p:nvPr/>
        </p:nvSpPr>
        <p:spPr>
          <a:xfrm>
            <a:off x="116378" y="892911"/>
            <a:ext cx="2743200" cy="380390"/>
          </a:xfrm>
          <a:prstGeom prst="rect">
            <a:avLst/>
          </a:prstGeom>
          <a:noFill/>
          <a:ln/>
        </p:spPr>
        <p:txBody>
          <a:bodyPr wrap="square" lIns="0" tIns="0" rIns="0" bIns="0" rtlCol="0" anchor="ctr"/>
          <a:lstStyle/>
          <a:p>
            <a:pPr marL="0" indent="0" algn="ctr">
              <a:buNone/>
            </a:pPr>
            <a:r>
              <a:rPr lang="en-US" sz="1400" b="1" dirty="0">
                <a:solidFill>
                  <a:srgbClr val="FFFFFF"/>
                </a:solidFill>
              </a:rPr>
              <a:t>CMS Part B 2023</a:t>
            </a:r>
            <a:endParaRPr lang="en-US" sz="1400" dirty="0"/>
          </a:p>
        </p:txBody>
      </p:sp>
      <p:sp>
        <p:nvSpPr>
          <p:cNvPr id="8" name="Text 6"/>
          <p:cNvSpPr/>
          <p:nvPr/>
        </p:nvSpPr>
        <p:spPr>
          <a:xfrm>
            <a:off x="-18288" y="1273891"/>
            <a:ext cx="2877865" cy="514610"/>
          </a:xfrm>
          <a:prstGeom prst="rect">
            <a:avLst/>
          </a:prstGeom>
          <a:noFill/>
          <a:ln/>
        </p:spPr>
        <p:txBody>
          <a:bodyPr wrap="square" rtlCol="0" anchor="ctr"/>
          <a:lstStyle/>
          <a:p>
            <a:pPr algn="ctr"/>
            <a:endParaRPr lang="en-US" sz="1100" b="1" dirty="0">
              <a:solidFill>
                <a:srgbClr val="2D2D2D"/>
              </a:solidFill>
              <a:latin typeface="Arial" pitchFamily="34" charset="0"/>
              <a:cs typeface="Arial" pitchFamily="34" charset="-120"/>
            </a:endParaRPr>
          </a:p>
          <a:p>
            <a:pPr algn="ctr"/>
            <a:r>
              <a:rPr lang="en-US" sz="1000" b="1" dirty="0">
                <a:solidFill>
                  <a:srgbClr val="2D2D2D"/>
                </a:solidFill>
                <a:latin typeface="Arial" pitchFamily="34" charset="0"/>
                <a:cs typeface="Arial" pitchFamily="34" charset="-120"/>
              </a:rPr>
              <a:t>Medicare Physician &amp; Other Practitioners - by Provider and Service </a:t>
            </a:r>
          </a:p>
          <a:p>
            <a:pPr marL="0" indent="0" algn="ctr">
              <a:buNone/>
            </a:pPr>
            <a:endParaRPr lang="en-US" sz="1100" dirty="0"/>
          </a:p>
        </p:txBody>
      </p:sp>
      <p:sp>
        <p:nvSpPr>
          <p:cNvPr id="9" name="Text 7"/>
          <p:cNvSpPr/>
          <p:nvPr/>
        </p:nvSpPr>
        <p:spPr>
          <a:xfrm>
            <a:off x="133112" y="2818885"/>
            <a:ext cx="877824" cy="365760"/>
          </a:xfrm>
          <a:prstGeom prst="rect">
            <a:avLst/>
          </a:prstGeom>
          <a:noFill/>
          <a:ln/>
        </p:spPr>
        <p:txBody>
          <a:bodyPr wrap="square" rtlCol="0" anchor="t"/>
          <a:lstStyle/>
          <a:p>
            <a:pPr marL="0" indent="0">
              <a:buNone/>
            </a:pPr>
            <a:r>
              <a:rPr lang="en-US" sz="1000" b="1" dirty="0">
                <a:solidFill>
                  <a:srgbClr val="626568"/>
                </a:solidFill>
                <a:latin typeface="Arial" pitchFamily="34" charset="0"/>
                <a:ea typeface="Arial" pitchFamily="34" charset="-122"/>
                <a:cs typeface="Arial" pitchFamily="34" charset="-120"/>
              </a:rPr>
              <a:t>Scope:</a:t>
            </a:r>
            <a:endParaRPr lang="en-US" sz="1000" dirty="0"/>
          </a:p>
        </p:txBody>
      </p:sp>
      <p:sp>
        <p:nvSpPr>
          <p:cNvPr id="10" name="Text 8"/>
          <p:cNvSpPr/>
          <p:nvPr/>
        </p:nvSpPr>
        <p:spPr>
          <a:xfrm>
            <a:off x="1128869" y="2737824"/>
            <a:ext cx="1609344" cy="365760"/>
          </a:xfrm>
          <a:prstGeom prst="rect">
            <a:avLst/>
          </a:prstGeom>
          <a:noFill/>
          <a:ln/>
        </p:spPr>
        <p:txBody>
          <a:bodyPr wrap="square" rtlCol="0" anchor="t"/>
          <a:lstStyle/>
          <a:p>
            <a:r>
              <a:rPr lang="en-US" altLang="en-US" sz="1000" dirty="0">
                <a:solidFill>
                  <a:srgbClr val="2D2D2D"/>
                </a:solidFill>
                <a:latin typeface="Arial" pitchFamily="34" charset="0"/>
                <a:cs typeface="Arial" pitchFamily="34" charset="-120"/>
              </a:rPr>
              <a:t>9,660,647 Rows, 28 Features. (</a:t>
            </a:r>
            <a:r>
              <a:rPr lang="en-US" sz="1000" dirty="0">
                <a:solidFill>
                  <a:srgbClr val="2D2D2D"/>
                </a:solidFill>
                <a:latin typeface="Arial" pitchFamily="34" charset="0"/>
                <a:cs typeface="Arial" pitchFamily="34" charset="-120"/>
              </a:rPr>
              <a:t>1175051)</a:t>
            </a:r>
          </a:p>
          <a:p>
            <a:pPr indent="0">
              <a:buNone/>
            </a:pPr>
            <a:endParaRPr lang="en-US" sz="1000" dirty="0">
              <a:solidFill>
                <a:srgbClr val="2D2D2D"/>
              </a:solidFill>
              <a:latin typeface="Arial" pitchFamily="34" charset="0"/>
              <a:cs typeface="Arial" pitchFamily="34" charset="-120"/>
            </a:endParaRPr>
          </a:p>
          <a:p>
            <a:pPr marL="0" indent="0">
              <a:buNone/>
            </a:pPr>
            <a:endParaRPr lang="en-US" sz="1000" dirty="0"/>
          </a:p>
        </p:txBody>
      </p:sp>
      <p:sp>
        <p:nvSpPr>
          <p:cNvPr id="11" name="Text 9"/>
          <p:cNvSpPr/>
          <p:nvPr/>
        </p:nvSpPr>
        <p:spPr>
          <a:xfrm>
            <a:off x="116378" y="3567531"/>
            <a:ext cx="877824" cy="365760"/>
          </a:xfrm>
          <a:prstGeom prst="rect">
            <a:avLst/>
          </a:prstGeom>
          <a:noFill/>
          <a:ln/>
        </p:spPr>
        <p:txBody>
          <a:bodyPr wrap="square" rtlCol="0" anchor="t"/>
          <a:lstStyle/>
          <a:p>
            <a:pPr marL="0" indent="0">
              <a:buNone/>
            </a:pPr>
            <a:r>
              <a:rPr lang="en-US" sz="1000" b="1" dirty="0">
                <a:solidFill>
                  <a:srgbClr val="626568"/>
                </a:solidFill>
                <a:latin typeface="Arial" pitchFamily="34" charset="0"/>
                <a:ea typeface="Arial" pitchFamily="34" charset="-122"/>
                <a:cs typeface="Arial" pitchFamily="34" charset="-120"/>
              </a:rPr>
              <a:t>Features:</a:t>
            </a:r>
            <a:endParaRPr lang="en-US" sz="1000" dirty="0"/>
          </a:p>
        </p:txBody>
      </p:sp>
      <p:sp>
        <p:nvSpPr>
          <p:cNvPr id="12" name="Text 10"/>
          <p:cNvSpPr/>
          <p:nvPr/>
        </p:nvSpPr>
        <p:spPr>
          <a:xfrm>
            <a:off x="1128869" y="3370684"/>
            <a:ext cx="1609344" cy="584134"/>
          </a:xfrm>
          <a:prstGeom prst="rect">
            <a:avLst/>
          </a:prstGeom>
          <a:noFill/>
          <a:ln/>
        </p:spPr>
        <p:txBody>
          <a:bodyPr wrap="square" rtlCol="0" anchor="t"/>
          <a:lstStyle/>
          <a:p>
            <a:pPr indent="0">
              <a:buNone/>
            </a:pPr>
            <a:r>
              <a:rPr lang="en-US" sz="1000" dirty="0">
                <a:solidFill>
                  <a:srgbClr val="2D2D2D"/>
                </a:solidFill>
                <a:latin typeface="Arial" pitchFamily="34" charset="0"/>
                <a:cs typeface="Arial" pitchFamily="34" charset="-120"/>
              </a:rPr>
              <a:t>Submitted charges, Medicare payments, and Service Volume</a:t>
            </a:r>
          </a:p>
        </p:txBody>
      </p:sp>
      <p:sp>
        <p:nvSpPr>
          <p:cNvPr id="17" name="Shape 15"/>
          <p:cNvSpPr/>
          <p:nvPr/>
        </p:nvSpPr>
        <p:spPr>
          <a:xfrm>
            <a:off x="3063131" y="898885"/>
            <a:ext cx="2743200" cy="3099321"/>
          </a:xfrm>
          <a:prstGeom prst="roundRect">
            <a:avLst>
              <a:gd name="adj" fmla="val 266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6"/>
          <p:cNvSpPr/>
          <p:nvPr/>
        </p:nvSpPr>
        <p:spPr>
          <a:xfrm>
            <a:off x="3060746" y="892911"/>
            <a:ext cx="2743200" cy="380390"/>
          </a:xfrm>
          <a:prstGeom prst="rect">
            <a:avLst/>
          </a:prstGeom>
          <a:solidFill>
            <a:srgbClr val="2D2D2D"/>
          </a:solidFill>
          <a:ln w="12700">
            <a:solidFill>
              <a:srgbClr val="2D2D2D"/>
            </a:solidFill>
            <a:prstDash val="solid"/>
          </a:ln>
        </p:spPr>
        <p:txBody>
          <a:bodyPr/>
          <a:lstStyle/>
          <a:p>
            <a:endParaRPr lang="en-US"/>
          </a:p>
        </p:txBody>
      </p:sp>
      <p:sp>
        <p:nvSpPr>
          <p:cNvPr id="19" name="Text 17"/>
          <p:cNvSpPr/>
          <p:nvPr/>
        </p:nvSpPr>
        <p:spPr>
          <a:xfrm>
            <a:off x="3060746" y="892911"/>
            <a:ext cx="2743200" cy="380390"/>
          </a:xfrm>
          <a:prstGeom prst="rect">
            <a:avLst/>
          </a:prstGeom>
          <a:noFill/>
          <a:ln/>
        </p:spPr>
        <p:txBody>
          <a:bodyPr wrap="square" lIns="0" tIns="0" rIns="0" bIns="0" rtlCol="0" anchor="ctr"/>
          <a:lstStyle/>
          <a:p>
            <a:pPr marL="0" indent="0" algn="ctr">
              <a:buNone/>
            </a:pPr>
            <a:r>
              <a:rPr lang="en-US" sz="1400" b="1" dirty="0">
                <a:solidFill>
                  <a:srgbClr val="FFFFFF"/>
                </a:solidFill>
              </a:rPr>
              <a:t>CMS Part D 2023</a:t>
            </a:r>
            <a:endParaRPr lang="en-US" sz="1400" dirty="0"/>
          </a:p>
        </p:txBody>
      </p:sp>
      <p:sp>
        <p:nvSpPr>
          <p:cNvPr id="20" name="Text 18"/>
          <p:cNvSpPr/>
          <p:nvPr/>
        </p:nvSpPr>
        <p:spPr>
          <a:xfrm>
            <a:off x="3152186" y="1317193"/>
            <a:ext cx="2560320" cy="263347"/>
          </a:xfrm>
          <a:prstGeom prst="rect">
            <a:avLst/>
          </a:prstGeom>
          <a:noFill/>
          <a:ln/>
        </p:spPr>
        <p:txBody>
          <a:bodyPr wrap="square" rtlCol="0" anchor="ctr"/>
          <a:lstStyle/>
          <a:p>
            <a:pPr algn="ctr"/>
            <a:r>
              <a:rPr lang="en-US" sz="1000" b="1" dirty="0">
                <a:solidFill>
                  <a:srgbClr val="2D2D2D"/>
                </a:solidFill>
                <a:latin typeface="Arial" pitchFamily="34" charset="0"/>
                <a:cs typeface="Arial" pitchFamily="34" charset="-120"/>
              </a:rPr>
              <a:t>Prescribers - by Provider and Drug </a:t>
            </a:r>
          </a:p>
        </p:txBody>
      </p:sp>
      <p:sp>
        <p:nvSpPr>
          <p:cNvPr id="21" name="Text 19"/>
          <p:cNvSpPr/>
          <p:nvPr/>
        </p:nvSpPr>
        <p:spPr>
          <a:xfrm>
            <a:off x="3090672" y="2832402"/>
            <a:ext cx="877824" cy="365760"/>
          </a:xfrm>
          <a:prstGeom prst="rect">
            <a:avLst/>
          </a:prstGeom>
          <a:noFill/>
          <a:ln/>
        </p:spPr>
        <p:txBody>
          <a:bodyPr wrap="square" rtlCol="0" anchor="t"/>
          <a:lstStyle/>
          <a:p>
            <a:pPr marL="0" indent="0">
              <a:buNone/>
            </a:pPr>
            <a:r>
              <a:rPr lang="en-US" sz="1000" b="1" dirty="0">
                <a:solidFill>
                  <a:srgbClr val="626568"/>
                </a:solidFill>
                <a:latin typeface="Arial" pitchFamily="34" charset="0"/>
                <a:ea typeface="Arial" pitchFamily="34" charset="-122"/>
                <a:cs typeface="Arial" pitchFamily="34" charset="-120"/>
              </a:rPr>
              <a:t>Scope:</a:t>
            </a:r>
            <a:endParaRPr lang="en-US" sz="1000" dirty="0"/>
          </a:p>
        </p:txBody>
      </p:sp>
      <p:sp>
        <p:nvSpPr>
          <p:cNvPr id="22" name="Text 20"/>
          <p:cNvSpPr/>
          <p:nvPr/>
        </p:nvSpPr>
        <p:spPr>
          <a:xfrm>
            <a:off x="4148881" y="2767758"/>
            <a:ext cx="1609344" cy="365760"/>
          </a:xfrm>
          <a:prstGeom prst="rect">
            <a:avLst/>
          </a:prstGeom>
          <a:noFill/>
          <a:ln/>
        </p:spPr>
        <p:txBody>
          <a:bodyPr wrap="square" rtlCol="0" anchor="t"/>
          <a:lstStyle/>
          <a:p>
            <a:r>
              <a:rPr lang="en-US" sz="1000" dirty="0">
                <a:solidFill>
                  <a:srgbClr val="2D2D2D"/>
                </a:solidFill>
                <a:latin typeface="Arial" pitchFamily="34" charset="0"/>
                <a:cs typeface="Arial" pitchFamily="34" charset="-120"/>
              </a:rPr>
              <a:t>26,794,878 Rows. 22 Features. (1,103,872)</a:t>
            </a:r>
          </a:p>
        </p:txBody>
      </p:sp>
      <p:sp>
        <p:nvSpPr>
          <p:cNvPr id="23" name="Text 21"/>
          <p:cNvSpPr/>
          <p:nvPr/>
        </p:nvSpPr>
        <p:spPr>
          <a:xfrm>
            <a:off x="3090672" y="3572409"/>
            <a:ext cx="877824" cy="365760"/>
          </a:xfrm>
          <a:prstGeom prst="rect">
            <a:avLst/>
          </a:prstGeom>
          <a:noFill/>
          <a:ln/>
        </p:spPr>
        <p:txBody>
          <a:bodyPr wrap="square" rtlCol="0" anchor="t"/>
          <a:lstStyle/>
          <a:p>
            <a:pPr marL="0" indent="0">
              <a:buNone/>
            </a:pPr>
            <a:r>
              <a:rPr lang="en-US" sz="1000" b="1" dirty="0">
                <a:solidFill>
                  <a:srgbClr val="626568"/>
                </a:solidFill>
                <a:latin typeface="Arial" pitchFamily="34" charset="0"/>
                <a:ea typeface="Arial" pitchFamily="34" charset="-122"/>
                <a:cs typeface="Arial" pitchFamily="34" charset="-120"/>
              </a:rPr>
              <a:t>Features:</a:t>
            </a:r>
            <a:endParaRPr lang="en-US" sz="1000" dirty="0"/>
          </a:p>
        </p:txBody>
      </p:sp>
      <p:sp>
        <p:nvSpPr>
          <p:cNvPr id="24" name="Text 22"/>
          <p:cNvSpPr/>
          <p:nvPr/>
        </p:nvSpPr>
        <p:spPr>
          <a:xfrm>
            <a:off x="4173819" y="3391118"/>
            <a:ext cx="1609344" cy="599434"/>
          </a:xfrm>
          <a:prstGeom prst="rect">
            <a:avLst/>
          </a:prstGeom>
          <a:noFill/>
          <a:ln/>
        </p:spPr>
        <p:txBody>
          <a:bodyPr wrap="square" rtlCol="0" anchor="t"/>
          <a:lstStyle/>
          <a:p>
            <a:r>
              <a:rPr lang="en-US" sz="1000" dirty="0">
                <a:solidFill>
                  <a:srgbClr val="2D2D2D"/>
                </a:solidFill>
                <a:latin typeface="Arial" pitchFamily="34" charset="0"/>
                <a:cs typeface="Arial" pitchFamily="34" charset="-120"/>
              </a:rPr>
              <a:t>Drug costs, Prescription Volume, and prescribed Medications </a:t>
            </a:r>
          </a:p>
        </p:txBody>
      </p:sp>
      <p:sp>
        <p:nvSpPr>
          <p:cNvPr id="29" name="Shape 27"/>
          <p:cNvSpPr/>
          <p:nvPr/>
        </p:nvSpPr>
        <p:spPr>
          <a:xfrm>
            <a:off x="6005114" y="892910"/>
            <a:ext cx="2743200" cy="3110294"/>
          </a:xfrm>
          <a:prstGeom prst="roundRect">
            <a:avLst>
              <a:gd name="adj" fmla="val 2667"/>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8"/>
          <p:cNvSpPr/>
          <p:nvPr/>
        </p:nvSpPr>
        <p:spPr>
          <a:xfrm>
            <a:off x="6005114" y="892911"/>
            <a:ext cx="2743200" cy="380390"/>
          </a:xfrm>
          <a:prstGeom prst="rect">
            <a:avLst/>
          </a:prstGeom>
          <a:solidFill>
            <a:srgbClr val="D61920"/>
          </a:solidFill>
          <a:ln w="12700">
            <a:solidFill>
              <a:srgbClr val="D61920"/>
            </a:solidFill>
            <a:prstDash val="solid"/>
          </a:ln>
        </p:spPr>
        <p:txBody>
          <a:bodyPr/>
          <a:lstStyle/>
          <a:p>
            <a:endParaRPr lang="en-US"/>
          </a:p>
        </p:txBody>
      </p:sp>
      <p:sp>
        <p:nvSpPr>
          <p:cNvPr id="31" name="Text 29"/>
          <p:cNvSpPr/>
          <p:nvPr/>
        </p:nvSpPr>
        <p:spPr>
          <a:xfrm>
            <a:off x="6005114" y="892911"/>
            <a:ext cx="2743200" cy="380390"/>
          </a:xfrm>
          <a:prstGeom prst="rect">
            <a:avLst/>
          </a:prstGeom>
          <a:noFill/>
          <a:ln/>
        </p:spPr>
        <p:txBody>
          <a:bodyPr wrap="square" lIns="0" tIns="0" rIns="0" bIns="0" rtlCol="0" anchor="ctr"/>
          <a:lstStyle/>
          <a:p>
            <a:pPr marL="0" indent="0" algn="ctr">
              <a:buNone/>
            </a:pPr>
            <a:r>
              <a:rPr lang="en-US" sz="1400" b="1" dirty="0">
                <a:solidFill>
                  <a:srgbClr val="FFFFFF"/>
                </a:solidFill>
              </a:rPr>
              <a:t>OIG LEIE 2023</a:t>
            </a:r>
            <a:endParaRPr lang="en-US" sz="1400" dirty="0"/>
          </a:p>
        </p:txBody>
      </p:sp>
      <p:sp>
        <p:nvSpPr>
          <p:cNvPr id="32" name="Text 30"/>
          <p:cNvSpPr/>
          <p:nvPr/>
        </p:nvSpPr>
        <p:spPr>
          <a:xfrm>
            <a:off x="6096554" y="1317193"/>
            <a:ext cx="2560320" cy="263347"/>
          </a:xfrm>
          <a:prstGeom prst="rect">
            <a:avLst/>
          </a:prstGeom>
          <a:noFill/>
          <a:ln/>
        </p:spPr>
        <p:txBody>
          <a:bodyPr wrap="square" rtlCol="0" anchor="ctr"/>
          <a:lstStyle/>
          <a:p>
            <a:pPr marL="0" indent="0" algn="ctr">
              <a:buNone/>
            </a:pPr>
            <a:r>
              <a:rPr lang="en-US" sz="1000" b="1" dirty="0">
                <a:solidFill>
                  <a:srgbClr val="2D2D2D"/>
                </a:solidFill>
                <a:latin typeface="Arial" pitchFamily="34" charset="0"/>
                <a:cs typeface="Arial" pitchFamily="34" charset="-120"/>
              </a:rPr>
              <a:t>List of Excluded Individuals &amp; Entities</a:t>
            </a:r>
          </a:p>
        </p:txBody>
      </p:sp>
      <p:sp>
        <p:nvSpPr>
          <p:cNvPr id="33" name="Text 31"/>
          <p:cNvSpPr/>
          <p:nvPr/>
        </p:nvSpPr>
        <p:spPr>
          <a:xfrm>
            <a:off x="6096554" y="2099571"/>
            <a:ext cx="877824" cy="365760"/>
          </a:xfrm>
          <a:prstGeom prst="rect">
            <a:avLst/>
          </a:prstGeom>
          <a:noFill/>
          <a:ln/>
        </p:spPr>
        <p:txBody>
          <a:bodyPr wrap="square" rtlCol="0" anchor="t"/>
          <a:lstStyle/>
          <a:p>
            <a:pPr marL="0" indent="0">
              <a:buNone/>
            </a:pPr>
            <a:r>
              <a:rPr lang="en-US" sz="1000" b="1" dirty="0">
                <a:solidFill>
                  <a:srgbClr val="626568"/>
                </a:solidFill>
                <a:latin typeface="Arial" pitchFamily="34" charset="0"/>
                <a:ea typeface="Arial" pitchFamily="34" charset="-122"/>
                <a:cs typeface="Arial" pitchFamily="34" charset="-120"/>
              </a:rPr>
              <a:t>Scope:</a:t>
            </a:r>
            <a:endParaRPr lang="en-US" sz="1000" dirty="0"/>
          </a:p>
        </p:txBody>
      </p:sp>
      <p:sp>
        <p:nvSpPr>
          <p:cNvPr id="34" name="Text 32"/>
          <p:cNvSpPr/>
          <p:nvPr/>
        </p:nvSpPr>
        <p:spPr>
          <a:xfrm>
            <a:off x="7047530" y="2080038"/>
            <a:ext cx="1609344" cy="365760"/>
          </a:xfrm>
          <a:prstGeom prst="rect">
            <a:avLst/>
          </a:prstGeom>
          <a:noFill/>
          <a:ln/>
        </p:spPr>
        <p:txBody>
          <a:bodyPr wrap="square" rtlCol="0" anchor="t"/>
          <a:lstStyle/>
          <a:p>
            <a:pPr marL="0" indent="0">
              <a:buNone/>
            </a:pPr>
            <a:r>
              <a:rPr lang="en-US" sz="1000" dirty="0">
                <a:solidFill>
                  <a:srgbClr val="2D2D2D"/>
                </a:solidFill>
                <a:latin typeface="Arial" pitchFamily="34" charset="0"/>
                <a:ea typeface="Arial" pitchFamily="34" charset="-122"/>
                <a:cs typeface="Arial" pitchFamily="34" charset="-120"/>
              </a:rPr>
              <a:t>270 confirmed fraud providers in joined dataset</a:t>
            </a:r>
            <a:endParaRPr lang="en-US" sz="1000" dirty="0"/>
          </a:p>
        </p:txBody>
      </p:sp>
      <p:sp>
        <p:nvSpPr>
          <p:cNvPr id="35" name="Text 33"/>
          <p:cNvSpPr/>
          <p:nvPr/>
        </p:nvSpPr>
        <p:spPr>
          <a:xfrm>
            <a:off x="6133130" y="2810723"/>
            <a:ext cx="877824" cy="365760"/>
          </a:xfrm>
          <a:prstGeom prst="rect">
            <a:avLst/>
          </a:prstGeom>
          <a:noFill/>
          <a:ln/>
        </p:spPr>
        <p:txBody>
          <a:bodyPr wrap="square" rtlCol="0" anchor="t"/>
          <a:lstStyle/>
          <a:p>
            <a:pPr marL="0" indent="0">
              <a:buNone/>
            </a:pPr>
            <a:r>
              <a:rPr lang="en-US" sz="1000" b="1" dirty="0">
                <a:solidFill>
                  <a:srgbClr val="626568"/>
                </a:solidFill>
                <a:latin typeface="Arial" pitchFamily="34" charset="0"/>
                <a:ea typeface="Arial" pitchFamily="34" charset="-122"/>
                <a:cs typeface="Arial" pitchFamily="34" charset="-120"/>
              </a:rPr>
              <a:t>Role:</a:t>
            </a:r>
            <a:endParaRPr lang="en-US" sz="1000" dirty="0"/>
          </a:p>
        </p:txBody>
      </p:sp>
      <p:sp>
        <p:nvSpPr>
          <p:cNvPr id="36" name="Text 34"/>
          <p:cNvSpPr/>
          <p:nvPr/>
        </p:nvSpPr>
        <p:spPr>
          <a:xfrm>
            <a:off x="7047530" y="2813535"/>
            <a:ext cx="1609344" cy="365760"/>
          </a:xfrm>
          <a:prstGeom prst="rect">
            <a:avLst/>
          </a:prstGeom>
          <a:noFill/>
          <a:ln/>
        </p:spPr>
        <p:txBody>
          <a:bodyPr wrap="square" rtlCol="0" anchor="t"/>
          <a:lstStyle/>
          <a:p>
            <a:pPr marL="0" indent="0">
              <a:buNone/>
            </a:pPr>
            <a:r>
              <a:rPr lang="en-US" sz="1000" dirty="0">
                <a:solidFill>
                  <a:srgbClr val="2D2D2D"/>
                </a:solidFill>
                <a:latin typeface="Arial" pitchFamily="34" charset="0"/>
                <a:ea typeface="Arial" pitchFamily="34" charset="-122"/>
                <a:cs typeface="Arial" pitchFamily="34" charset="-120"/>
              </a:rPr>
              <a:t>Ground-truth binary fraud labels</a:t>
            </a:r>
            <a:endParaRPr lang="en-US" sz="1000" dirty="0"/>
          </a:p>
        </p:txBody>
      </p:sp>
      <p:sp>
        <p:nvSpPr>
          <p:cNvPr id="39" name="Text 37"/>
          <p:cNvSpPr/>
          <p:nvPr/>
        </p:nvSpPr>
        <p:spPr>
          <a:xfrm>
            <a:off x="6133130" y="3454565"/>
            <a:ext cx="877824" cy="365760"/>
          </a:xfrm>
          <a:prstGeom prst="rect">
            <a:avLst/>
          </a:prstGeom>
          <a:noFill/>
          <a:ln/>
        </p:spPr>
        <p:txBody>
          <a:bodyPr wrap="square" rtlCol="0" anchor="t"/>
          <a:lstStyle/>
          <a:p>
            <a:pPr marL="0" indent="0">
              <a:buNone/>
            </a:pPr>
            <a:r>
              <a:rPr lang="en-US" sz="1000" b="1" dirty="0">
                <a:solidFill>
                  <a:srgbClr val="626568"/>
                </a:solidFill>
                <a:latin typeface="Arial" pitchFamily="34" charset="0"/>
                <a:ea typeface="Arial" pitchFamily="34" charset="-122"/>
                <a:cs typeface="Arial" pitchFamily="34" charset="-120"/>
              </a:rPr>
              <a:t>Note:</a:t>
            </a:r>
            <a:endParaRPr lang="en-US" sz="1000" dirty="0"/>
          </a:p>
        </p:txBody>
      </p:sp>
      <p:sp>
        <p:nvSpPr>
          <p:cNvPr id="40" name="Text 38"/>
          <p:cNvSpPr/>
          <p:nvPr/>
        </p:nvSpPr>
        <p:spPr>
          <a:xfrm>
            <a:off x="7029242" y="3454565"/>
            <a:ext cx="1609344" cy="365760"/>
          </a:xfrm>
          <a:prstGeom prst="rect">
            <a:avLst/>
          </a:prstGeom>
          <a:noFill/>
          <a:ln/>
        </p:spPr>
        <p:txBody>
          <a:bodyPr wrap="square" rtlCol="0" anchor="t"/>
          <a:lstStyle/>
          <a:p>
            <a:pPr marL="0" indent="0">
              <a:buNone/>
            </a:pPr>
            <a:r>
              <a:rPr lang="en-US" sz="1000" dirty="0">
                <a:solidFill>
                  <a:srgbClr val="2D2D2D"/>
                </a:solidFill>
                <a:latin typeface="Arial" pitchFamily="34" charset="0"/>
                <a:ea typeface="Arial" pitchFamily="34" charset="-122"/>
                <a:cs typeface="Arial" pitchFamily="34" charset="-120"/>
              </a:rPr>
              <a:t>Each excluded provider has a documented violation</a:t>
            </a:r>
            <a:endParaRPr lang="en-US" sz="1000" dirty="0"/>
          </a:p>
        </p:txBody>
      </p:sp>
      <p:sp>
        <p:nvSpPr>
          <p:cNvPr id="41" name="Text 39"/>
          <p:cNvSpPr/>
          <p:nvPr/>
        </p:nvSpPr>
        <p:spPr>
          <a:xfrm>
            <a:off x="335834" y="4214711"/>
            <a:ext cx="8412480" cy="182880"/>
          </a:xfrm>
          <a:prstGeom prst="rect">
            <a:avLst/>
          </a:prstGeom>
          <a:noFill/>
          <a:ln/>
        </p:spPr>
        <p:txBody>
          <a:bodyPr wrap="square" rtlCol="0" anchor="ctr"/>
          <a:lstStyle/>
          <a:p>
            <a:pPr algn="ctr"/>
            <a:r>
              <a:rPr lang="en-US" sz="1000" i="1" dirty="0">
                <a:solidFill>
                  <a:srgbClr val="626568"/>
                </a:solidFill>
                <a:latin typeface="Arial" pitchFamily="34" charset="0"/>
                <a:ea typeface="Arial" pitchFamily="34" charset="-122"/>
                <a:cs typeface="Arial" pitchFamily="34" charset="-120"/>
              </a:rPr>
              <a:t>All three sources joined on NPI (National Provider Identifier ).</a:t>
            </a:r>
            <a:endParaRPr lang="en-US" sz="1000" i="1" dirty="0">
              <a:solidFill>
                <a:srgbClr val="626568"/>
              </a:solidFill>
              <a:latin typeface="Arial" pitchFamily="34" charset="0"/>
              <a:cs typeface="Arial" pitchFamily="34" charset="-120"/>
            </a:endParaRPr>
          </a:p>
        </p:txBody>
      </p:sp>
      <p:sp>
        <p:nvSpPr>
          <p:cNvPr id="3" name="Text 2">
            <a:extLst>
              <a:ext uri="{FF2B5EF4-FFF2-40B4-BE49-F238E27FC236}">
                <a16:creationId xmlns:a16="http://schemas.microsoft.com/office/drawing/2014/main" id="{05E22C58-A8AC-B7F7-2964-0DD273562345}"/>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13" name="Text 7">
            <a:extLst>
              <a:ext uri="{FF2B5EF4-FFF2-40B4-BE49-F238E27FC236}">
                <a16:creationId xmlns:a16="http://schemas.microsoft.com/office/drawing/2014/main" id="{C5FDDAB4-51DC-B087-3DAF-16B0CF3558A1}"/>
              </a:ext>
            </a:extLst>
          </p:cNvPr>
          <p:cNvSpPr/>
          <p:nvPr/>
        </p:nvSpPr>
        <p:spPr>
          <a:xfrm>
            <a:off x="116378" y="2059933"/>
            <a:ext cx="877824" cy="365760"/>
          </a:xfrm>
          <a:prstGeom prst="rect">
            <a:avLst/>
          </a:prstGeom>
          <a:noFill/>
          <a:ln/>
        </p:spPr>
        <p:txBody>
          <a:bodyPr wrap="square" rtlCol="0" anchor="t"/>
          <a:lstStyle/>
          <a:p>
            <a:pPr marL="0" indent="0">
              <a:buNone/>
            </a:pPr>
            <a:r>
              <a:rPr lang="en-US" sz="1000" b="1" dirty="0">
                <a:solidFill>
                  <a:srgbClr val="626568"/>
                </a:solidFill>
                <a:latin typeface="Arial" pitchFamily="34" charset="0"/>
                <a:ea typeface="Arial" pitchFamily="34" charset="-122"/>
                <a:cs typeface="Arial" pitchFamily="34" charset="-120"/>
              </a:rPr>
              <a:t>Means:</a:t>
            </a:r>
            <a:endParaRPr lang="en-US" sz="1000" dirty="0"/>
          </a:p>
        </p:txBody>
      </p:sp>
      <p:sp>
        <p:nvSpPr>
          <p:cNvPr id="14" name="Text 8">
            <a:extLst>
              <a:ext uri="{FF2B5EF4-FFF2-40B4-BE49-F238E27FC236}">
                <a16:creationId xmlns:a16="http://schemas.microsoft.com/office/drawing/2014/main" id="{7DBB091B-39D6-DD71-D190-BA62FBC76DBF}"/>
              </a:ext>
            </a:extLst>
          </p:cNvPr>
          <p:cNvSpPr/>
          <p:nvPr/>
        </p:nvSpPr>
        <p:spPr>
          <a:xfrm>
            <a:off x="1128869" y="2006875"/>
            <a:ext cx="1609344" cy="365760"/>
          </a:xfrm>
          <a:prstGeom prst="rect">
            <a:avLst/>
          </a:prstGeom>
          <a:noFill/>
          <a:ln/>
        </p:spPr>
        <p:txBody>
          <a:bodyPr wrap="square" rtlCol="0" anchor="t"/>
          <a:lstStyle/>
          <a:p>
            <a:r>
              <a:rPr lang="en-US" sz="1000" dirty="0">
                <a:solidFill>
                  <a:srgbClr val="2D2D2D"/>
                </a:solidFill>
                <a:latin typeface="Arial" pitchFamily="34" charset="0"/>
                <a:cs typeface="Arial" pitchFamily="34" charset="-120"/>
              </a:rPr>
              <a:t>Claims for outpatient medical services.</a:t>
            </a:r>
          </a:p>
          <a:p>
            <a:pPr marL="0" indent="0">
              <a:buNone/>
            </a:pPr>
            <a:endParaRPr lang="en-US" sz="1000" dirty="0"/>
          </a:p>
        </p:txBody>
      </p:sp>
      <p:sp>
        <p:nvSpPr>
          <p:cNvPr id="15" name="Text 8">
            <a:extLst>
              <a:ext uri="{FF2B5EF4-FFF2-40B4-BE49-F238E27FC236}">
                <a16:creationId xmlns:a16="http://schemas.microsoft.com/office/drawing/2014/main" id="{EAA746B4-B206-6AC8-599D-28DE1363B710}"/>
              </a:ext>
            </a:extLst>
          </p:cNvPr>
          <p:cNvSpPr/>
          <p:nvPr/>
        </p:nvSpPr>
        <p:spPr>
          <a:xfrm>
            <a:off x="4148881" y="2016912"/>
            <a:ext cx="1609344" cy="365760"/>
          </a:xfrm>
          <a:prstGeom prst="rect">
            <a:avLst/>
          </a:prstGeom>
          <a:noFill/>
          <a:ln/>
        </p:spPr>
        <p:txBody>
          <a:bodyPr wrap="square" rtlCol="0" anchor="t"/>
          <a:lstStyle/>
          <a:p>
            <a:r>
              <a:rPr lang="en-US" sz="1000" dirty="0">
                <a:solidFill>
                  <a:srgbClr val="2D2D2D"/>
                </a:solidFill>
                <a:latin typeface="Arial" pitchFamily="34" charset="0"/>
                <a:cs typeface="Arial" pitchFamily="34" charset="-120"/>
              </a:rPr>
              <a:t>Prescription drug claims.</a:t>
            </a:r>
          </a:p>
        </p:txBody>
      </p:sp>
      <p:sp>
        <p:nvSpPr>
          <p:cNvPr id="25" name="Text 7">
            <a:extLst>
              <a:ext uri="{FF2B5EF4-FFF2-40B4-BE49-F238E27FC236}">
                <a16:creationId xmlns:a16="http://schemas.microsoft.com/office/drawing/2014/main" id="{EEAB025B-1846-C893-0FEB-A4DEA004ADCB}"/>
              </a:ext>
            </a:extLst>
          </p:cNvPr>
          <p:cNvSpPr/>
          <p:nvPr/>
        </p:nvSpPr>
        <p:spPr>
          <a:xfrm>
            <a:off x="3152186" y="2020872"/>
            <a:ext cx="877824" cy="365760"/>
          </a:xfrm>
          <a:prstGeom prst="rect">
            <a:avLst/>
          </a:prstGeom>
          <a:noFill/>
          <a:ln/>
        </p:spPr>
        <p:txBody>
          <a:bodyPr wrap="square" rtlCol="0" anchor="t"/>
          <a:lstStyle/>
          <a:p>
            <a:pPr marL="0" indent="0">
              <a:buNone/>
            </a:pPr>
            <a:r>
              <a:rPr lang="en-US" sz="1000" b="1" dirty="0">
                <a:solidFill>
                  <a:srgbClr val="626568"/>
                </a:solidFill>
                <a:latin typeface="Arial" pitchFamily="34" charset="0"/>
                <a:ea typeface="Arial" pitchFamily="34" charset="-122"/>
                <a:cs typeface="Arial" pitchFamily="34" charset="-120"/>
              </a:rPr>
              <a:t>Means:</a:t>
            </a:r>
            <a:endParaRPr lang="en-US" sz="1000" dirty="0"/>
          </a:p>
        </p:txBody>
      </p:sp>
      <p:sp>
        <p:nvSpPr>
          <p:cNvPr id="26" name="PageNum">
            <a:extLst>
              <a:ext uri="{FF2B5EF4-FFF2-40B4-BE49-F238E27FC236}">
                <a16:creationId xmlns:a16="http://schemas.microsoft.com/office/drawing/2014/main" id="{50C27A29-250B-2E68-5493-EB5423F1116C}"/>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b="0" dirty="0">
                <a:solidFill>
                  <a:srgbClr val="FFFFFF"/>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The Class Imbalance Problem: 5,824 : 1</a:t>
            </a:r>
            <a:endParaRPr lang="en-US" sz="2400" dirty="0"/>
          </a:p>
        </p:txBody>
      </p:sp>
      <p:sp>
        <p:nvSpPr>
          <p:cNvPr id="5" name="Shape 3"/>
          <p:cNvSpPr/>
          <p:nvPr/>
        </p:nvSpPr>
        <p:spPr>
          <a:xfrm>
            <a:off x="365760" y="932688"/>
            <a:ext cx="2743200" cy="3081528"/>
          </a:xfrm>
          <a:prstGeom prst="roundRect">
            <a:avLst>
              <a:gd name="adj" fmla="val 2667"/>
            </a:avLst>
          </a:prstGeom>
          <a:solidFill>
            <a:srgbClr val="000000"/>
          </a:solidFill>
          <a:ln w="6350">
            <a:solidFill>
              <a:srgbClr val="000000"/>
            </a:solidFill>
            <a:prstDash val="solid"/>
          </a:ln>
          <a:effectLst>
            <a:outerShdw blurRad="63500" dist="25400" dir="2700000" algn="bl" rotWithShape="0">
              <a:srgbClr val="000000">
                <a:alpha val="10000"/>
              </a:srgbClr>
            </a:outerShdw>
          </a:effectLst>
        </p:spPr>
        <p:txBody>
          <a:bodyPr/>
          <a:lstStyle/>
          <a:p>
            <a:endParaRPr lang="en-US"/>
          </a:p>
        </p:txBody>
      </p:sp>
      <p:sp>
        <p:nvSpPr>
          <p:cNvPr id="8" name="Shape 6"/>
          <p:cNvSpPr/>
          <p:nvPr/>
        </p:nvSpPr>
        <p:spPr>
          <a:xfrm>
            <a:off x="429768" y="2291148"/>
            <a:ext cx="2560320" cy="29261"/>
          </a:xfrm>
          <a:prstGeom prst="rect">
            <a:avLst/>
          </a:prstGeom>
          <a:solidFill>
            <a:srgbClr val="D61920"/>
          </a:solidFill>
          <a:ln w="12700">
            <a:solidFill>
              <a:srgbClr val="D61920"/>
            </a:solidFill>
            <a:prstDash val="solid"/>
          </a:ln>
        </p:spPr>
        <p:txBody>
          <a:bodyPr/>
          <a:lstStyle/>
          <a:p>
            <a:endParaRPr lang="en-US"/>
          </a:p>
        </p:txBody>
      </p:sp>
      <p:sp>
        <p:nvSpPr>
          <p:cNvPr id="9" name="Text 7"/>
          <p:cNvSpPr/>
          <p:nvPr/>
        </p:nvSpPr>
        <p:spPr>
          <a:xfrm>
            <a:off x="429768" y="1089063"/>
            <a:ext cx="2560320" cy="380390"/>
          </a:xfrm>
          <a:prstGeom prst="rect">
            <a:avLst/>
          </a:prstGeom>
          <a:noFill/>
          <a:ln/>
        </p:spPr>
        <p:txBody>
          <a:bodyPr wrap="square" rtlCol="0" anchor="ctr"/>
          <a:lstStyle/>
          <a:p>
            <a:pPr marL="0" indent="0" algn="ctr">
              <a:buNone/>
            </a:pPr>
            <a:r>
              <a:rPr lang="en-US" sz="4000" b="1" dirty="0">
                <a:solidFill>
                  <a:srgbClr val="D61920"/>
                </a:solidFill>
                <a:latin typeface="Arial" pitchFamily="34" charset="0"/>
                <a:cs typeface="Arial" pitchFamily="34" charset="-120"/>
              </a:rPr>
              <a:t>1,572,414</a:t>
            </a:r>
          </a:p>
        </p:txBody>
      </p:sp>
      <p:sp>
        <p:nvSpPr>
          <p:cNvPr id="10" name="Text 8"/>
          <p:cNvSpPr/>
          <p:nvPr/>
        </p:nvSpPr>
        <p:spPr>
          <a:xfrm>
            <a:off x="429768" y="1642781"/>
            <a:ext cx="2560320" cy="204826"/>
          </a:xfrm>
          <a:prstGeom prst="rect">
            <a:avLst/>
          </a:prstGeom>
          <a:noFill/>
          <a:ln/>
        </p:spPr>
        <p:txBody>
          <a:bodyPr wrap="square" rtlCol="0" anchor="ctr"/>
          <a:lstStyle/>
          <a:p>
            <a:pPr marL="0" indent="0" algn="ctr">
              <a:buNone/>
            </a:pPr>
            <a:r>
              <a:rPr lang="en-US" sz="1200" dirty="0">
                <a:solidFill>
                  <a:srgbClr val="AAAAAA"/>
                </a:solidFill>
                <a:latin typeface="Arial" pitchFamily="34" charset="0"/>
                <a:ea typeface="Arial" pitchFamily="34" charset="-122"/>
                <a:cs typeface="Arial" pitchFamily="34" charset="-120"/>
              </a:rPr>
              <a:t>total providers</a:t>
            </a:r>
            <a:endParaRPr lang="en-US" sz="1200" dirty="0"/>
          </a:p>
        </p:txBody>
      </p:sp>
      <p:sp>
        <p:nvSpPr>
          <p:cNvPr id="11" name="Text 9"/>
          <p:cNvSpPr/>
          <p:nvPr/>
        </p:nvSpPr>
        <p:spPr>
          <a:xfrm>
            <a:off x="429768" y="1876868"/>
            <a:ext cx="2560320" cy="204826"/>
          </a:xfrm>
          <a:prstGeom prst="rect">
            <a:avLst/>
          </a:prstGeom>
          <a:noFill/>
          <a:ln/>
        </p:spPr>
        <p:txBody>
          <a:bodyPr wrap="square" rtlCol="0" anchor="ctr"/>
          <a:lstStyle/>
          <a:p>
            <a:pPr marL="0" indent="0" algn="ctr">
              <a:buNone/>
            </a:pPr>
            <a:r>
              <a:rPr lang="en-US" sz="1100" dirty="0">
                <a:solidFill>
                  <a:srgbClr val="AAAAAA"/>
                </a:solidFill>
                <a:latin typeface="Arial" pitchFamily="34" charset="0"/>
                <a:ea typeface="Arial" pitchFamily="34" charset="-122"/>
                <a:cs typeface="Arial" pitchFamily="34" charset="-120"/>
              </a:rPr>
              <a:t>270  fraud  ·  1,572,144  legitimate</a:t>
            </a:r>
            <a:endParaRPr lang="en-US" sz="1100" dirty="0"/>
          </a:p>
        </p:txBody>
      </p:sp>
      <p:sp>
        <p:nvSpPr>
          <p:cNvPr id="12" name="Shape 10"/>
          <p:cNvSpPr/>
          <p:nvPr/>
        </p:nvSpPr>
        <p:spPr>
          <a:xfrm>
            <a:off x="3227832" y="932688"/>
            <a:ext cx="5486400" cy="3081528"/>
          </a:xfrm>
          <a:prstGeom prst="roundRect">
            <a:avLst>
              <a:gd name="adj" fmla="val 1882"/>
            </a:avLst>
          </a:prstGeom>
          <a:solidFill>
            <a:srgbClr val="F4F4F4"/>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3" name="Text 11"/>
          <p:cNvSpPr/>
          <p:nvPr/>
        </p:nvSpPr>
        <p:spPr>
          <a:xfrm>
            <a:off x="3419856" y="1005840"/>
            <a:ext cx="5230368" cy="263347"/>
          </a:xfrm>
          <a:prstGeom prst="rect">
            <a:avLst/>
          </a:prstGeom>
          <a:noFill/>
          <a:ln/>
        </p:spPr>
        <p:txBody>
          <a:bodyPr wrap="square" rtlCol="0" anchor="ctr"/>
          <a:lstStyle/>
          <a:p>
            <a:pPr marL="0" indent="0">
              <a:buNone/>
            </a:pPr>
            <a:r>
              <a:rPr lang="en-US" sz="1400" b="1" dirty="0">
                <a:solidFill>
                  <a:srgbClr val="2D2D2D"/>
                </a:solidFill>
                <a:latin typeface="Arial" pitchFamily="34" charset="0"/>
                <a:ea typeface="Arial" pitchFamily="34" charset="-122"/>
                <a:cs typeface="Arial" pitchFamily="34" charset="-120"/>
              </a:rPr>
              <a:t>Why standard ML fails at this ratio:</a:t>
            </a:r>
            <a:endParaRPr lang="en-US" sz="1400" dirty="0"/>
          </a:p>
        </p:txBody>
      </p:sp>
      <p:sp>
        <p:nvSpPr>
          <p:cNvPr id="14" name="Shape 12"/>
          <p:cNvSpPr/>
          <p:nvPr/>
        </p:nvSpPr>
        <p:spPr>
          <a:xfrm>
            <a:off x="3438144" y="1499616"/>
            <a:ext cx="347472" cy="277978"/>
          </a:xfrm>
          <a:prstGeom prst="ellipse">
            <a:avLst/>
          </a:prstGeom>
          <a:solidFill>
            <a:srgbClr val="D61920"/>
          </a:solidFill>
          <a:ln w="12700">
            <a:solidFill>
              <a:srgbClr val="D61920"/>
            </a:solidFill>
            <a:prstDash val="solid"/>
          </a:ln>
        </p:spPr>
        <p:txBody>
          <a:bodyPr/>
          <a:lstStyle/>
          <a:p>
            <a:endParaRPr lang="en-US"/>
          </a:p>
        </p:txBody>
      </p:sp>
      <p:sp>
        <p:nvSpPr>
          <p:cNvPr id="15" name="Text 13"/>
          <p:cNvSpPr/>
          <p:nvPr/>
        </p:nvSpPr>
        <p:spPr>
          <a:xfrm>
            <a:off x="3438144" y="1499616"/>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8" name="Shape 16"/>
          <p:cNvSpPr/>
          <p:nvPr/>
        </p:nvSpPr>
        <p:spPr>
          <a:xfrm>
            <a:off x="3438144" y="2509361"/>
            <a:ext cx="347472" cy="277978"/>
          </a:xfrm>
          <a:prstGeom prst="ellipse">
            <a:avLst/>
          </a:prstGeom>
          <a:solidFill>
            <a:srgbClr val="D61920"/>
          </a:solidFill>
          <a:ln w="12700">
            <a:solidFill>
              <a:srgbClr val="D61920"/>
            </a:solidFill>
            <a:prstDash val="solid"/>
          </a:ln>
        </p:spPr>
        <p:txBody>
          <a:bodyPr/>
          <a:lstStyle/>
          <a:p>
            <a:endParaRPr lang="en-US"/>
          </a:p>
        </p:txBody>
      </p:sp>
      <p:sp>
        <p:nvSpPr>
          <p:cNvPr id="19" name="Text 17"/>
          <p:cNvSpPr/>
          <p:nvPr/>
        </p:nvSpPr>
        <p:spPr>
          <a:xfrm>
            <a:off x="3438144" y="2509361"/>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20" name="Text 18"/>
          <p:cNvSpPr/>
          <p:nvPr/>
        </p:nvSpPr>
        <p:spPr>
          <a:xfrm>
            <a:off x="3931920" y="1437955"/>
            <a:ext cx="4754880" cy="204826"/>
          </a:xfrm>
          <a:prstGeom prst="rect">
            <a:avLst/>
          </a:prstGeom>
          <a:noFill/>
          <a:ln/>
        </p:spPr>
        <p:txBody>
          <a:bodyPr wrap="square" rtlCol="0" anchor="ctr"/>
          <a:lstStyle/>
          <a:p>
            <a:r>
              <a:rPr lang="en-US" sz="1250" b="1" dirty="0">
                <a:solidFill>
                  <a:srgbClr val="2D2D2D"/>
                </a:solidFill>
                <a:latin typeface="Arial" pitchFamily="34" charset="0"/>
                <a:cs typeface="Arial" pitchFamily="34" charset="-120"/>
              </a:rPr>
              <a:t>Accuracy is misleading:</a:t>
            </a:r>
          </a:p>
        </p:txBody>
      </p:sp>
      <p:sp>
        <p:nvSpPr>
          <p:cNvPr id="21" name="Text 19"/>
          <p:cNvSpPr/>
          <p:nvPr/>
        </p:nvSpPr>
        <p:spPr>
          <a:xfrm>
            <a:off x="3931920" y="1657411"/>
            <a:ext cx="4754880" cy="277978"/>
          </a:xfrm>
          <a:prstGeom prst="rect">
            <a:avLst/>
          </a:prstGeom>
          <a:noFill/>
          <a:ln/>
        </p:spPr>
        <p:txBody>
          <a:bodyPr wrap="square" rtlCol="0" anchor="ctr"/>
          <a:lstStyle/>
          <a:p>
            <a:r>
              <a:rPr lang="en-US" sz="1100" dirty="0">
                <a:solidFill>
                  <a:srgbClr val="626568"/>
                </a:solidFill>
                <a:latin typeface="Arial" pitchFamily="34" charset="0"/>
                <a:cs typeface="Arial" pitchFamily="34" charset="-120"/>
              </a:rPr>
              <a:t>A model can achieve 99.98% accuracy while detecting zero fraud.</a:t>
            </a:r>
          </a:p>
          <a:p>
            <a:pPr marL="0" indent="0">
              <a:buNone/>
            </a:pPr>
            <a:endParaRPr lang="en-US" sz="1100" dirty="0"/>
          </a:p>
        </p:txBody>
      </p:sp>
      <p:sp>
        <p:nvSpPr>
          <p:cNvPr id="24" name="Text 22"/>
          <p:cNvSpPr/>
          <p:nvPr/>
        </p:nvSpPr>
        <p:spPr>
          <a:xfrm>
            <a:off x="3931920" y="2433477"/>
            <a:ext cx="4754880" cy="204826"/>
          </a:xfrm>
          <a:prstGeom prst="rect">
            <a:avLst/>
          </a:prstGeom>
          <a:noFill/>
          <a:ln/>
        </p:spPr>
        <p:txBody>
          <a:bodyPr wrap="square" rtlCol="0" anchor="ctr"/>
          <a:lstStyle/>
          <a:p>
            <a:r>
              <a:rPr lang="en-US" sz="1250" b="1" dirty="0">
                <a:solidFill>
                  <a:srgbClr val="2D2D2D"/>
                </a:solidFill>
                <a:latin typeface="Arial" pitchFamily="34" charset="0"/>
                <a:cs typeface="Arial" pitchFamily="34" charset="-120"/>
              </a:rPr>
              <a:t>Standard ML favors the majority:</a:t>
            </a:r>
          </a:p>
        </p:txBody>
      </p:sp>
      <p:sp>
        <p:nvSpPr>
          <p:cNvPr id="25" name="Text 23"/>
          <p:cNvSpPr/>
          <p:nvPr/>
        </p:nvSpPr>
        <p:spPr>
          <a:xfrm>
            <a:off x="3931920" y="2652933"/>
            <a:ext cx="4754880" cy="277978"/>
          </a:xfrm>
          <a:prstGeom prst="rect">
            <a:avLst/>
          </a:prstGeom>
          <a:noFill/>
          <a:ln/>
        </p:spPr>
        <p:txBody>
          <a:bodyPr wrap="square" rtlCol="0" anchor="ctr"/>
          <a:lstStyle/>
          <a:p>
            <a:r>
              <a:rPr lang="en-US" sz="1100" dirty="0">
                <a:solidFill>
                  <a:srgbClr val="626568"/>
                </a:solidFill>
                <a:latin typeface="Arial" pitchFamily="34" charset="0"/>
                <a:cs typeface="Arial" pitchFamily="34" charset="-120"/>
              </a:rPr>
              <a:t> Models primarily learn legitimate provider patterns and overlook fraud.</a:t>
            </a:r>
          </a:p>
        </p:txBody>
      </p:sp>
      <p:sp>
        <p:nvSpPr>
          <p:cNvPr id="27" name="Text 25"/>
          <p:cNvSpPr/>
          <p:nvPr/>
        </p:nvSpPr>
        <p:spPr>
          <a:xfrm>
            <a:off x="3419856" y="3215030"/>
            <a:ext cx="5230368" cy="643738"/>
          </a:xfrm>
          <a:prstGeom prst="rect">
            <a:avLst/>
          </a:prstGeom>
          <a:noFill/>
          <a:ln/>
        </p:spPr>
        <p:txBody>
          <a:bodyPr wrap="square" rtlCol="0" anchor="ctr"/>
          <a:lstStyle/>
          <a:p>
            <a:pPr marL="0" indent="0">
              <a:buNone/>
            </a:pPr>
            <a:r>
              <a:rPr lang="en-US" sz="1200" b="1" dirty="0">
                <a:solidFill>
                  <a:srgbClr val="D61920"/>
                </a:solidFill>
                <a:latin typeface="Arial" pitchFamily="34" charset="0"/>
                <a:ea typeface="Arial" pitchFamily="34" charset="-122"/>
                <a:cs typeface="Arial" pitchFamily="34" charset="-120"/>
              </a:rPr>
              <a:t>Solution: Three resampling strategies evaluated.</a:t>
            </a:r>
            <a:endParaRPr lang="en-US" sz="1200" dirty="0"/>
          </a:p>
        </p:txBody>
      </p:sp>
      <p:sp>
        <p:nvSpPr>
          <p:cNvPr id="29" name="Text 4">
            <a:extLst>
              <a:ext uri="{FF2B5EF4-FFF2-40B4-BE49-F238E27FC236}">
                <a16:creationId xmlns:a16="http://schemas.microsoft.com/office/drawing/2014/main" id="{575F8D3D-0242-1420-E1D4-2CF400A9F7CC}"/>
              </a:ext>
            </a:extLst>
          </p:cNvPr>
          <p:cNvSpPr/>
          <p:nvPr/>
        </p:nvSpPr>
        <p:spPr>
          <a:xfrm>
            <a:off x="457200" y="2370125"/>
            <a:ext cx="2560320" cy="804672"/>
          </a:xfrm>
          <a:prstGeom prst="rect">
            <a:avLst/>
          </a:prstGeom>
          <a:noFill/>
          <a:ln/>
        </p:spPr>
        <p:txBody>
          <a:bodyPr wrap="square" rtlCol="0" anchor="ctr"/>
          <a:lstStyle/>
          <a:p>
            <a:pPr marL="0" indent="0" algn="ctr">
              <a:buNone/>
            </a:pPr>
            <a:r>
              <a:rPr lang="en-US" sz="4400" b="1" dirty="0">
                <a:solidFill>
                  <a:srgbClr val="D61920"/>
                </a:solidFill>
                <a:latin typeface="Arial" pitchFamily="34" charset="0"/>
                <a:ea typeface="Arial" pitchFamily="34" charset="-122"/>
                <a:cs typeface="Arial" pitchFamily="34" charset="-120"/>
              </a:rPr>
              <a:t>5,824 : 1</a:t>
            </a:r>
            <a:endParaRPr lang="en-US" sz="4400" dirty="0"/>
          </a:p>
        </p:txBody>
      </p:sp>
      <p:sp>
        <p:nvSpPr>
          <p:cNvPr id="30" name="Text 5">
            <a:extLst>
              <a:ext uri="{FF2B5EF4-FFF2-40B4-BE49-F238E27FC236}">
                <a16:creationId xmlns:a16="http://schemas.microsoft.com/office/drawing/2014/main" id="{BC1BDA90-C317-9B04-D490-0FDF30EB93A0}"/>
              </a:ext>
            </a:extLst>
          </p:cNvPr>
          <p:cNvSpPr/>
          <p:nvPr/>
        </p:nvSpPr>
        <p:spPr>
          <a:xfrm>
            <a:off x="429768" y="3178182"/>
            <a:ext cx="2560320" cy="263347"/>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legitimate : fraud</a:t>
            </a:r>
            <a:endParaRPr lang="en-US" sz="1400" dirty="0"/>
          </a:p>
        </p:txBody>
      </p:sp>
      <p:sp>
        <p:nvSpPr>
          <p:cNvPr id="3" name="Text 2">
            <a:extLst>
              <a:ext uri="{FF2B5EF4-FFF2-40B4-BE49-F238E27FC236}">
                <a16:creationId xmlns:a16="http://schemas.microsoft.com/office/drawing/2014/main" id="{C2F0F50B-5467-74AE-72D9-15CE4CB374B8}"/>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4" name="PageNum">
            <a:extLst>
              <a:ext uri="{FF2B5EF4-FFF2-40B4-BE49-F238E27FC236}">
                <a16:creationId xmlns:a16="http://schemas.microsoft.com/office/drawing/2014/main" id="{A7D7CF8F-DEF2-0463-AD15-30733209FD28}"/>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b="0" dirty="0">
                <a:solidFill>
                  <a:srgbClr val="FFFFFF"/>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841248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rPr>
              <a:t>Feature Engineering: Two Feature Sets</a:t>
            </a:r>
          </a:p>
        </p:txBody>
      </p:sp>
      <p:graphicFrame>
        <p:nvGraphicFramePr>
          <p:cNvPr id="30" name="Table 29"/>
          <p:cNvGraphicFramePr>
            <a:graphicFrameLocks noGrp="1"/>
          </p:cNvGraphicFramePr>
          <p:nvPr/>
        </p:nvGraphicFramePr>
        <p:xfrm>
          <a:off x="365760" y="685800"/>
          <a:ext cx="8412480" cy="2480000"/>
        </p:xfrm>
        <a:graphic>
          <a:graphicData uri="http://schemas.openxmlformats.org/drawingml/2006/table">
            <a:tbl>
              <a:tblPr/>
              <a:tblGrid>
                <a:gridCol w="16459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80000">
                <a:tc>
                  <a:txBody>
                    <a:bodyPr/>
                    <a:lstStyle/>
                    <a:p>
                      <a:endParaRPr lang="en-US" dirty="0"/>
                    </a:p>
                  </a:txBody>
                  <a:tcPr>
                    <a:solidFill>
                      <a:srgbClr val="2D2D2D"/>
                    </a:solidFill>
                  </a:tcPr>
                </a:tc>
                <a:tc>
                  <a:txBody>
                    <a:bodyPr/>
                    <a:lstStyle/>
                    <a:p>
                      <a:pPr algn="ctr">
                        <a:buNone/>
                      </a:pPr>
                      <a:r>
                        <a:rPr lang="en-US" sz="1400" b="1" dirty="0">
                          <a:solidFill>
                            <a:srgbClr val="FFFFFF"/>
                          </a:solidFill>
                          <a:latin typeface="Arial" pitchFamily="34" charset="0"/>
                        </a:rPr>
                        <a:t>Baseline Feature Set</a:t>
                      </a:r>
                    </a:p>
                  </a:txBody>
                  <a:tcPr>
                    <a:solidFill>
                      <a:srgbClr val="D61920"/>
                    </a:solidFill>
                  </a:tcPr>
                </a:tc>
                <a:tc>
                  <a:txBody>
                    <a:bodyPr/>
                    <a:lstStyle/>
                    <a:p>
                      <a:pPr algn="ctr">
                        <a:buNone/>
                      </a:pPr>
                      <a:r>
                        <a:rPr lang="en-US" sz="1400" b="1" dirty="0">
                          <a:solidFill>
                            <a:srgbClr val="FFFFFF"/>
                          </a:solidFill>
                          <a:latin typeface="Arial" pitchFamily="34" charset="0"/>
                        </a:rPr>
                        <a:t>Extended Feature Set</a:t>
                      </a:r>
                    </a:p>
                  </a:txBody>
                  <a:tcPr>
                    <a:solidFill>
                      <a:srgbClr val="9B1015"/>
                    </a:solidFill>
                  </a:tcPr>
                </a:tc>
                <a:extLst>
                  <a:ext uri="{0D108BD9-81ED-4DB2-BD59-A6C34878D82A}">
                    <a16:rowId xmlns:a16="http://schemas.microsoft.com/office/drawing/2014/main" val="10000"/>
                  </a:ext>
                </a:extLst>
              </a:tr>
              <a:tr h="500000">
                <a:tc>
                  <a:txBody>
                    <a:bodyPr/>
                    <a:lstStyle/>
                    <a:p>
                      <a:pPr marL="0" indent="0">
                        <a:buNone/>
                      </a:pPr>
                      <a:r>
                        <a:rPr lang="en-US" sz="1100" b="1" dirty="0">
                          <a:solidFill>
                            <a:srgbClr val="FFFFFF"/>
                          </a:solidFill>
                          <a:latin typeface="Arial" pitchFamily="34" charset="0"/>
                        </a:rPr>
                        <a:t>Number of Features</a:t>
                      </a:r>
                    </a:p>
                  </a:txBody>
                  <a:tcPr>
                    <a:solidFill>
                      <a:srgbClr val="3D3D3D"/>
                    </a:solidFill>
                  </a:tcPr>
                </a:tc>
                <a:tc>
                  <a:txBody>
                    <a:bodyPr/>
                    <a:lstStyle/>
                    <a:p>
                      <a:pPr algn="ctr">
                        <a:buNone/>
                      </a:pPr>
                      <a:r>
                        <a:rPr lang="en-US" sz="2400" b="1" dirty="0">
                          <a:solidFill>
                            <a:srgbClr val="D61920"/>
                          </a:solidFill>
                          <a:latin typeface="Arial" pitchFamily="34" charset="0"/>
                        </a:rPr>
                        <a:t>39</a:t>
                      </a:r>
                    </a:p>
                  </a:txBody>
                  <a:tcPr>
                    <a:solidFill>
                      <a:srgbClr val="F8F8F8"/>
                    </a:solidFill>
                  </a:tcPr>
                </a:tc>
                <a:tc>
                  <a:txBody>
                    <a:bodyPr/>
                    <a:lstStyle/>
                    <a:p>
                      <a:pPr algn="ctr">
                        <a:buNone/>
                      </a:pPr>
                      <a:r>
                        <a:rPr lang="en-US" sz="2400" b="1" dirty="0">
                          <a:solidFill>
                            <a:srgbClr val="D61920"/>
                          </a:solidFill>
                          <a:latin typeface="Arial" pitchFamily="34" charset="0"/>
                        </a:rPr>
                        <a:t>57</a:t>
                      </a:r>
                    </a:p>
                  </a:txBody>
                  <a:tcPr>
                    <a:solidFill>
                      <a:srgbClr val="F8F8F8"/>
                    </a:solidFill>
                  </a:tcPr>
                </a:tc>
                <a:extLst>
                  <a:ext uri="{0D108BD9-81ED-4DB2-BD59-A6C34878D82A}">
                    <a16:rowId xmlns:a16="http://schemas.microsoft.com/office/drawing/2014/main" val="10001"/>
                  </a:ext>
                </a:extLst>
              </a:tr>
              <a:tr h="500000">
                <a:tc>
                  <a:txBody>
                    <a:bodyPr/>
                    <a:lstStyle/>
                    <a:p>
                      <a:pPr marL="0" indent="0">
                        <a:buNone/>
                      </a:pPr>
                      <a:r>
                        <a:rPr lang="en-US" sz="1100" b="1" dirty="0">
                          <a:solidFill>
                            <a:srgbClr val="FFFFFF"/>
                          </a:solidFill>
                          <a:latin typeface="Arial" pitchFamily="34" charset="0"/>
                        </a:rPr>
                        <a:t>Data Sources</a:t>
                      </a:r>
                    </a:p>
                  </a:txBody>
                  <a:tcPr>
                    <a:solidFill>
                      <a:srgbClr val="3D3D3D"/>
                    </a:solidFill>
                  </a:tcPr>
                </a:tc>
                <a:tc>
                  <a:txBody>
                    <a:bodyPr/>
                    <a:lstStyle/>
                    <a:p>
                      <a:pPr algn="ctr">
                        <a:buNone/>
                      </a:pPr>
                      <a:r>
                        <a:rPr lang="en-US" sz="1000" dirty="0">
                          <a:solidFill>
                            <a:srgbClr val="2D2D2D"/>
                          </a:solidFill>
                          <a:latin typeface="Arial" pitchFamily="34" charset="0"/>
                        </a:rPr>
                        <a:t>CMS Part B + CMS Part D</a:t>
                      </a:r>
                    </a:p>
                  </a:txBody>
                  <a:tcPr>
                    <a:solidFill>
                      <a:srgbClr val="EFEFEF"/>
                    </a:solidFill>
                  </a:tcPr>
                </a:tc>
                <a:tc>
                  <a:txBody>
                    <a:bodyPr/>
                    <a:lstStyle/>
                    <a:p>
                      <a:pPr algn="ctr">
                        <a:buNone/>
                      </a:pPr>
                      <a:r>
                        <a:rPr lang="en-US" sz="1000" dirty="0">
                          <a:solidFill>
                            <a:srgbClr val="2D2D2D"/>
                          </a:solidFill>
                          <a:latin typeface="Arial" pitchFamily="34" charset="0"/>
                        </a:rPr>
                        <a:t>CMS Part B + CMS Part D + Engineered Features</a:t>
                      </a:r>
                    </a:p>
                  </a:txBody>
                  <a:tcPr>
                    <a:solidFill>
                      <a:srgbClr val="EFEFEF"/>
                    </a:solidFill>
                  </a:tcPr>
                </a:tc>
                <a:extLst>
                  <a:ext uri="{0D108BD9-81ED-4DB2-BD59-A6C34878D82A}">
                    <a16:rowId xmlns:a16="http://schemas.microsoft.com/office/drawing/2014/main" val="10002"/>
                  </a:ext>
                </a:extLst>
              </a:tr>
              <a:tr h="500000">
                <a:tc>
                  <a:txBody>
                    <a:bodyPr/>
                    <a:lstStyle/>
                    <a:p>
                      <a:pPr marL="0" indent="0">
                        <a:buNone/>
                      </a:pPr>
                      <a:r>
                        <a:rPr lang="en-US" sz="1100" b="1" dirty="0">
                          <a:solidFill>
                            <a:srgbClr val="FFFFFF"/>
                          </a:solidFill>
                          <a:latin typeface="Arial" pitchFamily="34" charset="0"/>
                        </a:rPr>
                        <a:t>Difference</a:t>
                      </a:r>
                    </a:p>
                  </a:txBody>
                  <a:tcPr>
                    <a:solidFill>
                      <a:srgbClr val="3D3D3D"/>
                    </a:solidFill>
                  </a:tcPr>
                </a:tc>
                <a:tc>
                  <a:txBody>
                    <a:bodyPr/>
                    <a:lstStyle/>
                    <a:p>
                      <a:pPr algn="ctr">
                        <a:buNone/>
                      </a:pPr>
                      <a:r>
                        <a:rPr lang="en-US" sz="1000" dirty="0">
                          <a:solidFill>
                            <a:srgbClr val="2D2D2D"/>
                          </a:solidFill>
                          <a:latin typeface="Arial" pitchFamily="34" charset="0"/>
                        </a:rPr>
                        <a:t>Highly correlated features removed</a:t>
                      </a:r>
                    </a:p>
                  </a:txBody>
                  <a:tcPr>
                    <a:solidFill>
                      <a:srgbClr val="F8F8F8"/>
                    </a:solidFill>
                  </a:tcPr>
                </a:tc>
                <a:tc>
                  <a:txBody>
                    <a:bodyPr/>
                    <a:lstStyle/>
                    <a:p>
                      <a:pPr algn="ctr">
                        <a:buNone/>
                      </a:pPr>
                      <a:r>
                        <a:rPr lang="en-US" sz="1000" dirty="0">
                          <a:solidFill>
                            <a:srgbClr val="2D2D2D"/>
                          </a:solidFill>
                          <a:latin typeface="Arial" pitchFamily="34" charset="0"/>
                        </a:rPr>
                        <a:t>Includes all engineered fraud-risk indicators</a:t>
                      </a:r>
                    </a:p>
                  </a:txBody>
                  <a:tcPr>
                    <a:solidFill>
                      <a:srgbClr val="F8F8F8"/>
                    </a:solidFill>
                  </a:tcPr>
                </a:tc>
                <a:extLst>
                  <a:ext uri="{0D108BD9-81ED-4DB2-BD59-A6C34878D82A}">
                    <a16:rowId xmlns:a16="http://schemas.microsoft.com/office/drawing/2014/main" val="10003"/>
                  </a:ext>
                </a:extLst>
              </a:tr>
              <a:tr h="500000">
                <a:tc>
                  <a:txBody>
                    <a:bodyPr/>
                    <a:lstStyle/>
                    <a:p>
                      <a:pPr marL="0" indent="0">
                        <a:buNone/>
                      </a:pPr>
                      <a:r>
                        <a:rPr lang="en-US" sz="1100" b="1" dirty="0">
                          <a:solidFill>
                            <a:srgbClr val="FFFFFF"/>
                          </a:solidFill>
                          <a:latin typeface="Arial" pitchFamily="34" charset="0"/>
                        </a:rPr>
                        <a:t>Purpose</a:t>
                      </a:r>
                    </a:p>
                  </a:txBody>
                  <a:tcPr>
                    <a:solidFill>
                      <a:srgbClr val="3D3D3D"/>
                    </a:solidFill>
                  </a:tcPr>
                </a:tc>
                <a:tc>
                  <a:txBody>
                    <a:bodyPr/>
                    <a:lstStyle/>
                    <a:p>
                      <a:pPr algn="ctr">
                        <a:buNone/>
                      </a:pPr>
                      <a:r>
                        <a:rPr lang="en-US" sz="1000" dirty="0">
                          <a:solidFill>
                            <a:srgbClr val="2D2D2D"/>
                          </a:solidFill>
                          <a:latin typeface="Arial" pitchFamily="34" charset="0"/>
                        </a:rPr>
                        <a:t>Simpler feature set</a:t>
                      </a:r>
                    </a:p>
                  </a:txBody>
                  <a:tcPr>
                    <a:solidFill>
                      <a:srgbClr val="EFEFEF"/>
                    </a:solidFill>
                  </a:tcPr>
                </a:tc>
                <a:tc>
                  <a:txBody>
                    <a:bodyPr/>
                    <a:lstStyle/>
                    <a:p>
                      <a:pPr algn="ctr">
                        <a:buNone/>
                      </a:pPr>
                      <a:r>
                        <a:rPr lang="en-US" sz="1000" dirty="0">
                          <a:solidFill>
                            <a:srgbClr val="2D2D2D"/>
                          </a:solidFill>
                          <a:latin typeface="Arial" pitchFamily="34" charset="0"/>
                        </a:rPr>
                        <a:t>Evaluate whether additional engineered features improve performance</a:t>
                      </a:r>
                    </a:p>
                  </a:txBody>
                  <a:tcPr>
                    <a:solidFill>
                      <a:srgbClr val="EFEFEF"/>
                    </a:solidFill>
                  </a:tcPr>
                </a:tc>
                <a:extLst>
                  <a:ext uri="{0D108BD9-81ED-4DB2-BD59-A6C34878D82A}">
                    <a16:rowId xmlns:a16="http://schemas.microsoft.com/office/drawing/2014/main" val="10004"/>
                  </a:ext>
                </a:extLst>
              </a:tr>
            </a:tbl>
          </a:graphicData>
        </a:graphic>
      </p:graphicFrame>
      <p:sp>
        <p:nvSpPr>
          <p:cNvPr id="40" name="Text 40"/>
          <p:cNvSpPr/>
          <p:nvPr/>
        </p:nvSpPr>
        <p:spPr>
          <a:xfrm>
            <a:off x="365760" y="3225800"/>
            <a:ext cx="8412480" cy="250000"/>
          </a:xfrm>
          <a:prstGeom prst="rect">
            <a:avLst/>
          </a:prstGeom>
          <a:noFill/>
          <a:ln/>
        </p:spPr>
        <p:txBody>
          <a:bodyPr wrap="square" rtlCol="0" anchor="ctr"/>
          <a:lstStyle/>
          <a:p>
            <a:pPr marL="0" indent="0">
              <a:buNone/>
            </a:pPr>
            <a:r>
              <a:rPr lang="en-US" sz="1100" b="1" dirty="0">
                <a:solidFill>
                  <a:srgbClr val="626568"/>
                </a:solidFill>
                <a:latin typeface="Arial" pitchFamily="34" charset="0"/>
              </a:rPr>
              <a:t>Example Engineered Features:</a:t>
            </a:r>
          </a:p>
        </p:txBody>
      </p:sp>
      <p:sp>
        <p:nvSpPr>
          <p:cNvPr id="41" name="Shape 41"/>
          <p:cNvSpPr/>
          <p:nvPr/>
        </p:nvSpPr>
        <p:spPr>
          <a:xfrm>
            <a:off x="365760" y="3510000"/>
            <a:ext cx="2712720" cy="924338"/>
          </a:xfrm>
          <a:prstGeom prst="roundRect">
            <a:avLst>
              <a:gd name="adj" fmla="val 8000"/>
            </a:avLst>
          </a:prstGeom>
          <a:solidFill>
            <a:srgbClr val="FFF0F0"/>
          </a:solidFill>
          <a:ln w="9525">
            <a:solidFill>
              <a:srgbClr val="FDCACA"/>
            </a:solidFill>
          </a:ln>
        </p:spPr>
        <p:txBody>
          <a:bodyPr/>
          <a:lstStyle/>
          <a:p>
            <a:endParaRPr lang="en-US"/>
          </a:p>
        </p:txBody>
      </p:sp>
      <p:sp>
        <p:nvSpPr>
          <p:cNvPr id="42" name="Text 42"/>
          <p:cNvSpPr/>
          <p:nvPr/>
        </p:nvSpPr>
        <p:spPr>
          <a:xfrm>
            <a:off x="365760" y="3510000"/>
            <a:ext cx="2712720" cy="1150000"/>
          </a:xfrm>
          <a:prstGeom prst="rect">
            <a:avLst/>
          </a:prstGeom>
          <a:noFill/>
          <a:ln/>
        </p:spPr>
        <p:txBody>
          <a:bodyPr wrap="square" lIns="137160" tIns="91440" rIns="137160" bIns="91440" rtlCol="0" anchor="t"/>
          <a:lstStyle/>
          <a:p>
            <a:pPr algn="ctr">
              <a:buNone/>
            </a:pPr>
            <a:r>
              <a:rPr lang="en-US" sz="1100" b="1" dirty="0">
                <a:solidFill>
                  <a:srgbClr val="2D2D2D"/>
                </a:solidFill>
                <a:latin typeface="Arial" pitchFamily="34" charset="0"/>
              </a:rPr>
              <a:t>Services per Beneficiary</a:t>
            </a:r>
          </a:p>
          <a:p>
            <a:pPr algn="ctr">
              <a:buNone/>
            </a:pPr>
            <a:endParaRPr lang="en-US" sz="950" dirty="0">
              <a:solidFill>
                <a:srgbClr val="626568"/>
              </a:solidFill>
              <a:latin typeface="Arial" pitchFamily="34" charset="0"/>
            </a:endParaRPr>
          </a:p>
          <a:p>
            <a:pPr algn="ctr">
              <a:buNone/>
            </a:pPr>
            <a:r>
              <a:rPr lang="en-US" sz="950" dirty="0">
                <a:solidFill>
                  <a:srgbClr val="626568"/>
                </a:solidFill>
                <a:latin typeface="Arial" pitchFamily="34" charset="0"/>
              </a:rPr>
              <a:t>Formula:</a:t>
            </a:r>
          </a:p>
          <a:p>
            <a:pPr algn="ctr">
              <a:buNone/>
            </a:pPr>
            <a:r>
              <a:rPr lang="en-US" sz="1000" b="1" i="1" dirty="0">
                <a:solidFill>
                  <a:srgbClr val="D61920"/>
                </a:solidFill>
                <a:latin typeface="Arial" pitchFamily="34" charset="0"/>
              </a:rPr>
              <a:t>Total Services</a:t>
            </a:r>
            <a:r>
              <a:rPr lang="en-US" sz="1000" dirty="0">
                <a:solidFill>
                  <a:srgbClr val="626568"/>
                </a:solidFill>
                <a:latin typeface="Arial" pitchFamily="34" charset="0"/>
              </a:rPr>
              <a:t> / </a:t>
            </a:r>
            <a:r>
              <a:rPr lang="en-US" sz="1000" b="1" i="1" dirty="0">
                <a:solidFill>
                  <a:srgbClr val="D61920"/>
                </a:solidFill>
                <a:latin typeface="Arial" pitchFamily="34" charset="0"/>
              </a:rPr>
              <a:t>Total Beneficiaries</a:t>
            </a:r>
          </a:p>
        </p:txBody>
      </p:sp>
      <p:sp>
        <p:nvSpPr>
          <p:cNvPr id="43" name="Shape 43"/>
          <p:cNvSpPr/>
          <p:nvPr/>
        </p:nvSpPr>
        <p:spPr>
          <a:xfrm>
            <a:off x="3215640" y="3510000"/>
            <a:ext cx="2712720" cy="924338"/>
          </a:xfrm>
          <a:prstGeom prst="roundRect">
            <a:avLst>
              <a:gd name="adj" fmla="val 8000"/>
            </a:avLst>
          </a:prstGeom>
          <a:solidFill>
            <a:srgbClr val="FFF0F0"/>
          </a:solidFill>
          <a:ln w="9525">
            <a:solidFill>
              <a:srgbClr val="FDCACA"/>
            </a:solidFill>
          </a:ln>
        </p:spPr>
        <p:txBody>
          <a:bodyPr/>
          <a:lstStyle/>
          <a:p>
            <a:endParaRPr lang="en-US"/>
          </a:p>
        </p:txBody>
      </p:sp>
      <p:sp>
        <p:nvSpPr>
          <p:cNvPr id="44" name="Text 44"/>
          <p:cNvSpPr/>
          <p:nvPr/>
        </p:nvSpPr>
        <p:spPr>
          <a:xfrm>
            <a:off x="3215640" y="3510000"/>
            <a:ext cx="2712720" cy="1150000"/>
          </a:xfrm>
          <a:prstGeom prst="rect">
            <a:avLst/>
          </a:prstGeom>
          <a:noFill/>
          <a:ln/>
        </p:spPr>
        <p:txBody>
          <a:bodyPr wrap="square" lIns="137160" tIns="91440" rIns="137160" bIns="91440" rtlCol="0" anchor="t"/>
          <a:lstStyle/>
          <a:p>
            <a:pPr algn="ctr">
              <a:buNone/>
            </a:pPr>
            <a:r>
              <a:rPr lang="en-US" sz="1100" b="1" dirty="0">
                <a:solidFill>
                  <a:srgbClr val="2D2D2D"/>
                </a:solidFill>
                <a:latin typeface="Arial" pitchFamily="34" charset="0"/>
              </a:rPr>
              <a:t>Charge-to-Allowed Ratio</a:t>
            </a:r>
          </a:p>
          <a:p>
            <a:pPr algn="ctr">
              <a:buNone/>
            </a:pPr>
            <a:endParaRPr lang="en-US" sz="950" dirty="0">
              <a:solidFill>
                <a:srgbClr val="626568"/>
              </a:solidFill>
              <a:latin typeface="Arial" pitchFamily="34" charset="0"/>
            </a:endParaRPr>
          </a:p>
          <a:p>
            <a:pPr algn="ctr">
              <a:buNone/>
            </a:pPr>
            <a:r>
              <a:rPr lang="en-US" sz="950" dirty="0">
                <a:solidFill>
                  <a:srgbClr val="626568"/>
                </a:solidFill>
                <a:latin typeface="Arial" pitchFamily="34" charset="0"/>
              </a:rPr>
              <a:t>Formula:</a:t>
            </a:r>
          </a:p>
          <a:p>
            <a:pPr algn="ctr">
              <a:buNone/>
            </a:pPr>
            <a:r>
              <a:rPr lang="en-US" sz="950" b="1" i="1" dirty="0">
                <a:solidFill>
                  <a:srgbClr val="D61920"/>
                </a:solidFill>
                <a:latin typeface="Arial" pitchFamily="34" charset="0"/>
              </a:rPr>
              <a:t>Avg. Submitted Charge</a:t>
            </a:r>
            <a:r>
              <a:rPr lang="en-US" sz="950" dirty="0">
                <a:solidFill>
                  <a:srgbClr val="626568"/>
                </a:solidFill>
                <a:latin typeface="Arial" pitchFamily="34" charset="0"/>
              </a:rPr>
              <a:t> / </a:t>
            </a:r>
            <a:r>
              <a:rPr lang="en-US" sz="950" b="1" i="1" dirty="0">
                <a:solidFill>
                  <a:srgbClr val="D61920"/>
                </a:solidFill>
                <a:latin typeface="Arial" pitchFamily="34" charset="0"/>
              </a:rPr>
              <a:t>Avg. Medicare Allowed Amt</a:t>
            </a:r>
          </a:p>
        </p:txBody>
      </p:sp>
      <p:sp>
        <p:nvSpPr>
          <p:cNvPr id="45" name="Shape 45"/>
          <p:cNvSpPr/>
          <p:nvPr/>
        </p:nvSpPr>
        <p:spPr>
          <a:xfrm>
            <a:off x="6065520" y="3510000"/>
            <a:ext cx="2712720" cy="924338"/>
          </a:xfrm>
          <a:prstGeom prst="roundRect">
            <a:avLst>
              <a:gd name="adj" fmla="val 8000"/>
            </a:avLst>
          </a:prstGeom>
          <a:solidFill>
            <a:srgbClr val="FFF0F0"/>
          </a:solidFill>
          <a:ln w="9525">
            <a:solidFill>
              <a:srgbClr val="FDCACA"/>
            </a:solidFill>
          </a:ln>
        </p:spPr>
        <p:txBody>
          <a:bodyPr/>
          <a:lstStyle/>
          <a:p>
            <a:endParaRPr lang="en-US"/>
          </a:p>
        </p:txBody>
      </p:sp>
      <p:sp>
        <p:nvSpPr>
          <p:cNvPr id="46" name="Text 46"/>
          <p:cNvSpPr/>
          <p:nvPr/>
        </p:nvSpPr>
        <p:spPr>
          <a:xfrm>
            <a:off x="6065520" y="3510000"/>
            <a:ext cx="2712720" cy="1150000"/>
          </a:xfrm>
          <a:prstGeom prst="rect">
            <a:avLst/>
          </a:prstGeom>
          <a:noFill/>
          <a:ln/>
        </p:spPr>
        <p:txBody>
          <a:bodyPr wrap="square" lIns="137160" tIns="91440" rIns="137160" bIns="91440" rtlCol="0" anchor="t"/>
          <a:lstStyle/>
          <a:p>
            <a:pPr algn="ctr">
              <a:buNone/>
            </a:pPr>
            <a:r>
              <a:rPr lang="en-US" sz="1100" b="1" dirty="0">
                <a:solidFill>
                  <a:srgbClr val="2D2D2D"/>
                </a:solidFill>
                <a:latin typeface="Arial" pitchFamily="34" charset="0"/>
              </a:rPr>
              <a:t>Drug Cost per Claim</a:t>
            </a:r>
          </a:p>
          <a:p>
            <a:pPr algn="ctr">
              <a:buNone/>
            </a:pPr>
            <a:endParaRPr lang="en-US" sz="950" dirty="0">
              <a:solidFill>
                <a:srgbClr val="626568"/>
              </a:solidFill>
              <a:latin typeface="Arial" pitchFamily="34" charset="0"/>
            </a:endParaRPr>
          </a:p>
          <a:p>
            <a:pPr algn="ctr">
              <a:buNone/>
            </a:pPr>
            <a:r>
              <a:rPr lang="en-US" sz="950" dirty="0">
                <a:solidFill>
                  <a:srgbClr val="626568"/>
                </a:solidFill>
                <a:latin typeface="Arial" pitchFamily="34" charset="0"/>
              </a:rPr>
              <a:t>Formula:</a:t>
            </a:r>
          </a:p>
          <a:p>
            <a:pPr algn="ctr">
              <a:buNone/>
            </a:pPr>
            <a:r>
              <a:rPr lang="en-US" sz="1000" b="1" i="1" dirty="0">
                <a:solidFill>
                  <a:srgbClr val="D61920"/>
                </a:solidFill>
                <a:latin typeface="Arial" pitchFamily="34" charset="0"/>
              </a:rPr>
              <a:t>Total Drug Cost</a:t>
            </a:r>
            <a:r>
              <a:rPr lang="en-US" sz="1000" dirty="0">
                <a:solidFill>
                  <a:srgbClr val="626568"/>
                </a:solidFill>
                <a:latin typeface="Arial" pitchFamily="34" charset="0"/>
              </a:rPr>
              <a:t> / </a:t>
            </a:r>
            <a:r>
              <a:rPr lang="en-US" sz="1000" b="1" i="1" dirty="0">
                <a:solidFill>
                  <a:srgbClr val="D61920"/>
                </a:solidFill>
                <a:latin typeface="Arial" pitchFamily="34" charset="0"/>
              </a:rPr>
              <a:t>Total Claims</a:t>
            </a:r>
          </a:p>
        </p:txBody>
      </p:sp>
      <p:sp>
        <p:nvSpPr>
          <p:cNvPr id="3" name="Text 2">
            <a:extLst>
              <a:ext uri="{FF2B5EF4-FFF2-40B4-BE49-F238E27FC236}">
                <a16:creationId xmlns:a16="http://schemas.microsoft.com/office/drawing/2014/main" id="{1C9A7E69-C430-B2B8-1494-523731AD74E2}"/>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4" name="PageNum">
            <a:extLst>
              <a:ext uri="{FF2B5EF4-FFF2-40B4-BE49-F238E27FC236}">
                <a16:creationId xmlns:a16="http://schemas.microsoft.com/office/drawing/2014/main" id="{16D64A25-42EC-A504-C7D9-F2260DA1BFD2}"/>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b="0" dirty="0">
                <a:solidFill>
                  <a:srgbClr val="FFFFFF"/>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4DF5636-9120-BA24-B3D6-92DFF65174A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05FA0DE-3145-A114-C876-B5222BCFBCDF}"/>
              </a:ext>
            </a:extLst>
          </p:cNvPr>
          <p:cNvPicPr>
            <a:picLocks noChangeAspect="1"/>
          </p:cNvPicPr>
          <p:nvPr/>
        </p:nvPicPr>
        <p:blipFill>
          <a:blip r:embed="rId4"/>
          <a:stretch>
            <a:fillRect/>
          </a:stretch>
        </p:blipFill>
        <p:spPr>
          <a:xfrm>
            <a:off x="427095" y="0"/>
            <a:ext cx="8289810" cy="4517376"/>
          </a:xfrm>
          <a:prstGeom prst="rect">
            <a:avLst/>
          </a:prstGeom>
        </p:spPr>
      </p:pic>
      <p:sp>
        <p:nvSpPr>
          <p:cNvPr id="2" name="Text 2">
            <a:extLst>
              <a:ext uri="{FF2B5EF4-FFF2-40B4-BE49-F238E27FC236}">
                <a16:creationId xmlns:a16="http://schemas.microsoft.com/office/drawing/2014/main" id="{C1C3089D-C438-0AA6-A1AE-642DE7CE9605}"/>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3" name="PageNum">
            <a:extLst>
              <a:ext uri="{FF2B5EF4-FFF2-40B4-BE49-F238E27FC236}">
                <a16:creationId xmlns:a16="http://schemas.microsoft.com/office/drawing/2014/main" id="{04D23A6D-5C85-15F5-BF0E-1F023D24DF2D}"/>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b="0" dirty="0">
                <a:solidFill>
                  <a:srgbClr val="FFFFFF"/>
                </a:solidFill>
                <a:latin typeface="Arial"/>
              </a:rPr>
              <a:t>14</a:t>
            </a:r>
          </a:p>
        </p:txBody>
      </p:sp>
    </p:spTree>
    <p:extLst>
      <p:ext uri="{BB962C8B-B14F-4D97-AF65-F5344CB8AC3E}">
        <p14:creationId xmlns:p14="http://schemas.microsoft.com/office/powerpoint/2010/main" val="2729755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Feature Selection &amp; Imbalanced Handling</a:t>
            </a:r>
            <a:endParaRPr lang="en-US" sz="2400" dirty="0"/>
          </a:p>
        </p:txBody>
      </p:sp>
      <p:sp>
        <p:nvSpPr>
          <p:cNvPr id="4" name="Text 2"/>
          <p:cNvSpPr/>
          <p:nvPr/>
        </p:nvSpPr>
        <p:spPr>
          <a:xfrm>
            <a:off x="502920" y="4325112"/>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pic>
        <p:nvPicPr>
          <p:cNvPr id="7" name="Picture 6">
            <a:extLst>
              <a:ext uri="{FF2B5EF4-FFF2-40B4-BE49-F238E27FC236}">
                <a16:creationId xmlns:a16="http://schemas.microsoft.com/office/drawing/2014/main" id="{5EE61207-2C15-ADAE-A5E3-63BB509C74C8}"/>
              </a:ext>
            </a:extLst>
          </p:cNvPr>
          <p:cNvPicPr>
            <a:picLocks noChangeAspect="1"/>
          </p:cNvPicPr>
          <p:nvPr/>
        </p:nvPicPr>
        <p:blipFill>
          <a:blip r:embed="rId4"/>
          <a:stretch>
            <a:fillRect/>
          </a:stretch>
        </p:blipFill>
        <p:spPr>
          <a:xfrm>
            <a:off x="679689" y="1243264"/>
            <a:ext cx="7772400" cy="2656971"/>
          </a:xfrm>
          <a:prstGeom prst="rect">
            <a:avLst/>
          </a:prstGeom>
        </p:spPr>
      </p:pic>
      <p:sp>
        <p:nvSpPr>
          <p:cNvPr id="3" name="Text 2">
            <a:extLst>
              <a:ext uri="{FF2B5EF4-FFF2-40B4-BE49-F238E27FC236}">
                <a16:creationId xmlns:a16="http://schemas.microsoft.com/office/drawing/2014/main" id="{2DEFD759-5EAF-9797-7637-D0A8055031CD}"/>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PageNum">
            <a:extLst>
              <a:ext uri="{FF2B5EF4-FFF2-40B4-BE49-F238E27FC236}">
                <a16:creationId xmlns:a16="http://schemas.microsoft.com/office/drawing/2014/main" id="{6685B54D-C3D5-B941-18C7-3DD0A094F75F}"/>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b="0" dirty="0">
                <a:solidFill>
                  <a:srgbClr val="FFFFFF"/>
                </a:solidFill>
                <a:latin typeface="Aria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1E94AFF-E24A-17BF-B511-C18E2FACD2F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E5D43A2-37AF-A9B4-F8E0-F2BDAD951261}"/>
              </a:ext>
            </a:extLst>
          </p:cNvPr>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Feature Selection &amp; Imbalanced Handling</a:t>
            </a:r>
            <a:endParaRPr lang="en-US" sz="2400" dirty="0"/>
          </a:p>
        </p:txBody>
      </p:sp>
      <p:sp>
        <p:nvSpPr>
          <p:cNvPr id="4" name="Text 2">
            <a:extLst>
              <a:ext uri="{FF2B5EF4-FFF2-40B4-BE49-F238E27FC236}">
                <a16:creationId xmlns:a16="http://schemas.microsoft.com/office/drawing/2014/main" id="{4B634E2C-217C-EF91-E57C-20B29F50A0CD}"/>
              </a:ext>
            </a:extLst>
          </p:cNvPr>
          <p:cNvSpPr/>
          <p:nvPr/>
        </p:nvSpPr>
        <p:spPr>
          <a:xfrm>
            <a:off x="502920" y="4325112"/>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3" name="Text 2">
            <a:extLst>
              <a:ext uri="{FF2B5EF4-FFF2-40B4-BE49-F238E27FC236}">
                <a16:creationId xmlns:a16="http://schemas.microsoft.com/office/drawing/2014/main" id="{F1870BC2-F3BA-B50B-D674-22903AAA734E}"/>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PageNum">
            <a:extLst>
              <a:ext uri="{FF2B5EF4-FFF2-40B4-BE49-F238E27FC236}">
                <a16:creationId xmlns:a16="http://schemas.microsoft.com/office/drawing/2014/main" id="{23192037-695D-BF6F-C318-ACFB7330C968}"/>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b="0" dirty="0">
                <a:solidFill>
                  <a:srgbClr val="FFFFFF"/>
                </a:solidFill>
                <a:latin typeface="Arial"/>
              </a:rPr>
              <a:t>16</a:t>
            </a:r>
          </a:p>
        </p:txBody>
      </p:sp>
      <p:pic>
        <p:nvPicPr>
          <p:cNvPr id="8" name="Picture 7">
            <a:extLst>
              <a:ext uri="{FF2B5EF4-FFF2-40B4-BE49-F238E27FC236}">
                <a16:creationId xmlns:a16="http://schemas.microsoft.com/office/drawing/2014/main" id="{A7363578-8066-2FBB-D1E1-F8FC9AE4665D}"/>
              </a:ext>
            </a:extLst>
          </p:cNvPr>
          <p:cNvPicPr>
            <a:picLocks noChangeAspect="1"/>
          </p:cNvPicPr>
          <p:nvPr/>
        </p:nvPicPr>
        <p:blipFill>
          <a:blip r:embed="rId4"/>
          <a:stretch>
            <a:fillRect/>
          </a:stretch>
        </p:blipFill>
        <p:spPr>
          <a:xfrm>
            <a:off x="594360" y="828595"/>
            <a:ext cx="7772400" cy="3633677"/>
          </a:xfrm>
          <a:prstGeom prst="rect">
            <a:avLst/>
          </a:prstGeom>
        </p:spPr>
      </p:pic>
    </p:spTree>
    <p:extLst>
      <p:ext uri="{BB962C8B-B14F-4D97-AF65-F5344CB8AC3E}">
        <p14:creationId xmlns:p14="http://schemas.microsoft.com/office/powerpoint/2010/main" val="2113315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10 Models Tuning &amp; Calibration</a:t>
            </a:r>
            <a:endParaRPr lang="en-US" sz="2400" dirty="0"/>
          </a:p>
        </p:txBody>
      </p:sp>
      <p:sp>
        <p:nvSpPr>
          <p:cNvPr id="5" name="Shape 3"/>
          <p:cNvSpPr/>
          <p:nvPr/>
        </p:nvSpPr>
        <p:spPr>
          <a:xfrm>
            <a:off x="365760" y="932688"/>
            <a:ext cx="2029968" cy="1920240"/>
          </a:xfrm>
          <a:prstGeom prst="roundRect">
            <a:avLst>
              <a:gd name="adj" fmla="val 3604"/>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6" name="Shape 4"/>
          <p:cNvSpPr/>
          <p:nvPr/>
        </p:nvSpPr>
        <p:spPr>
          <a:xfrm>
            <a:off x="365760" y="918058"/>
            <a:ext cx="2029968" cy="321869"/>
          </a:xfrm>
          <a:prstGeom prst="rect">
            <a:avLst/>
          </a:prstGeom>
          <a:solidFill>
            <a:srgbClr val="000000"/>
          </a:solidFill>
          <a:ln w="12700">
            <a:solidFill>
              <a:srgbClr val="000000"/>
            </a:solidFill>
            <a:prstDash val="solid"/>
          </a:ln>
        </p:spPr>
        <p:txBody>
          <a:bodyPr/>
          <a:lstStyle/>
          <a:p>
            <a:endParaRPr lang="en-US"/>
          </a:p>
        </p:txBody>
      </p:sp>
      <p:sp>
        <p:nvSpPr>
          <p:cNvPr id="7" name="Text 5"/>
          <p:cNvSpPr/>
          <p:nvPr/>
        </p:nvSpPr>
        <p:spPr>
          <a:xfrm>
            <a:off x="365760" y="918058"/>
            <a:ext cx="2029968" cy="321869"/>
          </a:xfrm>
          <a:prstGeom prst="rect">
            <a:avLst/>
          </a:prstGeom>
          <a:noFill/>
          <a:ln/>
        </p:spPr>
        <p:txBody>
          <a:bodyPr wrap="square" lIns="0" tIns="0" rIns="0" bIns="0" rtlCol="0" anchor="ctr"/>
          <a:lstStyle/>
          <a:p>
            <a:pPr marL="0" indent="0" algn="ctr">
              <a:buNone/>
            </a:pPr>
            <a:r>
              <a:rPr lang="en-US" sz="1300" b="1" dirty="0">
                <a:solidFill>
                  <a:srgbClr val="FFFFFF"/>
                </a:solidFill>
              </a:rPr>
              <a:t>Linear</a:t>
            </a:r>
            <a:endParaRPr lang="en-US" sz="1300" dirty="0"/>
          </a:p>
        </p:txBody>
      </p:sp>
      <p:sp>
        <p:nvSpPr>
          <p:cNvPr id="8" name="Text 6"/>
          <p:cNvSpPr/>
          <p:nvPr/>
        </p:nvSpPr>
        <p:spPr>
          <a:xfrm>
            <a:off x="457200" y="1298448"/>
            <a:ext cx="1847088" cy="292608"/>
          </a:xfrm>
          <a:prstGeom prst="rect">
            <a:avLst/>
          </a:prstGeom>
          <a:noFill/>
          <a:ln/>
        </p:spPr>
        <p:txBody>
          <a:bodyPr wrap="square" rtlCol="0" anchor="ctr"/>
          <a:lstStyle/>
          <a:p>
            <a:pPr marL="0" indent="0">
              <a:buNone/>
            </a:pPr>
            <a:r>
              <a:rPr lang="en-US" sz="1100" b="1" dirty="0">
                <a:solidFill>
                  <a:srgbClr val="2D2D2D"/>
                </a:solidFill>
                <a:latin typeface="Arial" pitchFamily="34" charset="0"/>
                <a:ea typeface="Arial" pitchFamily="34" charset="-122"/>
                <a:cs typeface="Arial" pitchFamily="34" charset="-120"/>
              </a:rPr>
              <a:t>Logistic Regression</a:t>
            </a:r>
            <a:endParaRPr lang="en-US" sz="1100" b="1" dirty="0"/>
          </a:p>
        </p:txBody>
      </p:sp>
      <p:sp>
        <p:nvSpPr>
          <p:cNvPr id="9" name="Text 7"/>
          <p:cNvSpPr/>
          <p:nvPr/>
        </p:nvSpPr>
        <p:spPr>
          <a:xfrm>
            <a:off x="457199" y="1719072"/>
            <a:ext cx="2064371" cy="292608"/>
          </a:xfrm>
          <a:prstGeom prst="rect">
            <a:avLst/>
          </a:prstGeom>
          <a:noFill/>
          <a:ln/>
        </p:spPr>
        <p:txBody>
          <a:bodyPr wrap="square" rtlCol="0" anchor="ctr"/>
          <a:lstStyle/>
          <a:p>
            <a:pPr marL="0" indent="0">
              <a:buNone/>
            </a:pPr>
            <a:r>
              <a:rPr lang="en-US" sz="1100" b="1" dirty="0">
                <a:solidFill>
                  <a:srgbClr val="2D2D2D"/>
                </a:solidFill>
                <a:latin typeface="Arial" pitchFamily="34" charset="0"/>
                <a:ea typeface="Arial" pitchFamily="34" charset="-122"/>
                <a:cs typeface="Arial" pitchFamily="34" charset="-120"/>
              </a:rPr>
              <a:t>Linear SVM (LinearSVC)</a:t>
            </a:r>
            <a:endParaRPr lang="en-US" sz="1100" b="1" dirty="0"/>
          </a:p>
        </p:txBody>
      </p:sp>
      <p:sp>
        <p:nvSpPr>
          <p:cNvPr id="10" name="Shape 8"/>
          <p:cNvSpPr/>
          <p:nvPr/>
        </p:nvSpPr>
        <p:spPr>
          <a:xfrm>
            <a:off x="2578608" y="932688"/>
            <a:ext cx="2029968" cy="1920240"/>
          </a:xfrm>
          <a:prstGeom prst="roundRect">
            <a:avLst>
              <a:gd name="adj" fmla="val 3604"/>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1" name="Shape 9"/>
          <p:cNvSpPr/>
          <p:nvPr/>
        </p:nvSpPr>
        <p:spPr>
          <a:xfrm>
            <a:off x="2578608" y="918058"/>
            <a:ext cx="2029968" cy="321869"/>
          </a:xfrm>
          <a:prstGeom prst="rect">
            <a:avLst/>
          </a:prstGeom>
          <a:solidFill>
            <a:srgbClr val="000000"/>
          </a:solidFill>
          <a:ln w="12700">
            <a:solidFill>
              <a:srgbClr val="000000"/>
            </a:solidFill>
            <a:prstDash val="solid"/>
          </a:ln>
        </p:spPr>
        <p:txBody>
          <a:bodyPr/>
          <a:lstStyle/>
          <a:p>
            <a:endParaRPr lang="en-US"/>
          </a:p>
        </p:txBody>
      </p:sp>
      <p:sp>
        <p:nvSpPr>
          <p:cNvPr id="12" name="Text 10"/>
          <p:cNvSpPr/>
          <p:nvPr/>
        </p:nvSpPr>
        <p:spPr>
          <a:xfrm>
            <a:off x="2578608" y="918058"/>
            <a:ext cx="2029968" cy="321869"/>
          </a:xfrm>
          <a:prstGeom prst="rect">
            <a:avLst/>
          </a:prstGeom>
          <a:noFill/>
          <a:ln/>
        </p:spPr>
        <p:txBody>
          <a:bodyPr wrap="square" lIns="0" tIns="0" rIns="0" bIns="0" rtlCol="0" anchor="ctr"/>
          <a:lstStyle/>
          <a:p>
            <a:pPr marL="0" indent="0" algn="ctr">
              <a:buNone/>
            </a:pPr>
            <a:r>
              <a:rPr lang="en-US" sz="1300" b="1" dirty="0">
                <a:solidFill>
                  <a:srgbClr val="FFFFFF"/>
                </a:solidFill>
              </a:rPr>
              <a:t>Tree Ensemble</a:t>
            </a:r>
            <a:endParaRPr lang="en-US" sz="1300" dirty="0"/>
          </a:p>
        </p:txBody>
      </p:sp>
      <p:sp>
        <p:nvSpPr>
          <p:cNvPr id="13" name="Text 11"/>
          <p:cNvSpPr/>
          <p:nvPr/>
        </p:nvSpPr>
        <p:spPr>
          <a:xfrm>
            <a:off x="2670048" y="1298448"/>
            <a:ext cx="1847088" cy="292608"/>
          </a:xfrm>
          <a:prstGeom prst="rect">
            <a:avLst/>
          </a:prstGeom>
          <a:noFill/>
          <a:ln/>
        </p:spPr>
        <p:txBody>
          <a:bodyPr wrap="square" rtlCol="0" anchor="ctr"/>
          <a:lstStyle/>
          <a:p>
            <a:pPr marL="0" indent="0">
              <a:buNone/>
            </a:pPr>
            <a:r>
              <a:rPr lang="en-US" sz="1100" b="1" dirty="0">
                <a:solidFill>
                  <a:srgbClr val="2D2D2D"/>
                </a:solidFill>
                <a:latin typeface="Arial" pitchFamily="34" charset="0"/>
                <a:ea typeface="Arial" pitchFamily="34" charset="-122"/>
                <a:cs typeface="Arial" pitchFamily="34" charset="-120"/>
              </a:rPr>
              <a:t>Random Forest</a:t>
            </a:r>
            <a:endParaRPr lang="en-US" sz="1100" b="1" dirty="0"/>
          </a:p>
        </p:txBody>
      </p:sp>
      <p:sp>
        <p:nvSpPr>
          <p:cNvPr id="14" name="Text 12"/>
          <p:cNvSpPr/>
          <p:nvPr/>
        </p:nvSpPr>
        <p:spPr>
          <a:xfrm>
            <a:off x="2670048" y="1719072"/>
            <a:ext cx="1847088" cy="292608"/>
          </a:xfrm>
          <a:prstGeom prst="rect">
            <a:avLst/>
          </a:prstGeom>
          <a:noFill/>
          <a:ln/>
        </p:spPr>
        <p:txBody>
          <a:bodyPr wrap="square" rtlCol="0" anchor="ctr"/>
          <a:lstStyle/>
          <a:p>
            <a:pPr marL="0" indent="0">
              <a:buNone/>
            </a:pPr>
            <a:r>
              <a:rPr lang="en-US" sz="1100" b="1" dirty="0" err="1">
                <a:solidFill>
                  <a:srgbClr val="2D2D2D"/>
                </a:solidFill>
                <a:latin typeface="Arial" pitchFamily="34" charset="0"/>
                <a:ea typeface="Arial" pitchFamily="34" charset="-122"/>
                <a:cs typeface="Arial" pitchFamily="34" charset="-120"/>
              </a:rPr>
              <a:t>XGBoost</a:t>
            </a:r>
            <a:endParaRPr lang="en-US" sz="1100" b="1" dirty="0"/>
          </a:p>
        </p:txBody>
      </p:sp>
      <p:sp>
        <p:nvSpPr>
          <p:cNvPr id="15" name="Text 13"/>
          <p:cNvSpPr/>
          <p:nvPr/>
        </p:nvSpPr>
        <p:spPr>
          <a:xfrm>
            <a:off x="2670048" y="2139696"/>
            <a:ext cx="1847088" cy="292608"/>
          </a:xfrm>
          <a:prstGeom prst="rect">
            <a:avLst/>
          </a:prstGeom>
          <a:noFill/>
          <a:ln/>
        </p:spPr>
        <p:txBody>
          <a:bodyPr wrap="square" rtlCol="0" anchor="ctr"/>
          <a:lstStyle/>
          <a:p>
            <a:pPr marL="0" indent="0">
              <a:buNone/>
            </a:pPr>
            <a:r>
              <a:rPr lang="en-US" sz="1100" b="1" dirty="0" err="1">
                <a:solidFill>
                  <a:srgbClr val="2D2D2D"/>
                </a:solidFill>
                <a:latin typeface="Arial" pitchFamily="34" charset="0"/>
                <a:ea typeface="Arial" pitchFamily="34" charset="-122"/>
                <a:cs typeface="Arial" pitchFamily="34" charset="-120"/>
              </a:rPr>
              <a:t>LightGBM</a:t>
            </a:r>
            <a:endParaRPr lang="en-US" sz="1100" b="1" dirty="0"/>
          </a:p>
        </p:txBody>
      </p:sp>
      <p:sp>
        <p:nvSpPr>
          <p:cNvPr id="16" name="Text 14"/>
          <p:cNvSpPr/>
          <p:nvPr/>
        </p:nvSpPr>
        <p:spPr>
          <a:xfrm>
            <a:off x="2670048" y="2560320"/>
            <a:ext cx="1847088" cy="292608"/>
          </a:xfrm>
          <a:prstGeom prst="rect">
            <a:avLst/>
          </a:prstGeom>
          <a:noFill/>
          <a:ln/>
        </p:spPr>
        <p:txBody>
          <a:bodyPr wrap="square" rtlCol="0" anchor="ctr"/>
          <a:lstStyle/>
          <a:p>
            <a:pPr marL="0" indent="0">
              <a:buNone/>
            </a:pPr>
            <a:r>
              <a:rPr lang="en-US" sz="1100" b="1" dirty="0" err="1">
                <a:solidFill>
                  <a:srgbClr val="2D2D2D"/>
                </a:solidFill>
                <a:latin typeface="Arial" pitchFamily="34" charset="0"/>
                <a:ea typeface="Arial" pitchFamily="34" charset="-122"/>
                <a:cs typeface="Arial" pitchFamily="34" charset="-120"/>
              </a:rPr>
              <a:t>HistGradientBoosting</a:t>
            </a:r>
            <a:endParaRPr lang="en-US" sz="1100" b="1" dirty="0"/>
          </a:p>
        </p:txBody>
      </p:sp>
      <p:sp>
        <p:nvSpPr>
          <p:cNvPr id="17" name="Shape 15"/>
          <p:cNvSpPr/>
          <p:nvPr/>
        </p:nvSpPr>
        <p:spPr>
          <a:xfrm>
            <a:off x="4791456" y="932689"/>
            <a:ext cx="2029968" cy="1920240"/>
          </a:xfrm>
          <a:prstGeom prst="roundRect">
            <a:avLst>
              <a:gd name="adj" fmla="val 3604"/>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6"/>
          <p:cNvSpPr/>
          <p:nvPr/>
        </p:nvSpPr>
        <p:spPr>
          <a:xfrm>
            <a:off x="4791456" y="918058"/>
            <a:ext cx="2029968" cy="321869"/>
          </a:xfrm>
          <a:prstGeom prst="rect">
            <a:avLst/>
          </a:prstGeom>
          <a:solidFill>
            <a:srgbClr val="000000"/>
          </a:solidFill>
          <a:ln w="12700">
            <a:solidFill>
              <a:srgbClr val="000000"/>
            </a:solidFill>
            <a:prstDash val="solid"/>
          </a:ln>
        </p:spPr>
        <p:txBody>
          <a:bodyPr/>
          <a:lstStyle/>
          <a:p>
            <a:endParaRPr lang="en-US"/>
          </a:p>
        </p:txBody>
      </p:sp>
      <p:sp>
        <p:nvSpPr>
          <p:cNvPr id="19" name="Text 17"/>
          <p:cNvSpPr/>
          <p:nvPr/>
        </p:nvSpPr>
        <p:spPr>
          <a:xfrm>
            <a:off x="4791456" y="918058"/>
            <a:ext cx="2029968" cy="321869"/>
          </a:xfrm>
          <a:prstGeom prst="rect">
            <a:avLst/>
          </a:prstGeom>
          <a:noFill/>
          <a:ln/>
        </p:spPr>
        <p:txBody>
          <a:bodyPr wrap="square" lIns="0" tIns="0" rIns="0" bIns="0" rtlCol="0" anchor="ctr"/>
          <a:lstStyle/>
          <a:p>
            <a:pPr marL="0" indent="0" algn="ctr">
              <a:buNone/>
            </a:pPr>
            <a:r>
              <a:rPr lang="en-US" sz="1300" b="1" dirty="0">
                <a:solidFill>
                  <a:srgbClr val="FFFFFF"/>
                </a:solidFill>
              </a:rPr>
              <a:t>Neural</a:t>
            </a:r>
            <a:endParaRPr lang="en-US" sz="1300" dirty="0"/>
          </a:p>
        </p:txBody>
      </p:sp>
      <p:sp>
        <p:nvSpPr>
          <p:cNvPr id="20" name="Text 18"/>
          <p:cNvSpPr/>
          <p:nvPr/>
        </p:nvSpPr>
        <p:spPr>
          <a:xfrm>
            <a:off x="4882896" y="1298448"/>
            <a:ext cx="1847088" cy="292608"/>
          </a:xfrm>
          <a:prstGeom prst="rect">
            <a:avLst/>
          </a:prstGeom>
          <a:noFill/>
          <a:ln/>
        </p:spPr>
        <p:txBody>
          <a:bodyPr wrap="square" rtlCol="0" anchor="ctr"/>
          <a:lstStyle/>
          <a:p>
            <a:pPr marL="0" indent="0">
              <a:buNone/>
            </a:pPr>
            <a:r>
              <a:rPr lang="en-US" sz="1100" b="1" dirty="0">
                <a:solidFill>
                  <a:srgbClr val="2D2D2D"/>
                </a:solidFill>
                <a:latin typeface="Arial" pitchFamily="34" charset="0"/>
                <a:ea typeface="Arial" pitchFamily="34" charset="-122"/>
                <a:cs typeface="Arial" pitchFamily="34" charset="-120"/>
              </a:rPr>
              <a:t>MLP</a:t>
            </a:r>
            <a:endParaRPr lang="en-US" sz="1100" b="1" dirty="0"/>
          </a:p>
        </p:txBody>
      </p:sp>
      <p:sp>
        <p:nvSpPr>
          <p:cNvPr id="21" name="Text 19"/>
          <p:cNvSpPr/>
          <p:nvPr/>
        </p:nvSpPr>
        <p:spPr>
          <a:xfrm>
            <a:off x="4882896" y="1719072"/>
            <a:ext cx="1847088" cy="292608"/>
          </a:xfrm>
          <a:prstGeom prst="rect">
            <a:avLst/>
          </a:prstGeom>
          <a:noFill/>
          <a:ln/>
        </p:spPr>
        <p:txBody>
          <a:bodyPr wrap="square" rtlCol="0" anchor="ctr"/>
          <a:lstStyle/>
          <a:p>
            <a:pPr marL="0" indent="0">
              <a:buNone/>
            </a:pPr>
            <a:r>
              <a:rPr lang="en-US" sz="1100" b="1" dirty="0">
                <a:solidFill>
                  <a:srgbClr val="2D2D2D"/>
                </a:solidFill>
                <a:latin typeface="Arial" pitchFamily="34" charset="0"/>
                <a:ea typeface="Arial" pitchFamily="34" charset="-122"/>
                <a:cs typeface="Arial" pitchFamily="34" charset="-120"/>
              </a:rPr>
              <a:t>DNN (4-layer)</a:t>
            </a:r>
            <a:endParaRPr lang="en-US" sz="1100" b="1" dirty="0"/>
          </a:p>
        </p:txBody>
      </p:sp>
      <p:sp>
        <p:nvSpPr>
          <p:cNvPr id="22" name="Text 20"/>
          <p:cNvSpPr/>
          <p:nvPr/>
        </p:nvSpPr>
        <p:spPr>
          <a:xfrm>
            <a:off x="4882896" y="2139696"/>
            <a:ext cx="1847088" cy="292608"/>
          </a:xfrm>
          <a:prstGeom prst="rect">
            <a:avLst/>
          </a:prstGeom>
          <a:noFill/>
          <a:ln/>
        </p:spPr>
        <p:txBody>
          <a:bodyPr wrap="square" rtlCol="0" anchor="ctr"/>
          <a:lstStyle/>
          <a:p>
            <a:pPr marL="0" indent="0">
              <a:buNone/>
            </a:pPr>
            <a:r>
              <a:rPr lang="en-US" sz="1100" b="1" dirty="0" err="1">
                <a:solidFill>
                  <a:srgbClr val="2D2D2D"/>
                </a:solidFill>
                <a:latin typeface="Arial" pitchFamily="34" charset="0"/>
                <a:ea typeface="Arial" pitchFamily="34" charset="-122"/>
                <a:cs typeface="Arial" pitchFamily="34" charset="-120"/>
              </a:rPr>
              <a:t>TabResNet</a:t>
            </a:r>
            <a:r>
              <a:rPr lang="en-US" sz="1100" b="1" dirty="0">
                <a:solidFill>
                  <a:srgbClr val="2D2D2D"/>
                </a:solidFill>
                <a:latin typeface="Arial" pitchFamily="34" charset="0"/>
                <a:ea typeface="Arial" pitchFamily="34" charset="-122"/>
                <a:cs typeface="Arial" pitchFamily="34" charset="-120"/>
              </a:rPr>
              <a:t> (FNN)</a:t>
            </a:r>
            <a:endParaRPr lang="en-US" sz="1100" b="1" dirty="0"/>
          </a:p>
        </p:txBody>
      </p:sp>
      <p:sp>
        <p:nvSpPr>
          <p:cNvPr id="23" name="Shape 21"/>
          <p:cNvSpPr/>
          <p:nvPr/>
        </p:nvSpPr>
        <p:spPr>
          <a:xfrm>
            <a:off x="7004304" y="932688"/>
            <a:ext cx="2029968" cy="1920240"/>
          </a:xfrm>
          <a:prstGeom prst="roundRect">
            <a:avLst>
              <a:gd name="adj" fmla="val 3604"/>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24" name="Shape 22"/>
          <p:cNvSpPr/>
          <p:nvPr/>
        </p:nvSpPr>
        <p:spPr>
          <a:xfrm>
            <a:off x="7004304" y="918058"/>
            <a:ext cx="2029968" cy="321869"/>
          </a:xfrm>
          <a:prstGeom prst="rect">
            <a:avLst/>
          </a:prstGeom>
          <a:solidFill>
            <a:srgbClr val="000000"/>
          </a:solidFill>
          <a:ln w="12700">
            <a:solidFill>
              <a:srgbClr val="000000"/>
            </a:solidFill>
            <a:prstDash val="solid"/>
          </a:ln>
        </p:spPr>
        <p:txBody>
          <a:bodyPr/>
          <a:lstStyle/>
          <a:p>
            <a:endParaRPr lang="en-US"/>
          </a:p>
        </p:txBody>
      </p:sp>
      <p:sp>
        <p:nvSpPr>
          <p:cNvPr id="25" name="Text 23"/>
          <p:cNvSpPr/>
          <p:nvPr/>
        </p:nvSpPr>
        <p:spPr>
          <a:xfrm>
            <a:off x="7004304" y="918058"/>
            <a:ext cx="2029968" cy="321869"/>
          </a:xfrm>
          <a:prstGeom prst="rect">
            <a:avLst/>
          </a:prstGeom>
          <a:noFill/>
          <a:ln/>
        </p:spPr>
        <p:txBody>
          <a:bodyPr wrap="square" lIns="0" tIns="0" rIns="0" bIns="0" rtlCol="0" anchor="ctr"/>
          <a:lstStyle/>
          <a:p>
            <a:pPr algn="ctr"/>
            <a:r>
              <a:rPr lang="en-US" sz="1300" b="1" dirty="0">
                <a:solidFill>
                  <a:srgbClr val="FFFFFF"/>
                </a:solidFill>
              </a:rPr>
              <a:t>Graph</a:t>
            </a:r>
          </a:p>
        </p:txBody>
      </p:sp>
      <p:sp>
        <p:nvSpPr>
          <p:cNvPr id="26" name="Text 24"/>
          <p:cNvSpPr/>
          <p:nvPr/>
        </p:nvSpPr>
        <p:spPr>
          <a:xfrm>
            <a:off x="7095744" y="1298448"/>
            <a:ext cx="1847088" cy="292608"/>
          </a:xfrm>
          <a:prstGeom prst="rect">
            <a:avLst/>
          </a:prstGeom>
          <a:noFill/>
          <a:ln/>
        </p:spPr>
        <p:txBody>
          <a:bodyPr wrap="square" rtlCol="0" anchor="ctr"/>
          <a:lstStyle/>
          <a:p>
            <a:pPr marL="0" indent="0">
              <a:buNone/>
            </a:pPr>
            <a:r>
              <a:rPr lang="en-US" sz="1100" b="1" dirty="0" err="1">
                <a:solidFill>
                  <a:srgbClr val="2D2D2D"/>
                </a:solidFill>
                <a:latin typeface="Arial" pitchFamily="34" charset="0"/>
                <a:ea typeface="Arial" pitchFamily="34" charset="-122"/>
                <a:cs typeface="Arial" pitchFamily="34" charset="-120"/>
              </a:rPr>
              <a:t>GraphSAGE</a:t>
            </a:r>
            <a:r>
              <a:rPr lang="en-US" sz="1100" b="1" dirty="0">
                <a:solidFill>
                  <a:srgbClr val="2D2D2D"/>
                </a:solidFill>
                <a:latin typeface="Arial" pitchFamily="34" charset="0"/>
                <a:ea typeface="Arial" pitchFamily="34" charset="-122"/>
                <a:cs typeface="Arial" pitchFamily="34" charset="-120"/>
              </a:rPr>
              <a:t> (GNN)</a:t>
            </a:r>
            <a:endParaRPr lang="en-US" sz="1100" b="1" dirty="0"/>
          </a:p>
        </p:txBody>
      </p:sp>
      <p:sp>
        <p:nvSpPr>
          <p:cNvPr id="27" name="Shape 25"/>
          <p:cNvSpPr/>
          <p:nvPr/>
        </p:nvSpPr>
        <p:spPr>
          <a:xfrm>
            <a:off x="342787" y="3374950"/>
            <a:ext cx="8412480" cy="988998"/>
          </a:xfrm>
          <a:prstGeom prst="roundRect">
            <a:avLst>
              <a:gd name="adj" fmla="val 5882"/>
            </a:avLst>
          </a:prstGeom>
          <a:solidFill>
            <a:srgbClr val="F4F4F4"/>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dirty="0"/>
          </a:p>
        </p:txBody>
      </p:sp>
      <p:sp>
        <p:nvSpPr>
          <p:cNvPr id="29" name="Shape 27"/>
          <p:cNvSpPr/>
          <p:nvPr/>
        </p:nvSpPr>
        <p:spPr>
          <a:xfrm>
            <a:off x="588727" y="3036706"/>
            <a:ext cx="347472" cy="277978"/>
          </a:xfrm>
          <a:prstGeom prst="ellipse">
            <a:avLst/>
          </a:prstGeom>
          <a:solidFill>
            <a:srgbClr val="D61920"/>
          </a:solidFill>
          <a:ln w="12700">
            <a:solidFill>
              <a:srgbClr val="D61920"/>
            </a:solidFill>
            <a:prstDash val="solid"/>
          </a:ln>
        </p:spPr>
        <p:txBody>
          <a:bodyPr/>
          <a:lstStyle/>
          <a:p>
            <a:endParaRPr lang="en-US"/>
          </a:p>
        </p:txBody>
      </p:sp>
      <p:sp>
        <p:nvSpPr>
          <p:cNvPr id="30" name="Text 28"/>
          <p:cNvSpPr/>
          <p:nvPr/>
        </p:nvSpPr>
        <p:spPr>
          <a:xfrm>
            <a:off x="588727" y="3036706"/>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31" name="Text 29"/>
          <p:cNvSpPr/>
          <p:nvPr/>
        </p:nvSpPr>
        <p:spPr>
          <a:xfrm>
            <a:off x="891427" y="3086044"/>
            <a:ext cx="1170432" cy="204826"/>
          </a:xfrm>
          <a:prstGeom prst="rect">
            <a:avLst/>
          </a:prstGeom>
          <a:noFill/>
          <a:ln/>
        </p:spPr>
        <p:txBody>
          <a:bodyPr wrap="square" rtlCol="0" anchor="ctr"/>
          <a:lstStyle/>
          <a:p>
            <a:pPr marL="0" indent="0">
              <a:buNone/>
            </a:pPr>
            <a:r>
              <a:rPr lang="en-US" sz="950" b="1" dirty="0">
                <a:solidFill>
                  <a:srgbClr val="2D2D2D"/>
                </a:solidFill>
                <a:latin typeface="Arial" pitchFamily="34" charset="0"/>
                <a:ea typeface="Arial" pitchFamily="34" charset="-122"/>
                <a:cs typeface="Arial" pitchFamily="34" charset="-120"/>
              </a:rPr>
              <a:t>Train/Test Split</a:t>
            </a:r>
            <a:endParaRPr lang="en-US" sz="950" dirty="0"/>
          </a:p>
        </p:txBody>
      </p:sp>
      <p:sp>
        <p:nvSpPr>
          <p:cNvPr id="32" name="Text 30"/>
          <p:cNvSpPr/>
          <p:nvPr/>
        </p:nvSpPr>
        <p:spPr>
          <a:xfrm>
            <a:off x="461659" y="3456422"/>
            <a:ext cx="1572768" cy="336499"/>
          </a:xfrm>
          <a:prstGeom prst="rect">
            <a:avLst/>
          </a:prstGeom>
          <a:noFill/>
          <a:ln/>
        </p:spPr>
        <p:txBody>
          <a:bodyPr wrap="square" rtlCol="0" anchor="ctr"/>
          <a:lstStyle/>
          <a:p>
            <a:pPr marL="0" indent="0">
              <a:buNone/>
            </a:pPr>
            <a:r>
              <a:rPr lang="en-US" sz="850" dirty="0">
                <a:solidFill>
                  <a:srgbClr val="626568"/>
                </a:solidFill>
                <a:latin typeface="Arial" pitchFamily="34" charset="0"/>
                <a:ea typeface="Arial" pitchFamily="34" charset="-122"/>
                <a:cs typeface="Arial" pitchFamily="34" charset="-120"/>
              </a:rPr>
              <a:t>80/20 stratified split preserving fraud ratio</a:t>
            </a:r>
            <a:endParaRPr lang="en-US" sz="850" dirty="0"/>
          </a:p>
        </p:txBody>
      </p:sp>
      <p:sp>
        <p:nvSpPr>
          <p:cNvPr id="33" name="Text 31"/>
          <p:cNvSpPr/>
          <p:nvPr/>
        </p:nvSpPr>
        <p:spPr>
          <a:xfrm>
            <a:off x="2019819" y="3083775"/>
            <a:ext cx="91440" cy="175565"/>
          </a:xfrm>
          <a:prstGeom prst="rect">
            <a:avLst/>
          </a:prstGeom>
          <a:noFill/>
          <a:ln/>
        </p:spPr>
        <p:txBody>
          <a:bodyPr wrap="square" rtlCol="0" anchor="ctr"/>
          <a:lstStyle/>
          <a:p>
            <a:pPr marL="0" indent="0" algn="ctr">
              <a:buNone/>
            </a:pPr>
            <a:r>
              <a:rPr lang="en-US" sz="1400" dirty="0">
                <a:solidFill>
                  <a:srgbClr val="D61920"/>
                </a:solidFill>
              </a:rPr>
              <a:t>→</a:t>
            </a:r>
            <a:endParaRPr lang="en-US" sz="1400" dirty="0"/>
          </a:p>
        </p:txBody>
      </p:sp>
      <p:sp>
        <p:nvSpPr>
          <p:cNvPr id="34" name="Shape 32"/>
          <p:cNvSpPr/>
          <p:nvPr/>
        </p:nvSpPr>
        <p:spPr>
          <a:xfrm>
            <a:off x="2284995" y="3038277"/>
            <a:ext cx="347472" cy="277978"/>
          </a:xfrm>
          <a:prstGeom prst="ellipse">
            <a:avLst/>
          </a:prstGeom>
          <a:solidFill>
            <a:srgbClr val="D61920"/>
          </a:solidFill>
          <a:ln w="12700">
            <a:solidFill>
              <a:srgbClr val="D61920"/>
            </a:solidFill>
            <a:prstDash val="solid"/>
          </a:ln>
        </p:spPr>
        <p:txBody>
          <a:bodyPr/>
          <a:lstStyle/>
          <a:p>
            <a:endParaRPr lang="en-US"/>
          </a:p>
        </p:txBody>
      </p:sp>
      <p:sp>
        <p:nvSpPr>
          <p:cNvPr id="35" name="Text 33"/>
          <p:cNvSpPr/>
          <p:nvPr/>
        </p:nvSpPr>
        <p:spPr>
          <a:xfrm>
            <a:off x="2284995" y="3038277"/>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36" name="Text 34"/>
          <p:cNvSpPr/>
          <p:nvPr/>
        </p:nvSpPr>
        <p:spPr>
          <a:xfrm>
            <a:off x="2573923" y="3086044"/>
            <a:ext cx="1170432" cy="204826"/>
          </a:xfrm>
          <a:prstGeom prst="rect">
            <a:avLst/>
          </a:prstGeom>
          <a:noFill/>
          <a:ln/>
        </p:spPr>
        <p:txBody>
          <a:bodyPr wrap="square" rtlCol="0" anchor="ctr"/>
          <a:lstStyle/>
          <a:p>
            <a:pPr marL="0" indent="0">
              <a:buNone/>
            </a:pPr>
            <a:r>
              <a:rPr lang="en-US" sz="950" b="1" dirty="0">
                <a:solidFill>
                  <a:srgbClr val="2D2D2D"/>
                </a:solidFill>
                <a:latin typeface="Arial" pitchFamily="34" charset="0"/>
                <a:ea typeface="Arial" pitchFamily="34" charset="-122"/>
                <a:cs typeface="Arial" pitchFamily="34" charset="-120"/>
              </a:rPr>
              <a:t>CV Tuning</a:t>
            </a:r>
            <a:endParaRPr lang="en-US" sz="950" dirty="0"/>
          </a:p>
        </p:txBody>
      </p:sp>
      <p:sp>
        <p:nvSpPr>
          <p:cNvPr id="37" name="Text 35"/>
          <p:cNvSpPr/>
          <p:nvPr/>
        </p:nvSpPr>
        <p:spPr>
          <a:xfrm>
            <a:off x="2217530" y="3465973"/>
            <a:ext cx="1572768" cy="769020"/>
          </a:xfrm>
          <a:prstGeom prst="rect">
            <a:avLst/>
          </a:prstGeom>
          <a:noFill/>
          <a:ln/>
        </p:spPr>
        <p:txBody>
          <a:bodyPr wrap="square" rtlCol="0" anchor="ctr"/>
          <a:lstStyle/>
          <a:p>
            <a:r>
              <a:rPr lang="en-US" sz="850" dirty="0">
                <a:solidFill>
                  <a:srgbClr val="626568"/>
                </a:solidFill>
                <a:latin typeface="Arial" pitchFamily="34" charset="0"/>
                <a:ea typeface="Arial" pitchFamily="34" charset="-122"/>
                <a:cs typeface="Arial" pitchFamily="34" charset="-120"/>
              </a:rPr>
              <a:t>5-fold CV with recall as primary optimization metric</a:t>
            </a:r>
            <a:endParaRPr lang="en-US" sz="850" dirty="0"/>
          </a:p>
          <a:p>
            <a:pPr marL="0" indent="0">
              <a:buNone/>
            </a:pPr>
            <a:r>
              <a:rPr lang="en-US" sz="850" dirty="0">
                <a:solidFill>
                  <a:srgbClr val="626568"/>
                </a:solidFill>
                <a:latin typeface="Arial" pitchFamily="34" charset="0"/>
                <a:ea typeface="Arial" pitchFamily="34" charset="-122"/>
                <a:cs typeface="Arial" pitchFamily="34" charset="-120"/>
              </a:rPr>
              <a:t>Bayesian hyperparameter search (Tree Parzen Estimator); 50 iterations per model</a:t>
            </a:r>
            <a:endParaRPr lang="en-US" sz="850" dirty="0"/>
          </a:p>
        </p:txBody>
      </p:sp>
      <p:sp>
        <p:nvSpPr>
          <p:cNvPr id="38" name="Text 36"/>
          <p:cNvSpPr/>
          <p:nvPr/>
        </p:nvSpPr>
        <p:spPr>
          <a:xfrm>
            <a:off x="3670784" y="3115305"/>
            <a:ext cx="91440" cy="175565"/>
          </a:xfrm>
          <a:prstGeom prst="rect">
            <a:avLst/>
          </a:prstGeom>
          <a:noFill/>
          <a:ln/>
        </p:spPr>
        <p:txBody>
          <a:bodyPr wrap="square" rtlCol="0" anchor="ctr"/>
          <a:lstStyle/>
          <a:p>
            <a:pPr marL="0" indent="0" algn="ctr">
              <a:buNone/>
            </a:pPr>
            <a:r>
              <a:rPr lang="en-US" sz="1400" dirty="0">
                <a:solidFill>
                  <a:srgbClr val="D61920"/>
                </a:solidFill>
              </a:rPr>
              <a:t>→</a:t>
            </a:r>
            <a:endParaRPr lang="en-US" sz="1400" dirty="0"/>
          </a:p>
        </p:txBody>
      </p:sp>
      <p:sp>
        <p:nvSpPr>
          <p:cNvPr id="39" name="Shape 37"/>
          <p:cNvSpPr/>
          <p:nvPr/>
        </p:nvSpPr>
        <p:spPr>
          <a:xfrm>
            <a:off x="3950718" y="3036706"/>
            <a:ext cx="347472" cy="277978"/>
          </a:xfrm>
          <a:prstGeom prst="ellipse">
            <a:avLst/>
          </a:prstGeom>
          <a:solidFill>
            <a:srgbClr val="D61920"/>
          </a:solidFill>
          <a:ln w="12700">
            <a:solidFill>
              <a:srgbClr val="D61920"/>
            </a:solidFill>
            <a:prstDash val="solid"/>
          </a:ln>
        </p:spPr>
        <p:txBody>
          <a:bodyPr/>
          <a:lstStyle/>
          <a:p>
            <a:endParaRPr lang="en-US"/>
          </a:p>
        </p:txBody>
      </p:sp>
      <p:sp>
        <p:nvSpPr>
          <p:cNvPr id="40" name="Text 38"/>
          <p:cNvSpPr/>
          <p:nvPr/>
        </p:nvSpPr>
        <p:spPr>
          <a:xfrm>
            <a:off x="3950718" y="3036706"/>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41" name="Text 39"/>
          <p:cNvSpPr/>
          <p:nvPr/>
        </p:nvSpPr>
        <p:spPr>
          <a:xfrm>
            <a:off x="4245909" y="3086044"/>
            <a:ext cx="1170432" cy="204826"/>
          </a:xfrm>
          <a:prstGeom prst="rect">
            <a:avLst/>
          </a:prstGeom>
          <a:noFill/>
          <a:ln/>
        </p:spPr>
        <p:txBody>
          <a:bodyPr wrap="square" rtlCol="0" anchor="ctr"/>
          <a:lstStyle/>
          <a:p>
            <a:pPr marL="0" indent="0">
              <a:buNone/>
            </a:pPr>
            <a:r>
              <a:rPr lang="en-US" sz="950" b="1" dirty="0">
                <a:solidFill>
                  <a:srgbClr val="2D2D2D"/>
                </a:solidFill>
                <a:latin typeface="Arial" pitchFamily="34" charset="0"/>
                <a:ea typeface="Arial" pitchFamily="34" charset="-122"/>
                <a:cs typeface="Arial" pitchFamily="34" charset="-120"/>
              </a:rPr>
              <a:t>Model Training</a:t>
            </a:r>
            <a:endParaRPr lang="en-US" sz="950" dirty="0"/>
          </a:p>
        </p:txBody>
      </p:sp>
      <p:sp>
        <p:nvSpPr>
          <p:cNvPr id="42" name="Text 40"/>
          <p:cNvSpPr/>
          <p:nvPr/>
        </p:nvSpPr>
        <p:spPr>
          <a:xfrm>
            <a:off x="3835795" y="3334761"/>
            <a:ext cx="1572768" cy="336499"/>
          </a:xfrm>
          <a:prstGeom prst="rect">
            <a:avLst/>
          </a:prstGeom>
          <a:noFill/>
          <a:ln/>
        </p:spPr>
        <p:txBody>
          <a:bodyPr wrap="square" rtlCol="0" anchor="ctr"/>
          <a:lstStyle/>
          <a:p>
            <a:pPr marL="0" indent="0">
              <a:buNone/>
            </a:pPr>
            <a:endParaRPr lang="en-US" sz="850" dirty="0"/>
          </a:p>
        </p:txBody>
      </p:sp>
      <p:sp>
        <p:nvSpPr>
          <p:cNvPr id="43" name="Text 41"/>
          <p:cNvSpPr/>
          <p:nvPr/>
        </p:nvSpPr>
        <p:spPr>
          <a:xfrm>
            <a:off x="5426851" y="3115305"/>
            <a:ext cx="91440" cy="175565"/>
          </a:xfrm>
          <a:prstGeom prst="rect">
            <a:avLst/>
          </a:prstGeom>
          <a:noFill/>
          <a:ln/>
        </p:spPr>
        <p:txBody>
          <a:bodyPr wrap="square" rtlCol="0" anchor="ctr"/>
          <a:lstStyle/>
          <a:p>
            <a:pPr marL="0" indent="0" algn="ctr">
              <a:buNone/>
            </a:pPr>
            <a:r>
              <a:rPr lang="en-US" sz="1400" dirty="0">
                <a:solidFill>
                  <a:srgbClr val="D61920"/>
                </a:solidFill>
              </a:rPr>
              <a:t>→</a:t>
            </a:r>
            <a:endParaRPr lang="en-US" sz="1400" dirty="0"/>
          </a:p>
        </p:txBody>
      </p:sp>
      <p:sp>
        <p:nvSpPr>
          <p:cNvPr id="44" name="Shape 42"/>
          <p:cNvSpPr/>
          <p:nvPr/>
        </p:nvSpPr>
        <p:spPr>
          <a:xfrm>
            <a:off x="5711532" y="3037950"/>
            <a:ext cx="347472" cy="277978"/>
          </a:xfrm>
          <a:prstGeom prst="ellipse">
            <a:avLst/>
          </a:prstGeom>
          <a:solidFill>
            <a:srgbClr val="D61920"/>
          </a:solidFill>
          <a:ln w="12700">
            <a:solidFill>
              <a:srgbClr val="D61920"/>
            </a:solidFill>
            <a:prstDash val="solid"/>
          </a:ln>
        </p:spPr>
        <p:txBody>
          <a:bodyPr/>
          <a:lstStyle/>
          <a:p>
            <a:endParaRPr lang="en-US" dirty="0"/>
          </a:p>
        </p:txBody>
      </p:sp>
      <p:sp>
        <p:nvSpPr>
          <p:cNvPr id="45" name="Text 43"/>
          <p:cNvSpPr/>
          <p:nvPr/>
        </p:nvSpPr>
        <p:spPr>
          <a:xfrm>
            <a:off x="5711532" y="3037950"/>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46" name="Text 44"/>
          <p:cNvSpPr/>
          <p:nvPr/>
        </p:nvSpPr>
        <p:spPr>
          <a:xfrm>
            <a:off x="6011568" y="3077385"/>
            <a:ext cx="1170432" cy="204826"/>
          </a:xfrm>
          <a:prstGeom prst="rect">
            <a:avLst/>
          </a:prstGeom>
          <a:noFill/>
          <a:ln/>
        </p:spPr>
        <p:txBody>
          <a:bodyPr wrap="square" rtlCol="0" anchor="ctr"/>
          <a:lstStyle/>
          <a:p>
            <a:pPr marL="0" indent="0">
              <a:buNone/>
            </a:pPr>
            <a:r>
              <a:rPr lang="en-US" sz="950" b="1" dirty="0">
                <a:solidFill>
                  <a:srgbClr val="2D2D2D"/>
                </a:solidFill>
                <a:latin typeface="Arial" pitchFamily="34" charset="0"/>
                <a:ea typeface="Arial" pitchFamily="34" charset="-122"/>
                <a:cs typeface="Arial" pitchFamily="34" charset="-120"/>
              </a:rPr>
              <a:t>Models’ Output</a:t>
            </a:r>
            <a:endParaRPr lang="en-US" sz="950" dirty="0"/>
          </a:p>
        </p:txBody>
      </p:sp>
      <p:sp>
        <p:nvSpPr>
          <p:cNvPr id="47" name="Text 45"/>
          <p:cNvSpPr/>
          <p:nvPr/>
        </p:nvSpPr>
        <p:spPr>
          <a:xfrm>
            <a:off x="5665041" y="3467734"/>
            <a:ext cx="1572768" cy="336499"/>
          </a:xfrm>
          <a:prstGeom prst="rect">
            <a:avLst/>
          </a:prstGeom>
          <a:noFill/>
          <a:ln/>
        </p:spPr>
        <p:txBody>
          <a:bodyPr wrap="square" rtlCol="0" anchor="ctr"/>
          <a:lstStyle/>
          <a:p>
            <a:pPr marL="0" indent="0">
              <a:buNone/>
            </a:pPr>
            <a:r>
              <a:rPr lang="en-US" sz="850" dirty="0">
                <a:solidFill>
                  <a:srgbClr val="626568"/>
                </a:solidFill>
                <a:latin typeface="Arial" pitchFamily="34" charset="0"/>
                <a:ea typeface="Arial" pitchFamily="34" charset="-122"/>
                <a:cs typeface="Arial" pitchFamily="34" charset="-120"/>
              </a:rPr>
              <a:t>Models’ prediction</a:t>
            </a:r>
          </a:p>
        </p:txBody>
      </p:sp>
      <p:sp>
        <p:nvSpPr>
          <p:cNvPr id="48" name="Text 46"/>
          <p:cNvSpPr/>
          <p:nvPr/>
        </p:nvSpPr>
        <p:spPr>
          <a:xfrm>
            <a:off x="7109347" y="3115305"/>
            <a:ext cx="91440" cy="175565"/>
          </a:xfrm>
          <a:prstGeom prst="rect">
            <a:avLst/>
          </a:prstGeom>
          <a:noFill/>
          <a:ln/>
        </p:spPr>
        <p:txBody>
          <a:bodyPr wrap="square" rtlCol="0" anchor="ctr"/>
          <a:lstStyle/>
          <a:p>
            <a:pPr marL="0" indent="0" algn="ctr">
              <a:buNone/>
            </a:pPr>
            <a:r>
              <a:rPr lang="en-US" sz="1400" dirty="0">
                <a:solidFill>
                  <a:srgbClr val="D61920"/>
                </a:solidFill>
              </a:rPr>
              <a:t>→</a:t>
            </a:r>
            <a:endParaRPr lang="en-US" sz="1400" dirty="0"/>
          </a:p>
        </p:txBody>
      </p:sp>
      <p:sp>
        <p:nvSpPr>
          <p:cNvPr id="49" name="Shape 47"/>
          <p:cNvSpPr/>
          <p:nvPr/>
        </p:nvSpPr>
        <p:spPr>
          <a:xfrm>
            <a:off x="7335215" y="3040403"/>
            <a:ext cx="347472" cy="277978"/>
          </a:xfrm>
          <a:prstGeom prst="ellipse">
            <a:avLst/>
          </a:prstGeom>
          <a:solidFill>
            <a:srgbClr val="D61920"/>
          </a:solidFill>
          <a:ln w="12700">
            <a:solidFill>
              <a:srgbClr val="D61920"/>
            </a:solidFill>
            <a:prstDash val="solid"/>
          </a:ln>
        </p:spPr>
        <p:txBody>
          <a:bodyPr/>
          <a:lstStyle/>
          <a:p>
            <a:endParaRPr lang="en-US"/>
          </a:p>
        </p:txBody>
      </p:sp>
      <p:sp>
        <p:nvSpPr>
          <p:cNvPr id="50" name="Text 48"/>
          <p:cNvSpPr/>
          <p:nvPr/>
        </p:nvSpPr>
        <p:spPr>
          <a:xfrm>
            <a:off x="7335215" y="3040403"/>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51" name="Text 49"/>
          <p:cNvSpPr/>
          <p:nvPr/>
        </p:nvSpPr>
        <p:spPr>
          <a:xfrm>
            <a:off x="7621411" y="3086044"/>
            <a:ext cx="1170432" cy="204826"/>
          </a:xfrm>
          <a:prstGeom prst="rect">
            <a:avLst/>
          </a:prstGeom>
          <a:noFill/>
          <a:ln/>
        </p:spPr>
        <p:txBody>
          <a:bodyPr wrap="square" rtlCol="0" anchor="ctr"/>
          <a:lstStyle/>
          <a:p>
            <a:pPr marL="0" indent="0">
              <a:buNone/>
            </a:pPr>
            <a:r>
              <a:rPr lang="en-US" sz="950" b="1" dirty="0">
                <a:solidFill>
                  <a:srgbClr val="2D2D2D"/>
                </a:solidFill>
                <a:latin typeface="Arial" pitchFamily="34" charset="0"/>
                <a:ea typeface="Arial" pitchFamily="34" charset="-122"/>
                <a:cs typeface="Arial" pitchFamily="34" charset="-120"/>
              </a:rPr>
              <a:t>Test Evaluation</a:t>
            </a:r>
            <a:endParaRPr lang="en-US" sz="950" dirty="0"/>
          </a:p>
        </p:txBody>
      </p:sp>
      <p:sp>
        <p:nvSpPr>
          <p:cNvPr id="52" name="Text 50"/>
          <p:cNvSpPr/>
          <p:nvPr/>
        </p:nvSpPr>
        <p:spPr>
          <a:xfrm>
            <a:off x="7255874" y="3456422"/>
            <a:ext cx="1572768" cy="450261"/>
          </a:xfrm>
          <a:prstGeom prst="rect">
            <a:avLst/>
          </a:prstGeom>
          <a:noFill/>
          <a:ln/>
        </p:spPr>
        <p:txBody>
          <a:bodyPr wrap="square" rtlCol="0" anchor="ctr"/>
          <a:lstStyle/>
          <a:p>
            <a:pPr marL="0" indent="0">
              <a:buNone/>
            </a:pPr>
            <a:r>
              <a:rPr lang="en-US" sz="850" dirty="0">
                <a:solidFill>
                  <a:srgbClr val="626568"/>
                </a:solidFill>
                <a:latin typeface="Arial" pitchFamily="34" charset="0"/>
                <a:ea typeface="Arial" pitchFamily="34" charset="-122"/>
                <a:cs typeface="Arial" pitchFamily="34" charset="-120"/>
              </a:rPr>
              <a:t>Recall, Precision, F1, ROC-AUC, on held-out test set (314,483 providers)</a:t>
            </a:r>
            <a:endParaRPr lang="en-US" sz="850" dirty="0"/>
          </a:p>
        </p:txBody>
      </p:sp>
      <p:pic>
        <p:nvPicPr>
          <p:cNvPr id="54" name="Picture 53">
            <a:extLst>
              <a:ext uri="{FF2B5EF4-FFF2-40B4-BE49-F238E27FC236}">
                <a16:creationId xmlns:a16="http://schemas.microsoft.com/office/drawing/2014/main" id="{271A12C7-0ED3-4FED-FFAB-D0AF7C1CC2BB}"/>
              </a:ext>
            </a:extLst>
          </p:cNvPr>
          <p:cNvPicPr>
            <a:picLocks noChangeAspect="1"/>
          </p:cNvPicPr>
          <p:nvPr/>
        </p:nvPicPr>
        <p:blipFill>
          <a:blip r:embed="rId4">
            <a:alphaModFix amt="25000"/>
          </a:blip>
          <a:stretch>
            <a:fillRect/>
          </a:stretch>
        </p:blipFill>
        <p:spPr>
          <a:xfrm>
            <a:off x="553695" y="1248208"/>
            <a:ext cx="1654097" cy="1654097"/>
          </a:xfrm>
          <a:prstGeom prst="rect">
            <a:avLst/>
          </a:prstGeom>
          <a:noFill/>
          <a:effectLst>
            <a:outerShdw blurRad="50800" dist="50800" dir="5400000" algn="ctr" rotWithShape="0">
              <a:srgbClr val="000000">
                <a:alpha val="0"/>
              </a:srgbClr>
            </a:outerShdw>
          </a:effectLst>
        </p:spPr>
      </p:pic>
      <p:pic>
        <p:nvPicPr>
          <p:cNvPr id="57" name="Picture 56" descr="Decision tree icon with colorful squares on branch. Abstract tree in minimalistic style.">
            <a:extLst>
              <a:ext uri="{FF2B5EF4-FFF2-40B4-BE49-F238E27FC236}">
                <a16:creationId xmlns:a16="http://schemas.microsoft.com/office/drawing/2014/main" id="{731BCD6C-719B-06EF-5F36-C4AB1AD9AE39}"/>
              </a:ext>
            </a:extLst>
          </p:cNvPr>
          <p:cNvPicPr>
            <a:picLocks noChangeAspect="1"/>
          </p:cNvPicPr>
          <p:nvPr/>
        </p:nvPicPr>
        <p:blipFill>
          <a:blip r:embed="rId5">
            <a:alphaModFix amt="25000"/>
          </a:blip>
          <a:stretch>
            <a:fillRect/>
          </a:stretch>
        </p:blipFill>
        <p:spPr>
          <a:xfrm>
            <a:off x="2556411" y="1239927"/>
            <a:ext cx="2029969" cy="1621282"/>
          </a:xfrm>
          <a:prstGeom prst="rect">
            <a:avLst/>
          </a:prstGeom>
        </p:spPr>
      </p:pic>
      <p:pic>
        <p:nvPicPr>
          <p:cNvPr id="58" name="Picture 57">
            <a:extLst>
              <a:ext uri="{FF2B5EF4-FFF2-40B4-BE49-F238E27FC236}">
                <a16:creationId xmlns:a16="http://schemas.microsoft.com/office/drawing/2014/main" id="{C7816378-A0D2-65E8-ECE7-75A4FC768780}"/>
              </a:ext>
            </a:extLst>
          </p:cNvPr>
          <p:cNvPicPr>
            <a:picLocks noChangeAspect="1"/>
          </p:cNvPicPr>
          <p:nvPr/>
        </p:nvPicPr>
        <p:blipFill>
          <a:blip r:embed="rId6">
            <a:alphaModFix amt="25000"/>
          </a:blip>
          <a:stretch>
            <a:fillRect/>
          </a:stretch>
        </p:blipFill>
        <p:spPr>
          <a:xfrm>
            <a:off x="4777232" y="1254558"/>
            <a:ext cx="2029968" cy="1606651"/>
          </a:xfrm>
          <a:prstGeom prst="rect">
            <a:avLst/>
          </a:prstGeom>
        </p:spPr>
      </p:pic>
      <p:pic>
        <p:nvPicPr>
          <p:cNvPr id="59" name="Picture 58">
            <a:extLst>
              <a:ext uri="{FF2B5EF4-FFF2-40B4-BE49-F238E27FC236}">
                <a16:creationId xmlns:a16="http://schemas.microsoft.com/office/drawing/2014/main" id="{537982FA-8F62-424C-08A3-F350023D4C4D}"/>
              </a:ext>
            </a:extLst>
          </p:cNvPr>
          <p:cNvPicPr>
            <a:picLocks noChangeAspect="1"/>
          </p:cNvPicPr>
          <p:nvPr/>
        </p:nvPicPr>
        <p:blipFill>
          <a:blip r:embed="rId7">
            <a:alphaModFix amt="25000"/>
          </a:blip>
          <a:stretch>
            <a:fillRect/>
          </a:stretch>
        </p:blipFill>
        <p:spPr>
          <a:xfrm>
            <a:off x="6998052" y="1236817"/>
            <a:ext cx="2029968" cy="1616111"/>
          </a:xfrm>
          <a:prstGeom prst="rect">
            <a:avLst/>
          </a:prstGeom>
        </p:spPr>
      </p:pic>
      <p:sp>
        <p:nvSpPr>
          <p:cNvPr id="61" name="Text 45">
            <a:extLst>
              <a:ext uri="{FF2B5EF4-FFF2-40B4-BE49-F238E27FC236}">
                <a16:creationId xmlns:a16="http://schemas.microsoft.com/office/drawing/2014/main" id="{14949C79-7B4F-0E84-83F0-F96B73E1FE11}"/>
              </a:ext>
            </a:extLst>
          </p:cNvPr>
          <p:cNvSpPr/>
          <p:nvPr/>
        </p:nvSpPr>
        <p:spPr>
          <a:xfrm>
            <a:off x="3909170" y="3465972"/>
            <a:ext cx="1682496" cy="878241"/>
          </a:xfrm>
          <a:prstGeom prst="rect">
            <a:avLst/>
          </a:prstGeom>
          <a:noFill/>
          <a:ln/>
        </p:spPr>
        <p:txBody>
          <a:bodyPr wrap="square" rtlCol="0" anchor="ctr"/>
          <a:lstStyle/>
          <a:p>
            <a:r>
              <a:rPr lang="en-US" sz="850" dirty="0">
                <a:solidFill>
                  <a:srgbClr val="626568"/>
                </a:solidFill>
                <a:latin typeface="Arial" pitchFamily="34" charset="0"/>
                <a:cs typeface="Arial" pitchFamily="34" charset="-120"/>
              </a:rPr>
              <a:t>After the best hyperparameters were selected, the model was retrained on the training data, and the predicted probabilities were calibrated using a validation set.</a:t>
            </a:r>
          </a:p>
        </p:txBody>
      </p:sp>
      <p:sp>
        <p:nvSpPr>
          <p:cNvPr id="3" name="Text 2">
            <a:extLst>
              <a:ext uri="{FF2B5EF4-FFF2-40B4-BE49-F238E27FC236}">
                <a16:creationId xmlns:a16="http://schemas.microsoft.com/office/drawing/2014/main" id="{B45CE74C-8667-E5C8-0219-CEBB258553C8}"/>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4" name="PageNum">
            <a:extLst>
              <a:ext uri="{FF2B5EF4-FFF2-40B4-BE49-F238E27FC236}">
                <a16:creationId xmlns:a16="http://schemas.microsoft.com/office/drawing/2014/main" id="{1244AABA-2DDC-D85C-8440-9CF6DD6A665B}"/>
              </a:ext>
            </a:extLst>
          </p:cNvPr>
          <p:cNvSpPr>
            <a:spLocks noGrp="1"/>
          </p:cNvSpPr>
          <p:nvPr/>
        </p:nvSpPr>
        <p:spPr>
          <a:xfrm>
            <a:off x="4337436" y="4752828"/>
            <a:ext cx="302150" cy="260000"/>
          </a:xfrm>
          <a:prstGeom prst="rect">
            <a:avLst/>
          </a:prstGeom>
          <a:noFill/>
        </p:spPr>
        <p:txBody>
          <a:bodyPr lIns="0" tIns="0" rIns="0" bIns="0" anchor="ctr"/>
          <a:lstStyle/>
          <a:p>
            <a:pPr algn="ctr"/>
            <a:r>
              <a:rPr lang="en-US" sz="1000" b="0" dirty="0">
                <a:solidFill>
                  <a:srgbClr val="FFFFFF"/>
                </a:solidFill>
                <a:latin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RAG Pipeline</a:t>
            </a:r>
            <a:endParaRPr lang="en-US" sz="2400" dirty="0"/>
          </a:p>
        </p:txBody>
      </p:sp>
      <p:sp>
        <p:nvSpPr>
          <p:cNvPr id="5" name="Shape 3"/>
          <p:cNvSpPr/>
          <p:nvPr/>
        </p:nvSpPr>
        <p:spPr>
          <a:xfrm>
            <a:off x="365760" y="932688"/>
            <a:ext cx="2029968" cy="2656899"/>
          </a:xfrm>
          <a:prstGeom prst="roundRect">
            <a:avLst>
              <a:gd name="adj" fmla="val 3604"/>
            </a:avLst>
          </a:prstGeom>
          <a:solidFill>
            <a:srgbClr val="000000"/>
          </a:solidFill>
          <a:ln w="6350">
            <a:solidFill>
              <a:srgbClr val="000000"/>
            </a:solidFill>
            <a:prstDash val="solid"/>
          </a:ln>
          <a:effectLst>
            <a:outerShdw blurRad="63500" dist="25400" dir="2700000" algn="bl" rotWithShape="0">
              <a:srgbClr val="000000">
                <a:alpha val="10000"/>
              </a:srgbClr>
            </a:outerShdw>
          </a:effectLst>
        </p:spPr>
        <p:txBody>
          <a:bodyPr/>
          <a:lstStyle/>
          <a:p>
            <a:endParaRPr lang="en-US"/>
          </a:p>
        </p:txBody>
      </p:sp>
      <p:sp>
        <p:nvSpPr>
          <p:cNvPr id="6" name="Shape 4"/>
          <p:cNvSpPr/>
          <p:nvPr/>
        </p:nvSpPr>
        <p:spPr>
          <a:xfrm>
            <a:off x="1115568" y="1005840"/>
            <a:ext cx="530352" cy="424282"/>
          </a:xfrm>
          <a:prstGeom prst="ellipse">
            <a:avLst/>
          </a:prstGeom>
          <a:solidFill>
            <a:srgbClr val="D61920"/>
          </a:solidFill>
          <a:ln w="12700">
            <a:solidFill>
              <a:srgbClr val="D61920"/>
            </a:solidFill>
            <a:prstDash val="solid"/>
          </a:ln>
        </p:spPr>
        <p:txBody>
          <a:bodyPr/>
          <a:lstStyle/>
          <a:p>
            <a:endParaRPr lang="en-US"/>
          </a:p>
        </p:txBody>
      </p:sp>
      <p:sp>
        <p:nvSpPr>
          <p:cNvPr id="7" name="Text 5"/>
          <p:cNvSpPr/>
          <p:nvPr/>
        </p:nvSpPr>
        <p:spPr>
          <a:xfrm>
            <a:off x="1115568" y="1005840"/>
            <a:ext cx="530352" cy="424282"/>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8" name="Text 6"/>
          <p:cNvSpPr/>
          <p:nvPr/>
        </p:nvSpPr>
        <p:spPr>
          <a:xfrm>
            <a:off x="457200" y="1503274"/>
            <a:ext cx="1847088" cy="497434"/>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PDF Corpus</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Ingestion</a:t>
            </a:r>
            <a:endParaRPr lang="en-US" sz="1300" dirty="0"/>
          </a:p>
        </p:txBody>
      </p:sp>
      <p:sp>
        <p:nvSpPr>
          <p:cNvPr id="9" name="Text 7"/>
          <p:cNvSpPr/>
          <p:nvPr/>
        </p:nvSpPr>
        <p:spPr>
          <a:xfrm>
            <a:off x="457200" y="2059229"/>
            <a:ext cx="1847088" cy="1426464"/>
          </a:xfrm>
          <a:prstGeom prst="rect">
            <a:avLst/>
          </a:prstGeom>
          <a:noFill/>
          <a:ln/>
        </p:spPr>
        <p:txBody>
          <a:bodyPr wrap="square" rtlCol="0" anchor="ctr"/>
          <a:lstStyle/>
          <a:p>
            <a:pPr algn="ctr"/>
            <a:r>
              <a:rPr lang="en-US" sz="1050" dirty="0">
                <a:solidFill>
                  <a:srgbClr val="CCCCCC"/>
                </a:solidFill>
                <a:latin typeface="Arial" pitchFamily="34" charset="0"/>
                <a:ea typeface="Arial" pitchFamily="34" charset="-122"/>
                <a:cs typeface="Arial" pitchFamily="34" charset="-120"/>
              </a:rPr>
              <a:t>135 CMS &amp; OIG documents, </a:t>
            </a:r>
          </a:p>
          <a:p>
            <a:pPr algn="ctr"/>
            <a:endParaRPr lang="en-US" sz="1050" dirty="0">
              <a:solidFill>
                <a:srgbClr val="CCCCCC"/>
              </a:solidFill>
              <a:latin typeface="Arial" pitchFamily="34" charset="0"/>
              <a:ea typeface="Arial" pitchFamily="34" charset="-122"/>
              <a:cs typeface="Arial" pitchFamily="34" charset="-120"/>
            </a:endParaRPr>
          </a:p>
          <a:p>
            <a:pPr algn="ctr"/>
            <a:r>
              <a:rPr lang="en-US" sz="1050" dirty="0">
                <a:solidFill>
                  <a:srgbClr val="CCCCCC"/>
                </a:solidFill>
                <a:latin typeface="Arial" pitchFamily="34" charset="0"/>
                <a:ea typeface="Arial" pitchFamily="34" charset="-122"/>
                <a:cs typeface="Arial" pitchFamily="34" charset="-120"/>
              </a:rPr>
              <a:t>1. Method: PyPDF2</a:t>
            </a:r>
          </a:p>
          <a:p>
            <a:pPr algn="ctr"/>
            <a:r>
              <a:rPr lang="en-US" sz="1050" dirty="0">
                <a:solidFill>
                  <a:srgbClr val="CCCCCC"/>
                </a:solidFill>
                <a:latin typeface="Arial" pitchFamily="34" charset="0"/>
                <a:ea typeface="Arial" pitchFamily="34" charset="-122"/>
                <a:cs typeface="Arial" pitchFamily="34" charset="-120"/>
              </a:rPr>
              <a:t>2. Method 2: </a:t>
            </a:r>
            <a:r>
              <a:rPr lang="en-US" sz="1050" dirty="0" err="1">
                <a:solidFill>
                  <a:srgbClr val="CCCCCC"/>
                </a:solidFill>
                <a:latin typeface="Arial" pitchFamily="34" charset="0"/>
                <a:ea typeface="Arial" pitchFamily="34" charset="-122"/>
                <a:cs typeface="Arial" pitchFamily="34" charset="-120"/>
              </a:rPr>
              <a:t>pdfplumber</a:t>
            </a:r>
            <a:endParaRPr lang="en-US" sz="1050" dirty="0">
              <a:solidFill>
                <a:srgbClr val="CCCCCC"/>
              </a:solidFill>
              <a:latin typeface="Arial" pitchFamily="34" charset="0"/>
              <a:ea typeface="Arial" pitchFamily="34" charset="-122"/>
              <a:cs typeface="Arial" pitchFamily="34" charset="-120"/>
            </a:endParaRPr>
          </a:p>
          <a:p>
            <a:pPr algn="ctr"/>
            <a:r>
              <a:rPr lang="en-US" sz="1050" dirty="0">
                <a:solidFill>
                  <a:srgbClr val="CCCCCC"/>
                </a:solidFill>
                <a:latin typeface="Arial" pitchFamily="34" charset="0"/>
                <a:ea typeface="Arial" pitchFamily="34" charset="-122"/>
                <a:cs typeface="Arial" pitchFamily="34" charset="-120"/>
              </a:rPr>
              <a:t>3. Method : OCR</a:t>
            </a:r>
          </a:p>
          <a:p>
            <a:pPr marL="0" indent="0" algn="ctr">
              <a:buNone/>
            </a:pPr>
            <a:endParaRPr lang="en-US" sz="1050" dirty="0"/>
          </a:p>
        </p:txBody>
      </p:sp>
      <p:sp>
        <p:nvSpPr>
          <p:cNvPr id="10" name="Text 8"/>
          <p:cNvSpPr/>
          <p:nvPr/>
        </p:nvSpPr>
        <p:spPr>
          <a:xfrm>
            <a:off x="2395728" y="2278685"/>
            <a:ext cx="182880" cy="329184"/>
          </a:xfrm>
          <a:prstGeom prst="rect">
            <a:avLst/>
          </a:prstGeom>
          <a:noFill/>
          <a:ln/>
        </p:spPr>
        <p:txBody>
          <a:bodyPr wrap="square" rtlCol="0" anchor="ctr"/>
          <a:lstStyle/>
          <a:p>
            <a:pPr marL="0" indent="0" algn="ctr">
              <a:buNone/>
            </a:pPr>
            <a:r>
              <a:rPr lang="en-US" sz="2000" dirty="0">
                <a:solidFill>
                  <a:srgbClr val="D61920"/>
                </a:solidFill>
              </a:rPr>
              <a:t>→</a:t>
            </a:r>
            <a:endParaRPr lang="en-US" sz="2000" dirty="0"/>
          </a:p>
        </p:txBody>
      </p:sp>
      <p:sp>
        <p:nvSpPr>
          <p:cNvPr id="11" name="Shape 9"/>
          <p:cNvSpPr/>
          <p:nvPr/>
        </p:nvSpPr>
        <p:spPr>
          <a:xfrm>
            <a:off x="2578608" y="932688"/>
            <a:ext cx="2029968" cy="2656899"/>
          </a:xfrm>
          <a:prstGeom prst="roundRect">
            <a:avLst>
              <a:gd name="adj" fmla="val 3604"/>
            </a:avLst>
          </a:prstGeom>
          <a:solidFill>
            <a:srgbClr val="2D2D2D"/>
          </a:solidFill>
          <a:ln w="6350">
            <a:solidFill>
              <a:srgbClr val="2D2D2D"/>
            </a:solidFill>
            <a:prstDash val="solid"/>
          </a:ln>
          <a:effectLst>
            <a:outerShdw blurRad="63500" dist="25400" dir="2700000" algn="bl" rotWithShape="0">
              <a:srgbClr val="000000">
                <a:alpha val="10000"/>
              </a:srgbClr>
            </a:outerShdw>
          </a:effectLst>
        </p:spPr>
        <p:txBody>
          <a:bodyPr/>
          <a:lstStyle/>
          <a:p>
            <a:endParaRPr lang="en-US"/>
          </a:p>
        </p:txBody>
      </p:sp>
      <p:sp>
        <p:nvSpPr>
          <p:cNvPr id="12" name="Shape 10"/>
          <p:cNvSpPr/>
          <p:nvPr/>
        </p:nvSpPr>
        <p:spPr>
          <a:xfrm>
            <a:off x="3328416" y="1005840"/>
            <a:ext cx="530352" cy="424282"/>
          </a:xfrm>
          <a:prstGeom prst="ellipse">
            <a:avLst/>
          </a:prstGeom>
          <a:solidFill>
            <a:srgbClr val="D61920"/>
          </a:solidFill>
          <a:ln w="12700">
            <a:solidFill>
              <a:srgbClr val="D61920"/>
            </a:solidFill>
            <a:prstDash val="solid"/>
          </a:ln>
        </p:spPr>
        <p:txBody>
          <a:bodyPr/>
          <a:lstStyle/>
          <a:p>
            <a:endParaRPr lang="en-US"/>
          </a:p>
        </p:txBody>
      </p:sp>
      <p:sp>
        <p:nvSpPr>
          <p:cNvPr id="13" name="Text 11"/>
          <p:cNvSpPr/>
          <p:nvPr/>
        </p:nvSpPr>
        <p:spPr>
          <a:xfrm>
            <a:off x="3328416" y="1005840"/>
            <a:ext cx="530352" cy="424282"/>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4" name="Text 12"/>
          <p:cNvSpPr/>
          <p:nvPr/>
        </p:nvSpPr>
        <p:spPr>
          <a:xfrm>
            <a:off x="2670048" y="1503274"/>
            <a:ext cx="1847088" cy="497434"/>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Chunking &amp;</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Embedding</a:t>
            </a:r>
            <a:endParaRPr lang="en-US" sz="1300" dirty="0"/>
          </a:p>
        </p:txBody>
      </p:sp>
      <p:sp>
        <p:nvSpPr>
          <p:cNvPr id="15" name="Text 13"/>
          <p:cNvSpPr/>
          <p:nvPr/>
        </p:nvSpPr>
        <p:spPr>
          <a:xfrm>
            <a:off x="2670048" y="2059229"/>
            <a:ext cx="1847088" cy="1426464"/>
          </a:xfrm>
          <a:prstGeom prst="rect">
            <a:avLst/>
          </a:prstGeom>
          <a:noFill/>
          <a:ln/>
        </p:spPr>
        <p:txBody>
          <a:bodyPr wrap="square"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8,943 text chunks</a:t>
            </a:r>
            <a:endParaRPr lang="en-US" sz="1050" dirty="0"/>
          </a:p>
          <a:p>
            <a:pPr marL="0" indent="0" algn="ctr">
              <a:buNone/>
            </a:pPr>
            <a:r>
              <a:rPr lang="en-US" sz="1050" dirty="0">
                <a:solidFill>
                  <a:srgbClr val="AAAAAA"/>
                </a:solidFill>
                <a:latin typeface="Arial" pitchFamily="34" charset="0"/>
                <a:ea typeface="Arial" pitchFamily="34" charset="-122"/>
                <a:cs typeface="Arial" pitchFamily="34" charset="-120"/>
              </a:rPr>
              <a:t>all-MiniLM-L6-v2</a:t>
            </a:r>
            <a:endParaRPr lang="en-US" sz="1050" dirty="0"/>
          </a:p>
          <a:p>
            <a:pPr marL="0" indent="0" algn="ctr">
              <a:buNone/>
            </a:pPr>
            <a:r>
              <a:rPr lang="en-US" sz="1050" dirty="0">
                <a:solidFill>
                  <a:srgbClr val="AAAAAA"/>
                </a:solidFill>
                <a:latin typeface="Arial" pitchFamily="34" charset="0"/>
                <a:ea typeface="Arial" pitchFamily="34" charset="-122"/>
                <a:cs typeface="Arial" pitchFamily="34" charset="-120"/>
              </a:rPr>
              <a:t>(384-dim sentence embeddings)</a:t>
            </a:r>
            <a:endParaRPr lang="en-US" sz="1050" dirty="0"/>
          </a:p>
        </p:txBody>
      </p:sp>
      <p:sp>
        <p:nvSpPr>
          <p:cNvPr id="16" name="Text 14"/>
          <p:cNvSpPr/>
          <p:nvPr/>
        </p:nvSpPr>
        <p:spPr>
          <a:xfrm>
            <a:off x="4608576" y="2278685"/>
            <a:ext cx="182880" cy="329184"/>
          </a:xfrm>
          <a:prstGeom prst="rect">
            <a:avLst/>
          </a:prstGeom>
          <a:noFill/>
          <a:ln/>
        </p:spPr>
        <p:txBody>
          <a:bodyPr wrap="square" rtlCol="0" anchor="ctr"/>
          <a:lstStyle/>
          <a:p>
            <a:pPr marL="0" indent="0" algn="ctr">
              <a:buNone/>
            </a:pPr>
            <a:r>
              <a:rPr lang="en-US" sz="2000" dirty="0">
                <a:solidFill>
                  <a:srgbClr val="D61920"/>
                </a:solidFill>
              </a:rPr>
              <a:t>→</a:t>
            </a:r>
            <a:endParaRPr lang="en-US" sz="2000" dirty="0"/>
          </a:p>
        </p:txBody>
      </p:sp>
      <p:sp>
        <p:nvSpPr>
          <p:cNvPr id="17" name="Shape 15"/>
          <p:cNvSpPr/>
          <p:nvPr/>
        </p:nvSpPr>
        <p:spPr>
          <a:xfrm>
            <a:off x="4791456" y="932688"/>
            <a:ext cx="2029968" cy="2656899"/>
          </a:xfrm>
          <a:prstGeom prst="roundRect">
            <a:avLst>
              <a:gd name="adj" fmla="val 3604"/>
            </a:avLst>
          </a:prstGeom>
          <a:solidFill>
            <a:srgbClr val="333333"/>
          </a:solidFill>
          <a:ln w="6350">
            <a:solidFill>
              <a:srgbClr val="333333"/>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6"/>
          <p:cNvSpPr/>
          <p:nvPr/>
        </p:nvSpPr>
        <p:spPr>
          <a:xfrm>
            <a:off x="5541264" y="1005840"/>
            <a:ext cx="530352" cy="424282"/>
          </a:xfrm>
          <a:prstGeom prst="ellipse">
            <a:avLst/>
          </a:prstGeom>
          <a:solidFill>
            <a:srgbClr val="D61920"/>
          </a:solidFill>
          <a:ln w="12700">
            <a:solidFill>
              <a:srgbClr val="D61920"/>
            </a:solidFill>
            <a:prstDash val="solid"/>
          </a:ln>
        </p:spPr>
        <p:txBody>
          <a:bodyPr/>
          <a:lstStyle/>
          <a:p>
            <a:endParaRPr lang="en-US"/>
          </a:p>
        </p:txBody>
      </p:sp>
      <p:sp>
        <p:nvSpPr>
          <p:cNvPr id="19" name="Text 17"/>
          <p:cNvSpPr/>
          <p:nvPr/>
        </p:nvSpPr>
        <p:spPr>
          <a:xfrm>
            <a:off x="5541264" y="1005840"/>
            <a:ext cx="530352" cy="424282"/>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20" name="Text 18"/>
          <p:cNvSpPr/>
          <p:nvPr/>
        </p:nvSpPr>
        <p:spPr>
          <a:xfrm>
            <a:off x="4882896" y="1503274"/>
            <a:ext cx="1847088" cy="497434"/>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FAISS</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Vector Index</a:t>
            </a:r>
            <a:endParaRPr lang="en-US" sz="1300" dirty="0"/>
          </a:p>
        </p:txBody>
      </p:sp>
      <p:sp>
        <p:nvSpPr>
          <p:cNvPr id="21" name="Text 19"/>
          <p:cNvSpPr/>
          <p:nvPr/>
        </p:nvSpPr>
        <p:spPr>
          <a:xfrm>
            <a:off x="4882896" y="2059229"/>
            <a:ext cx="1847088" cy="1426464"/>
          </a:xfrm>
          <a:prstGeom prst="rect">
            <a:avLst/>
          </a:prstGeom>
          <a:noFill/>
          <a:ln/>
        </p:spPr>
        <p:txBody>
          <a:bodyPr wrap="square"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(inner product)</a:t>
            </a:r>
            <a:endParaRPr lang="en-US" sz="1050" dirty="0"/>
          </a:p>
          <a:p>
            <a:pPr marL="0" indent="0" algn="ctr">
              <a:buNone/>
            </a:pPr>
            <a:r>
              <a:rPr lang="en-US" sz="1050" dirty="0">
                <a:solidFill>
                  <a:srgbClr val="AAAAAA"/>
                </a:solidFill>
                <a:latin typeface="Arial" pitchFamily="34" charset="0"/>
                <a:ea typeface="Arial" pitchFamily="34" charset="-122"/>
                <a:cs typeface="Arial" pitchFamily="34" charset="-120"/>
              </a:rPr>
              <a:t>Exact nearest-neighbor search</a:t>
            </a:r>
            <a:endParaRPr lang="en-US" sz="1050" dirty="0"/>
          </a:p>
          <a:p>
            <a:pPr marL="0" indent="0" algn="ctr">
              <a:buNone/>
            </a:pPr>
            <a:r>
              <a:rPr lang="en-US" sz="1050" dirty="0">
                <a:solidFill>
                  <a:srgbClr val="AAAAAA"/>
                </a:solidFill>
                <a:latin typeface="Arial" pitchFamily="34" charset="0"/>
                <a:ea typeface="Arial" pitchFamily="34" charset="-122"/>
                <a:cs typeface="Arial" pitchFamily="34" charset="-120"/>
              </a:rPr>
              <a:t>Top-k retrieval by</a:t>
            </a:r>
            <a:endParaRPr lang="en-US" sz="1050" dirty="0"/>
          </a:p>
          <a:p>
            <a:pPr marL="0" indent="0" algn="ctr">
              <a:buNone/>
            </a:pPr>
            <a:r>
              <a:rPr lang="en-US" sz="1050" dirty="0">
                <a:solidFill>
                  <a:srgbClr val="AAAAAA"/>
                </a:solidFill>
                <a:latin typeface="Arial" pitchFamily="34" charset="0"/>
                <a:ea typeface="Arial" pitchFamily="34" charset="-122"/>
                <a:cs typeface="Arial" pitchFamily="34" charset="-120"/>
              </a:rPr>
              <a:t>cosine similarity</a:t>
            </a:r>
            <a:endParaRPr lang="en-US" sz="1050" dirty="0"/>
          </a:p>
        </p:txBody>
      </p:sp>
      <p:sp>
        <p:nvSpPr>
          <p:cNvPr id="22" name="Text 20"/>
          <p:cNvSpPr/>
          <p:nvPr/>
        </p:nvSpPr>
        <p:spPr>
          <a:xfrm>
            <a:off x="6821424" y="2278685"/>
            <a:ext cx="182880" cy="329184"/>
          </a:xfrm>
          <a:prstGeom prst="rect">
            <a:avLst/>
          </a:prstGeom>
          <a:noFill/>
          <a:ln/>
        </p:spPr>
        <p:txBody>
          <a:bodyPr wrap="square" rtlCol="0" anchor="ctr"/>
          <a:lstStyle/>
          <a:p>
            <a:pPr marL="0" indent="0" algn="ctr">
              <a:buNone/>
            </a:pPr>
            <a:r>
              <a:rPr lang="en-US" sz="2000" dirty="0">
                <a:solidFill>
                  <a:srgbClr val="D61920"/>
                </a:solidFill>
              </a:rPr>
              <a:t>→</a:t>
            </a:r>
            <a:endParaRPr lang="en-US" sz="2000" dirty="0"/>
          </a:p>
        </p:txBody>
      </p:sp>
      <p:sp>
        <p:nvSpPr>
          <p:cNvPr id="23" name="Shape 21"/>
          <p:cNvSpPr/>
          <p:nvPr/>
        </p:nvSpPr>
        <p:spPr>
          <a:xfrm>
            <a:off x="7004304" y="932688"/>
            <a:ext cx="2029968" cy="2656899"/>
          </a:xfrm>
          <a:prstGeom prst="roundRect">
            <a:avLst>
              <a:gd name="adj" fmla="val 3604"/>
            </a:avLst>
          </a:prstGeom>
          <a:solidFill>
            <a:srgbClr val="D61920"/>
          </a:solidFill>
          <a:ln w="6350">
            <a:solidFill>
              <a:srgbClr val="D61920"/>
            </a:solidFill>
            <a:prstDash val="solid"/>
          </a:ln>
          <a:effectLst>
            <a:outerShdw blurRad="63500" dist="25400" dir="2700000" algn="bl" rotWithShape="0">
              <a:srgbClr val="000000">
                <a:alpha val="10000"/>
              </a:srgbClr>
            </a:outerShdw>
          </a:effectLst>
        </p:spPr>
        <p:txBody>
          <a:bodyPr/>
          <a:lstStyle/>
          <a:p>
            <a:endParaRPr lang="en-US"/>
          </a:p>
        </p:txBody>
      </p:sp>
      <p:sp>
        <p:nvSpPr>
          <p:cNvPr id="24" name="Shape 22"/>
          <p:cNvSpPr/>
          <p:nvPr/>
        </p:nvSpPr>
        <p:spPr>
          <a:xfrm>
            <a:off x="7754112" y="1005840"/>
            <a:ext cx="530352" cy="424282"/>
          </a:xfrm>
          <a:prstGeom prst="ellipse">
            <a:avLst/>
          </a:prstGeom>
          <a:solidFill>
            <a:schemeClr val="tx1"/>
          </a:solidFill>
          <a:ln w="12700">
            <a:solidFill>
              <a:srgbClr val="D61920"/>
            </a:solidFill>
            <a:prstDash val="solid"/>
          </a:ln>
        </p:spPr>
        <p:txBody>
          <a:bodyPr/>
          <a:lstStyle/>
          <a:p>
            <a:endParaRPr lang="en-US"/>
          </a:p>
        </p:txBody>
      </p:sp>
      <p:sp>
        <p:nvSpPr>
          <p:cNvPr id="25" name="Text 23"/>
          <p:cNvSpPr/>
          <p:nvPr/>
        </p:nvSpPr>
        <p:spPr>
          <a:xfrm>
            <a:off x="7754112" y="1005840"/>
            <a:ext cx="530352" cy="424282"/>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6" name="Text 24"/>
          <p:cNvSpPr/>
          <p:nvPr/>
        </p:nvSpPr>
        <p:spPr>
          <a:xfrm>
            <a:off x="7095744" y="1503274"/>
            <a:ext cx="1847088" cy="497434"/>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CRAG</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Relevance Filter</a:t>
            </a:r>
            <a:endParaRPr lang="en-US" sz="1300" dirty="0"/>
          </a:p>
        </p:txBody>
      </p:sp>
      <p:sp>
        <p:nvSpPr>
          <p:cNvPr id="27" name="Text 25"/>
          <p:cNvSpPr/>
          <p:nvPr/>
        </p:nvSpPr>
        <p:spPr>
          <a:xfrm>
            <a:off x="7095744" y="2059229"/>
            <a:ext cx="1847088" cy="1426464"/>
          </a:xfrm>
          <a:prstGeom prst="rect">
            <a:avLst/>
          </a:prstGeom>
          <a:noFill/>
          <a:ln/>
        </p:spPr>
        <p:txBody>
          <a:bodyPr wrap="square" rtlCol="0" anchor="ctr"/>
          <a:lstStyle/>
          <a:p>
            <a:pPr marL="0" indent="0" algn="ctr">
              <a:buNone/>
            </a:pPr>
            <a:r>
              <a:rPr lang="en-US" sz="1050" dirty="0">
                <a:solidFill>
                  <a:srgbClr val="FFD0D0"/>
                </a:solidFill>
                <a:latin typeface="Arial" pitchFamily="34" charset="0"/>
                <a:ea typeface="Arial" pitchFamily="34" charset="-122"/>
                <a:cs typeface="Arial" pitchFamily="34" charset="-120"/>
              </a:rPr>
              <a:t>Corrective RAG filter:</a:t>
            </a:r>
            <a:endParaRPr lang="en-US" sz="1050" dirty="0"/>
          </a:p>
          <a:p>
            <a:pPr marL="0" indent="0" algn="ctr">
              <a:buNone/>
            </a:pPr>
            <a:r>
              <a:rPr lang="en-US" sz="1050" dirty="0">
                <a:solidFill>
                  <a:srgbClr val="FFD0D0"/>
                </a:solidFill>
                <a:latin typeface="Arial" pitchFamily="34" charset="0"/>
                <a:ea typeface="Arial" pitchFamily="34" charset="-122"/>
                <a:cs typeface="Arial" pitchFamily="34" charset="-120"/>
              </a:rPr>
              <a:t>discards chunks with</a:t>
            </a:r>
            <a:endParaRPr lang="en-US" sz="1050" dirty="0"/>
          </a:p>
          <a:p>
            <a:pPr marL="0" indent="0" algn="ctr">
              <a:buNone/>
            </a:pPr>
            <a:r>
              <a:rPr lang="en-US" sz="1050" dirty="0">
                <a:solidFill>
                  <a:srgbClr val="FFD0D0"/>
                </a:solidFill>
                <a:latin typeface="Arial" pitchFamily="34" charset="0"/>
                <a:ea typeface="Arial" pitchFamily="34" charset="-122"/>
                <a:cs typeface="Arial" pitchFamily="34" charset="-120"/>
              </a:rPr>
              <a:t>cosine similarity &lt; 0.6</a:t>
            </a:r>
            <a:endParaRPr lang="en-US" sz="1050" dirty="0"/>
          </a:p>
          <a:p>
            <a:pPr marL="0" indent="0" algn="ctr">
              <a:buNone/>
            </a:pPr>
            <a:r>
              <a:rPr lang="en-US" sz="1050" dirty="0">
                <a:solidFill>
                  <a:srgbClr val="FFD0D0"/>
                </a:solidFill>
                <a:latin typeface="Arial" pitchFamily="34" charset="0"/>
                <a:ea typeface="Arial" pitchFamily="34" charset="-122"/>
                <a:cs typeface="Arial" pitchFamily="34" charset="-120"/>
              </a:rPr>
              <a:t>Prevents off-topic citations</a:t>
            </a:r>
            <a:endParaRPr lang="en-US" sz="1050" dirty="0"/>
          </a:p>
        </p:txBody>
      </p:sp>
      <p:sp>
        <p:nvSpPr>
          <p:cNvPr id="3" name="Text 2">
            <a:extLst>
              <a:ext uri="{FF2B5EF4-FFF2-40B4-BE49-F238E27FC236}">
                <a16:creationId xmlns:a16="http://schemas.microsoft.com/office/drawing/2014/main" id="{7EBCB588-534F-F226-8995-8817E879C785}"/>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4" name="PageNum">
            <a:extLst>
              <a:ext uri="{FF2B5EF4-FFF2-40B4-BE49-F238E27FC236}">
                <a16:creationId xmlns:a16="http://schemas.microsoft.com/office/drawing/2014/main" id="{0EA1794B-BD2D-7B31-BA9E-CFD8B4C57B0A}"/>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b="0" dirty="0">
                <a:solidFill>
                  <a:srgbClr val="FFFFFF"/>
                </a:solidFill>
                <a:latin typeface="Aria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841248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rPr>
              <a:t>RAG Components: Embedding Model &amp; Vector Store</a:t>
            </a:r>
          </a:p>
        </p:txBody>
      </p:sp>
      <p:sp>
        <p:nvSpPr>
          <p:cNvPr id="10" name="Shape 10"/>
          <p:cNvSpPr/>
          <p:nvPr/>
        </p:nvSpPr>
        <p:spPr>
          <a:xfrm>
            <a:off x="270588" y="685800"/>
            <a:ext cx="4209972" cy="3905538"/>
          </a:xfrm>
          <a:prstGeom prst="roundRect">
            <a:avLst>
              <a:gd name="adj" fmla="val 5000"/>
            </a:avLst>
          </a:prstGeom>
          <a:solidFill>
            <a:srgbClr val="F4F4F4"/>
          </a:solidFill>
          <a:ln w="9525">
            <a:solidFill>
              <a:srgbClr val="E0E0E0"/>
            </a:solidFill>
          </a:ln>
        </p:spPr>
        <p:txBody>
          <a:bodyPr/>
          <a:lstStyle/>
          <a:p>
            <a:endParaRPr lang="en-US"/>
          </a:p>
        </p:txBody>
      </p:sp>
      <p:sp>
        <p:nvSpPr>
          <p:cNvPr id="11" name="Shape 11"/>
          <p:cNvSpPr/>
          <p:nvPr/>
        </p:nvSpPr>
        <p:spPr>
          <a:xfrm>
            <a:off x="365760" y="685800"/>
            <a:ext cx="4114800" cy="548640"/>
          </a:xfrm>
          <a:prstGeom prst="rect">
            <a:avLst/>
          </a:prstGeom>
          <a:solidFill>
            <a:srgbClr val="2D2D2D"/>
          </a:solidFill>
          <a:ln>
            <a:noFill/>
          </a:ln>
        </p:spPr>
        <p:txBody>
          <a:bodyPr/>
          <a:lstStyle/>
          <a:p>
            <a:endParaRPr lang="en-US"/>
          </a:p>
        </p:txBody>
      </p:sp>
      <p:sp>
        <p:nvSpPr>
          <p:cNvPr id="12" name="Text 12"/>
          <p:cNvSpPr/>
          <p:nvPr/>
        </p:nvSpPr>
        <p:spPr>
          <a:xfrm>
            <a:off x="365760" y="685800"/>
            <a:ext cx="4114800" cy="548640"/>
          </a:xfrm>
          <a:prstGeom prst="rect">
            <a:avLst/>
          </a:prstGeom>
          <a:noFill/>
          <a:ln/>
        </p:spPr>
        <p:txBody>
          <a:bodyPr wrap="square" lIns="137160" tIns="45720" rIns="137160" bIns="45720" rtlCol="0" anchor="ctr"/>
          <a:lstStyle/>
          <a:p>
            <a:pPr algn="ctr">
              <a:buNone/>
            </a:pPr>
            <a:r>
              <a:rPr lang="en-US" sz="1600" b="1" dirty="0">
                <a:solidFill>
                  <a:srgbClr val="FFFFFF"/>
                </a:solidFill>
                <a:latin typeface="Arial" pitchFamily="34" charset="0"/>
              </a:rPr>
              <a:t>all-MiniLM-L6-v2</a:t>
            </a:r>
          </a:p>
          <a:p>
            <a:pPr algn="ctr">
              <a:buNone/>
            </a:pPr>
            <a:r>
              <a:rPr lang="en-US" sz="950" dirty="0">
                <a:solidFill>
                  <a:srgbClr val="BBBBBB"/>
                </a:solidFill>
                <a:latin typeface="Arial" pitchFamily="34" charset="0"/>
              </a:rPr>
              <a:t>Sentence Transformer Embedding Model</a:t>
            </a:r>
          </a:p>
        </p:txBody>
      </p:sp>
      <p:sp>
        <p:nvSpPr>
          <p:cNvPr id="13" name="Text 13"/>
          <p:cNvSpPr/>
          <p:nvPr/>
        </p:nvSpPr>
        <p:spPr>
          <a:xfrm>
            <a:off x="365760" y="1313610"/>
            <a:ext cx="3931920" cy="3200000"/>
          </a:xfrm>
          <a:prstGeom prst="rect">
            <a:avLst/>
          </a:prstGeom>
          <a:noFill/>
          <a:ln/>
        </p:spPr>
        <p:txBody>
          <a:bodyPr wrap="square" lIns="0" tIns="0" rIns="0" bIns="0" rtlCol="0" anchor="t"/>
          <a:lstStyle/>
          <a:p>
            <a:pPr marL="0" indent="0">
              <a:buNone/>
            </a:pPr>
            <a:r>
              <a:rPr lang="en-US" sz="1100" b="1" dirty="0">
                <a:solidFill>
                  <a:srgbClr val="D61920"/>
                </a:solidFill>
                <a:latin typeface="Arial" pitchFamily="34" charset="0"/>
              </a:rPr>
              <a:t>What it does</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Converts text into 384-dimensional embeddings.</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 Captures the semantic meaning of text. </a:t>
            </a:r>
          </a:p>
          <a:p>
            <a:pPr marL="171450" indent="-171450">
              <a:buFont typeface="Arial" panose="020B0604020202020204" pitchFamily="34" charset="0"/>
              <a:buChar char="•"/>
            </a:pPr>
            <a:endParaRPr lang="en-US" sz="1100" dirty="0">
              <a:solidFill>
                <a:srgbClr val="626568"/>
              </a:solidFill>
              <a:latin typeface="Arial" pitchFamily="34" charset="0"/>
              <a:cs typeface="Arial" pitchFamily="34" charset="-120"/>
            </a:endParaRPr>
          </a:p>
          <a:p>
            <a:pPr marL="0" indent="0">
              <a:buNone/>
            </a:pPr>
            <a:endParaRPr lang="en-US" sz="1100" b="1" dirty="0">
              <a:solidFill>
                <a:srgbClr val="D61920"/>
              </a:solidFill>
              <a:latin typeface="Arial" pitchFamily="34" charset="0"/>
            </a:endParaRPr>
          </a:p>
          <a:p>
            <a:pPr marL="0" indent="0">
              <a:buNone/>
            </a:pPr>
            <a:r>
              <a:rPr lang="en-US" sz="1100" b="1" dirty="0">
                <a:solidFill>
                  <a:srgbClr val="D61920"/>
                </a:solidFill>
                <a:latin typeface="Arial" pitchFamily="34" charset="0"/>
              </a:rPr>
              <a:t>Why this model</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Fast and lightweight.</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Produces high-quality semantic embeddings.</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has a small embedding size (384 dimensions).</a:t>
            </a:r>
          </a:p>
          <a:p>
            <a:r>
              <a:rPr lang="en-US" sz="1100" dirty="0">
                <a:solidFill>
                  <a:srgbClr val="626568"/>
                </a:solidFill>
                <a:latin typeface="Arial" pitchFamily="34" charset="0"/>
                <a:cs typeface="Arial" pitchFamily="34" charset="-120"/>
              </a:rPr>
              <a:t> </a:t>
            </a:r>
          </a:p>
          <a:p>
            <a:endParaRPr lang="en-US" sz="1100" b="1" dirty="0">
              <a:solidFill>
                <a:srgbClr val="D61920"/>
              </a:solidFill>
              <a:latin typeface="Arial" pitchFamily="34" charset="0"/>
            </a:endParaRPr>
          </a:p>
          <a:p>
            <a:r>
              <a:rPr lang="en-US" sz="1100" b="1" dirty="0">
                <a:solidFill>
                  <a:srgbClr val="D61920"/>
                </a:solidFill>
                <a:latin typeface="Arial" pitchFamily="34" charset="0"/>
              </a:rPr>
              <a:t>In this project</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Embedded all CMS &amp; OIG document chunks.</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 Generated vectors for semantic search.</a:t>
            </a:r>
          </a:p>
        </p:txBody>
      </p:sp>
      <p:sp>
        <p:nvSpPr>
          <p:cNvPr id="20" name="Shape 20"/>
          <p:cNvSpPr/>
          <p:nvPr/>
        </p:nvSpPr>
        <p:spPr>
          <a:xfrm>
            <a:off x="4663440" y="685800"/>
            <a:ext cx="4114800" cy="3905538"/>
          </a:xfrm>
          <a:prstGeom prst="roundRect">
            <a:avLst>
              <a:gd name="adj" fmla="val 5000"/>
            </a:avLst>
          </a:prstGeom>
          <a:solidFill>
            <a:srgbClr val="FFF0F0"/>
          </a:solidFill>
          <a:ln w="9525">
            <a:solidFill>
              <a:srgbClr val="FDCACA"/>
            </a:solidFill>
          </a:ln>
        </p:spPr>
        <p:txBody>
          <a:bodyPr/>
          <a:lstStyle/>
          <a:p>
            <a:endParaRPr lang="en-US"/>
          </a:p>
        </p:txBody>
      </p:sp>
      <p:sp>
        <p:nvSpPr>
          <p:cNvPr id="21" name="Shape 21"/>
          <p:cNvSpPr/>
          <p:nvPr/>
        </p:nvSpPr>
        <p:spPr>
          <a:xfrm>
            <a:off x="4663440" y="685800"/>
            <a:ext cx="4114800" cy="548640"/>
          </a:xfrm>
          <a:prstGeom prst="rect">
            <a:avLst/>
          </a:prstGeom>
          <a:solidFill>
            <a:srgbClr val="D61920"/>
          </a:solidFill>
          <a:ln>
            <a:noFill/>
          </a:ln>
        </p:spPr>
        <p:txBody>
          <a:bodyPr/>
          <a:lstStyle/>
          <a:p>
            <a:endParaRPr lang="en-US"/>
          </a:p>
        </p:txBody>
      </p:sp>
      <p:sp>
        <p:nvSpPr>
          <p:cNvPr id="22" name="Text 22"/>
          <p:cNvSpPr/>
          <p:nvPr/>
        </p:nvSpPr>
        <p:spPr>
          <a:xfrm>
            <a:off x="4663440" y="685800"/>
            <a:ext cx="4114800" cy="548640"/>
          </a:xfrm>
          <a:prstGeom prst="rect">
            <a:avLst/>
          </a:prstGeom>
          <a:noFill/>
          <a:ln/>
        </p:spPr>
        <p:txBody>
          <a:bodyPr wrap="square" lIns="137160" tIns="45720" rIns="137160" bIns="45720" rtlCol="0" anchor="ctr"/>
          <a:lstStyle/>
          <a:p>
            <a:pPr algn="ctr">
              <a:buNone/>
            </a:pPr>
            <a:r>
              <a:rPr lang="en-US" sz="2400" b="1" dirty="0">
                <a:solidFill>
                  <a:srgbClr val="FFFFFF"/>
                </a:solidFill>
                <a:latin typeface="Arial" pitchFamily="34" charset="0"/>
              </a:rPr>
              <a:t>FAISS</a:t>
            </a:r>
          </a:p>
          <a:p>
            <a:pPr algn="ctr">
              <a:buNone/>
            </a:pPr>
            <a:r>
              <a:rPr lang="en-US" sz="950" dirty="0">
                <a:solidFill>
                  <a:srgbClr val="FFCCCC"/>
                </a:solidFill>
                <a:latin typeface="Arial" pitchFamily="34" charset="0"/>
              </a:rPr>
              <a:t>Facebook AI Similarity Search</a:t>
            </a:r>
          </a:p>
        </p:txBody>
      </p:sp>
      <p:sp>
        <p:nvSpPr>
          <p:cNvPr id="23" name="Text 23"/>
          <p:cNvSpPr/>
          <p:nvPr/>
        </p:nvSpPr>
        <p:spPr>
          <a:xfrm>
            <a:off x="4754880" y="1280000"/>
            <a:ext cx="3931920" cy="3200000"/>
          </a:xfrm>
          <a:prstGeom prst="rect">
            <a:avLst/>
          </a:prstGeom>
          <a:noFill/>
          <a:ln/>
        </p:spPr>
        <p:txBody>
          <a:bodyPr wrap="square" lIns="0" tIns="0" rIns="0" bIns="0" rtlCol="0" anchor="t"/>
          <a:lstStyle/>
          <a:p>
            <a:pPr marL="0" indent="0">
              <a:buNone/>
            </a:pPr>
            <a:r>
              <a:rPr lang="en-US" sz="1100" b="1" dirty="0">
                <a:solidFill>
                  <a:srgbClr val="D61920"/>
                </a:solidFill>
                <a:latin typeface="Arial" pitchFamily="34" charset="0"/>
              </a:rPr>
              <a:t>What it does</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Stores document embeddings. </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Retrieves the most similar chunks. </a:t>
            </a:r>
          </a:p>
          <a:p>
            <a:pPr marL="0" indent="0">
              <a:buNone/>
            </a:pPr>
            <a:endParaRPr lang="en-US" sz="1100" b="1" dirty="0">
              <a:solidFill>
                <a:srgbClr val="D61920"/>
              </a:solidFill>
              <a:latin typeface="Arial" pitchFamily="34" charset="0"/>
            </a:endParaRPr>
          </a:p>
          <a:p>
            <a:pPr marL="0" indent="0">
              <a:buNone/>
            </a:pPr>
            <a:r>
              <a:rPr lang="en-US" sz="1100" b="1" dirty="0">
                <a:solidFill>
                  <a:srgbClr val="D61920"/>
                </a:solidFill>
                <a:latin typeface="Arial" pitchFamily="34" charset="0"/>
              </a:rPr>
              <a:t>Why FAISS</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Very fast similarity search.</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 Efficient for large document collections.</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Designed specifically for vector search.</a:t>
            </a:r>
          </a:p>
          <a:p>
            <a:r>
              <a:rPr lang="en-US" sz="1100" dirty="0">
                <a:solidFill>
                  <a:srgbClr val="626568"/>
                </a:solidFill>
                <a:latin typeface="Arial" pitchFamily="34" charset="0"/>
                <a:cs typeface="Arial" pitchFamily="34" charset="-120"/>
              </a:rPr>
              <a:t> </a:t>
            </a:r>
          </a:p>
          <a:p>
            <a:pPr marL="0" indent="0">
              <a:buNone/>
            </a:pPr>
            <a:endParaRPr lang="en-US" sz="1100" b="1" dirty="0">
              <a:solidFill>
                <a:srgbClr val="D61920"/>
              </a:solidFill>
              <a:latin typeface="Arial" pitchFamily="34" charset="0"/>
            </a:endParaRPr>
          </a:p>
          <a:p>
            <a:pPr marL="0" indent="0">
              <a:buNone/>
            </a:pPr>
            <a:r>
              <a:rPr lang="en-US" sz="1100" b="1" dirty="0">
                <a:solidFill>
                  <a:srgbClr val="D61920"/>
                </a:solidFill>
                <a:latin typeface="Arial" pitchFamily="34" charset="0"/>
              </a:rPr>
              <a:t>In this project</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Stored all document embeddings.</a:t>
            </a:r>
          </a:p>
          <a:p>
            <a:pPr marL="171450" indent="-171450">
              <a:buFont typeface="Arial" panose="020B0604020202020204" pitchFamily="34" charset="0"/>
              <a:buChar char="•"/>
            </a:pPr>
            <a:r>
              <a:rPr lang="en-US" sz="1100" dirty="0">
                <a:solidFill>
                  <a:srgbClr val="626568"/>
                </a:solidFill>
                <a:latin typeface="Arial" pitchFamily="34" charset="0"/>
                <a:cs typeface="Arial" pitchFamily="34" charset="-120"/>
              </a:rPr>
              <a:t> Returned the Top-K relevant chunks for the LLM.</a:t>
            </a:r>
          </a:p>
        </p:txBody>
      </p:sp>
      <p:sp>
        <p:nvSpPr>
          <p:cNvPr id="3" name="Text 2">
            <a:extLst>
              <a:ext uri="{FF2B5EF4-FFF2-40B4-BE49-F238E27FC236}">
                <a16:creationId xmlns:a16="http://schemas.microsoft.com/office/drawing/2014/main" id="{E7D274EC-CA1D-2F87-8178-55B90D298F0C}"/>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4" name="PageNum">
            <a:extLst>
              <a:ext uri="{FF2B5EF4-FFF2-40B4-BE49-F238E27FC236}">
                <a16:creationId xmlns:a16="http://schemas.microsoft.com/office/drawing/2014/main" id="{E8F611AB-967E-1E0D-B28F-298F74052E43}"/>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b="0" dirty="0">
                <a:solidFill>
                  <a:srgbClr val="FFFFFF"/>
                </a:solidFill>
                <a:latin typeface="Aria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Investigator Chatbot: Four Specialized Tools</a:t>
            </a:r>
            <a:endParaRPr lang="en-US" sz="2400" dirty="0"/>
          </a:p>
        </p:txBody>
      </p:sp>
      <p:sp>
        <p:nvSpPr>
          <p:cNvPr id="5" name="Shape 3"/>
          <p:cNvSpPr/>
          <p:nvPr/>
        </p:nvSpPr>
        <p:spPr>
          <a:xfrm>
            <a:off x="365760" y="941832"/>
            <a:ext cx="4114800" cy="1536192"/>
          </a:xfrm>
          <a:prstGeom prst="roundRect">
            <a:avLst>
              <a:gd name="adj" fmla="val 4762"/>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6" name="Shape 4"/>
          <p:cNvSpPr/>
          <p:nvPr/>
        </p:nvSpPr>
        <p:spPr>
          <a:xfrm>
            <a:off x="493776" y="1042416"/>
            <a:ext cx="914400" cy="329184"/>
          </a:xfrm>
          <a:prstGeom prst="roundRect">
            <a:avLst>
              <a:gd name="adj" fmla="val 16667"/>
            </a:avLst>
          </a:prstGeom>
          <a:solidFill>
            <a:srgbClr val="D61920"/>
          </a:solidFill>
          <a:ln w="12700">
            <a:solidFill>
              <a:srgbClr val="D61920"/>
            </a:solidFill>
            <a:prstDash val="solid"/>
          </a:ln>
        </p:spPr>
        <p:txBody>
          <a:bodyPr/>
          <a:lstStyle/>
          <a:p>
            <a:endParaRPr lang="en-US"/>
          </a:p>
        </p:txBody>
      </p:sp>
      <p:sp>
        <p:nvSpPr>
          <p:cNvPr id="7" name="Text 5"/>
          <p:cNvSpPr/>
          <p:nvPr/>
        </p:nvSpPr>
        <p:spPr>
          <a:xfrm>
            <a:off x="493776" y="1042416"/>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Tool 1</a:t>
            </a:r>
            <a:endParaRPr lang="en-US" sz="1100" dirty="0"/>
          </a:p>
        </p:txBody>
      </p:sp>
      <p:sp>
        <p:nvSpPr>
          <p:cNvPr id="8" name="Text 6"/>
          <p:cNvSpPr/>
          <p:nvPr/>
        </p:nvSpPr>
        <p:spPr>
          <a:xfrm>
            <a:off x="1481328" y="1042416"/>
            <a:ext cx="2871216" cy="277978"/>
          </a:xfrm>
          <a:prstGeom prst="rect">
            <a:avLst/>
          </a:prstGeom>
          <a:noFill/>
          <a:ln/>
        </p:spPr>
        <p:txBody>
          <a:bodyPr wrap="square" rtlCol="0" anchor="ctr"/>
          <a:lstStyle/>
          <a:p>
            <a:pPr marL="0" indent="0">
              <a:buNone/>
            </a:pPr>
            <a:r>
              <a:rPr lang="en-US" sz="1300" b="1" dirty="0">
                <a:solidFill>
                  <a:srgbClr val="2D2D2D"/>
                </a:solidFill>
                <a:latin typeface="Arial" pitchFamily="34" charset="0"/>
                <a:ea typeface="Arial" pitchFamily="34" charset="-122"/>
                <a:cs typeface="Arial" pitchFamily="34" charset="-120"/>
              </a:rPr>
              <a:t>lookup_provider</a:t>
            </a:r>
            <a:endParaRPr lang="en-US" sz="1300" dirty="0"/>
          </a:p>
        </p:txBody>
      </p:sp>
      <p:sp>
        <p:nvSpPr>
          <p:cNvPr id="9" name="Text 7"/>
          <p:cNvSpPr/>
          <p:nvPr/>
        </p:nvSpPr>
        <p:spPr>
          <a:xfrm>
            <a:off x="493776" y="1444752"/>
            <a:ext cx="3858768" cy="585216"/>
          </a:xfrm>
          <a:prstGeom prst="rect">
            <a:avLst/>
          </a:prstGeom>
          <a:noFill/>
          <a:ln/>
        </p:spPr>
        <p:txBody>
          <a:bodyPr wrap="square" rtlCol="0" anchor="ctr"/>
          <a:lstStyle/>
          <a:p>
            <a:r>
              <a:rPr lang="en-US" sz="1100" dirty="0">
                <a:solidFill>
                  <a:srgbClr val="626568"/>
                </a:solidFill>
                <a:latin typeface="Arial" pitchFamily="34" charset="0"/>
                <a:cs typeface="Arial" pitchFamily="34" charset="-120"/>
              </a:rPr>
              <a:t>Retrieves a provider's fraud risk score, SHAP feature contributions, specialty information, and risk category for a single-provider investigation.</a:t>
            </a:r>
          </a:p>
        </p:txBody>
      </p:sp>
      <p:sp>
        <p:nvSpPr>
          <p:cNvPr id="11" name="Shape 9"/>
          <p:cNvSpPr/>
          <p:nvPr/>
        </p:nvSpPr>
        <p:spPr>
          <a:xfrm>
            <a:off x="4663440" y="932688"/>
            <a:ext cx="4114800" cy="1536192"/>
          </a:xfrm>
          <a:prstGeom prst="roundRect">
            <a:avLst>
              <a:gd name="adj" fmla="val 4762"/>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2" name="Shape 10"/>
          <p:cNvSpPr/>
          <p:nvPr/>
        </p:nvSpPr>
        <p:spPr>
          <a:xfrm>
            <a:off x="4791456" y="1042416"/>
            <a:ext cx="914400" cy="329184"/>
          </a:xfrm>
          <a:prstGeom prst="roundRect">
            <a:avLst>
              <a:gd name="adj" fmla="val 16667"/>
            </a:avLst>
          </a:prstGeom>
          <a:solidFill>
            <a:srgbClr val="D61920"/>
          </a:solidFill>
          <a:ln w="12700">
            <a:solidFill>
              <a:srgbClr val="D61920"/>
            </a:solidFill>
            <a:prstDash val="solid"/>
          </a:ln>
        </p:spPr>
        <p:txBody>
          <a:bodyPr/>
          <a:lstStyle/>
          <a:p>
            <a:endParaRPr lang="en-US"/>
          </a:p>
        </p:txBody>
      </p:sp>
      <p:sp>
        <p:nvSpPr>
          <p:cNvPr id="13" name="Text 11"/>
          <p:cNvSpPr/>
          <p:nvPr/>
        </p:nvSpPr>
        <p:spPr>
          <a:xfrm>
            <a:off x="4791456" y="1042416"/>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Tool 2</a:t>
            </a:r>
            <a:endParaRPr lang="en-US" sz="1100" dirty="0"/>
          </a:p>
        </p:txBody>
      </p:sp>
      <p:sp>
        <p:nvSpPr>
          <p:cNvPr id="14" name="Text 12"/>
          <p:cNvSpPr/>
          <p:nvPr/>
        </p:nvSpPr>
        <p:spPr>
          <a:xfrm>
            <a:off x="5779008" y="1042416"/>
            <a:ext cx="2871216" cy="277978"/>
          </a:xfrm>
          <a:prstGeom prst="rect">
            <a:avLst/>
          </a:prstGeom>
          <a:noFill/>
          <a:ln/>
        </p:spPr>
        <p:txBody>
          <a:bodyPr wrap="square" rtlCol="0" anchor="ctr"/>
          <a:lstStyle/>
          <a:p>
            <a:pPr marL="0" indent="0">
              <a:buNone/>
            </a:pPr>
            <a:r>
              <a:rPr lang="en-US" sz="1300" b="1" dirty="0">
                <a:solidFill>
                  <a:srgbClr val="2D2D2D"/>
                </a:solidFill>
                <a:latin typeface="Arial" pitchFamily="34" charset="0"/>
                <a:ea typeface="Arial" pitchFamily="34" charset="-122"/>
                <a:cs typeface="Arial" pitchFamily="34" charset="-120"/>
              </a:rPr>
              <a:t>search_policy</a:t>
            </a:r>
            <a:endParaRPr lang="en-US" sz="1300" dirty="0"/>
          </a:p>
        </p:txBody>
      </p:sp>
      <p:sp>
        <p:nvSpPr>
          <p:cNvPr id="15" name="Text 13"/>
          <p:cNvSpPr/>
          <p:nvPr/>
        </p:nvSpPr>
        <p:spPr>
          <a:xfrm>
            <a:off x="4791456" y="1444752"/>
            <a:ext cx="3858768" cy="585216"/>
          </a:xfrm>
          <a:prstGeom prst="rect">
            <a:avLst/>
          </a:prstGeom>
          <a:noFill/>
          <a:ln/>
        </p:spPr>
        <p:txBody>
          <a:bodyPr wrap="square" rtlCol="0" anchor="ctr"/>
          <a:lstStyle/>
          <a:p>
            <a:r>
              <a:rPr lang="en-US" sz="1100" dirty="0"/>
              <a:t>Searches CMS and OIG policy documents and returns the most relevant guidance that supports the investigator's question.</a:t>
            </a:r>
          </a:p>
        </p:txBody>
      </p:sp>
      <p:sp>
        <p:nvSpPr>
          <p:cNvPr id="17" name="Shape 15"/>
          <p:cNvSpPr/>
          <p:nvPr/>
        </p:nvSpPr>
        <p:spPr>
          <a:xfrm>
            <a:off x="365760" y="2596896"/>
            <a:ext cx="4114800" cy="1536192"/>
          </a:xfrm>
          <a:prstGeom prst="roundRect">
            <a:avLst>
              <a:gd name="adj" fmla="val 4762"/>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6"/>
          <p:cNvSpPr/>
          <p:nvPr/>
        </p:nvSpPr>
        <p:spPr>
          <a:xfrm>
            <a:off x="493776" y="2706624"/>
            <a:ext cx="914400" cy="329184"/>
          </a:xfrm>
          <a:prstGeom prst="roundRect">
            <a:avLst>
              <a:gd name="adj" fmla="val 16667"/>
            </a:avLst>
          </a:prstGeom>
          <a:solidFill>
            <a:srgbClr val="D61920"/>
          </a:solidFill>
          <a:ln w="12700">
            <a:solidFill>
              <a:srgbClr val="D61920"/>
            </a:solidFill>
            <a:prstDash val="solid"/>
          </a:ln>
        </p:spPr>
        <p:txBody>
          <a:bodyPr/>
          <a:lstStyle/>
          <a:p>
            <a:endParaRPr lang="en-US"/>
          </a:p>
        </p:txBody>
      </p:sp>
      <p:sp>
        <p:nvSpPr>
          <p:cNvPr id="19" name="Text 17"/>
          <p:cNvSpPr/>
          <p:nvPr/>
        </p:nvSpPr>
        <p:spPr>
          <a:xfrm>
            <a:off x="493776" y="2706624"/>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Tool 3</a:t>
            </a:r>
            <a:endParaRPr lang="en-US" sz="1100" dirty="0"/>
          </a:p>
        </p:txBody>
      </p:sp>
      <p:sp>
        <p:nvSpPr>
          <p:cNvPr id="20" name="Text 18"/>
          <p:cNvSpPr/>
          <p:nvPr/>
        </p:nvSpPr>
        <p:spPr>
          <a:xfrm>
            <a:off x="1481328" y="2706624"/>
            <a:ext cx="2871216" cy="277978"/>
          </a:xfrm>
          <a:prstGeom prst="rect">
            <a:avLst/>
          </a:prstGeom>
          <a:noFill/>
          <a:ln/>
        </p:spPr>
        <p:txBody>
          <a:bodyPr wrap="square" rtlCol="0" anchor="ctr"/>
          <a:lstStyle/>
          <a:p>
            <a:pPr marL="0" indent="0">
              <a:buNone/>
            </a:pPr>
            <a:r>
              <a:rPr lang="en-US" sz="1300" b="1" dirty="0">
                <a:solidFill>
                  <a:srgbClr val="2D2D2D"/>
                </a:solidFill>
                <a:latin typeface="Arial" pitchFamily="34" charset="0"/>
                <a:ea typeface="Arial" pitchFamily="34" charset="-122"/>
                <a:cs typeface="Arial" pitchFamily="34" charset="-120"/>
              </a:rPr>
              <a:t>get_shap_explanation</a:t>
            </a:r>
            <a:endParaRPr lang="en-US" sz="1300" dirty="0"/>
          </a:p>
        </p:txBody>
      </p:sp>
      <p:sp>
        <p:nvSpPr>
          <p:cNvPr id="21" name="Text 19"/>
          <p:cNvSpPr/>
          <p:nvPr/>
        </p:nvSpPr>
        <p:spPr>
          <a:xfrm>
            <a:off x="493776" y="3108960"/>
            <a:ext cx="3858768" cy="585216"/>
          </a:xfrm>
          <a:prstGeom prst="rect">
            <a:avLst/>
          </a:prstGeom>
          <a:noFill/>
          <a:ln/>
        </p:spPr>
        <p:txBody>
          <a:bodyPr wrap="square" rtlCol="0" anchor="ctr"/>
          <a:lstStyle/>
          <a:p>
            <a:r>
              <a:rPr lang="en-US" sz="1100" dirty="0">
                <a:solidFill>
                  <a:srgbClr val="626568"/>
                </a:solidFill>
                <a:latin typeface="Arial" pitchFamily="34" charset="0"/>
                <a:cs typeface="Arial" pitchFamily="34" charset="-120"/>
              </a:rPr>
              <a:t>Converts SHAP feature contributions into a clear natural-language explanation of why the provider was classified as high risk.</a:t>
            </a:r>
          </a:p>
        </p:txBody>
      </p:sp>
      <p:sp>
        <p:nvSpPr>
          <p:cNvPr id="23" name="Shape 21"/>
          <p:cNvSpPr/>
          <p:nvPr/>
        </p:nvSpPr>
        <p:spPr>
          <a:xfrm>
            <a:off x="4663440" y="2592504"/>
            <a:ext cx="4114800" cy="1536192"/>
          </a:xfrm>
          <a:prstGeom prst="roundRect">
            <a:avLst>
              <a:gd name="adj" fmla="val 4762"/>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24" name="Shape 22"/>
          <p:cNvSpPr/>
          <p:nvPr/>
        </p:nvSpPr>
        <p:spPr>
          <a:xfrm>
            <a:off x="4791456" y="2706624"/>
            <a:ext cx="914400" cy="329184"/>
          </a:xfrm>
          <a:prstGeom prst="roundRect">
            <a:avLst>
              <a:gd name="adj" fmla="val 16667"/>
            </a:avLst>
          </a:prstGeom>
          <a:solidFill>
            <a:srgbClr val="D61920"/>
          </a:solidFill>
          <a:ln w="12700">
            <a:solidFill>
              <a:srgbClr val="D61920"/>
            </a:solidFill>
            <a:prstDash val="solid"/>
          </a:ln>
        </p:spPr>
        <p:txBody>
          <a:bodyPr/>
          <a:lstStyle/>
          <a:p>
            <a:endParaRPr lang="en-US"/>
          </a:p>
        </p:txBody>
      </p:sp>
      <p:sp>
        <p:nvSpPr>
          <p:cNvPr id="25" name="Text 23"/>
          <p:cNvSpPr/>
          <p:nvPr/>
        </p:nvSpPr>
        <p:spPr>
          <a:xfrm>
            <a:off x="4791456" y="2706624"/>
            <a:ext cx="914400" cy="329184"/>
          </a:xfrm>
          <a:prstGeom prst="rect">
            <a:avLst/>
          </a:prstGeom>
          <a:noFill/>
          <a:ln/>
        </p:spPr>
        <p:txBody>
          <a:bodyPr wrap="square" lIns="0" tIns="0" rIns="0" bIns="0" rtlCol="0" anchor="ctr"/>
          <a:lstStyle/>
          <a:p>
            <a:pPr marL="0" indent="0" algn="ctr">
              <a:buNone/>
            </a:pPr>
            <a:r>
              <a:rPr lang="en-US" sz="1100" b="1" dirty="0">
                <a:solidFill>
                  <a:srgbClr val="FFFFFF"/>
                </a:solidFill>
              </a:rPr>
              <a:t>Tool 4</a:t>
            </a:r>
            <a:endParaRPr lang="en-US" sz="1100" dirty="0"/>
          </a:p>
        </p:txBody>
      </p:sp>
      <p:sp>
        <p:nvSpPr>
          <p:cNvPr id="26" name="Text 24"/>
          <p:cNvSpPr/>
          <p:nvPr/>
        </p:nvSpPr>
        <p:spPr>
          <a:xfrm>
            <a:off x="5779008" y="2706624"/>
            <a:ext cx="2871216" cy="277978"/>
          </a:xfrm>
          <a:prstGeom prst="rect">
            <a:avLst/>
          </a:prstGeom>
          <a:noFill/>
          <a:ln/>
        </p:spPr>
        <p:txBody>
          <a:bodyPr wrap="square" rtlCol="0" anchor="ctr"/>
          <a:lstStyle/>
          <a:p>
            <a:r>
              <a:rPr lang="en-US" sz="1300" b="1" dirty="0" err="1">
                <a:solidFill>
                  <a:srgbClr val="2D2D2D"/>
                </a:solidFill>
                <a:latin typeface="Arial" pitchFamily="34" charset="0"/>
                <a:cs typeface="Arial" pitchFamily="34" charset="-120"/>
              </a:rPr>
              <a:t>review_flagged_providers</a:t>
            </a:r>
            <a:endParaRPr lang="en-US" sz="1300" b="1" dirty="0">
              <a:solidFill>
                <a:srgbClr val="2D2D2D"/>
              </a:solidFill>
              <a:latin typeface="Arial" pitchFamily="34" charset="0"/>
              <a:cs typeface="Arial" pitchFamily="34" charset="-120"/>
            </a:endParaRPr>
          </a:p>
        </p:txBody>
      </p:sp>
      <p:sp>
        <p:nvSpPr>
          <p:cNvPr id="27" name="Text 25"/>
          <p:cNvSpPr/>
          <p:nvPr/>
        </p:nvSpPr>
        <p:spPr>
          <a:xfrm>
            <a:off x="4791456" y="3108960"/>
            <a:ext cx="3858768" cy="585216"/>
          </a:xfrm>
          <a:prstGeom prst="rect">
            <a:avLst/>
          </a:prstGeom>
          <a:noFill/>
          <a:ln/>
        </p:spPr>
        <p:txBody>
          <a:bodyPr wrap="square" rtlCol="0" anchor="ctr"/>
          <a:lstStyle/>
          <a:p>
            <a:r>
              <a:rPr lang="en-US" sz="1100" dirty="0">
                <a:solidFill>
                  <a:srgbClr val="626568"/>
                </a:solidFill>
                <a:latin typeface="Arial" pitchFamily="34" charset="0"/>
                <a:cs typeface="Arial" pitchFamily="34" charset="-120"/>
              </a:rPr>
              <a:t>Displays high-risk providers not listed in the LEIE database and supports filtering by specialty, fraud probability, and key risk factors.</a:t>
            </a:r>
          </a:p>
        </p:txBody>
      </p:sp>
      <p:sp>
        <p:nvSpPr>
          <p:cNvPr id="29" name="Text 27"/>
          <p:cNvSpPr/>
          <p:nvPr/>
        </p:nvSpPr>
        <p:spPr>
          <a:xfrm>
            <a:off x="365760" y="4274121"/>
            <a:ext cx="8412480" cy="164592"/>
          </a:xfrm>
          <a:prstGeom prst="rect">
            <a:avLst/>
          </a:prstGeom>
          <a:noFill/>
          <a:ln/>
        </p:spPr>
        <p:txBody>
          <a:bodyPr wrap="square" rtlCol="0" anchor="ctr"/>
          <a:lstStyle/>
          <a:p>
            <a:pPr marL="0" indent="0" algn="ctr">
              <a:buNone/>
            </a:pPr>
            <a:r>
              <a:rPr lang="en-US" sz="1000" i="1" dirty="0">
                <a:solidFill>
                  <a:srgbClr val="626568"/>
                </a:solidFill>
                <a:latin typeface="Arial" pitchFamily="34" charset="0"/>
                <a:ea typeface="Arial" pitchFamily="34" charset="-122"/>
                <a:cs typeface="Arial" pitchFamily="34" charset="-120"/>
              </a:rPr>
              <a:t>Built with </a:t>
            </a:r>
            <a:r>
              <a:rPr lang="en-US" sz="1000" i="1" dirty="0" err="1">
                <a:solidFill>
                  <a:srgbClr val="626568"/>
                </a:solidFill>
                <a:latin typeface="Arial" pitchFamily="34" charset="0"/>
                <a:ea typeface="Arial" pitchFamily="34" charset="-122"/>
                <a:cs typeface="Arial" pitchFamily="34" charset="-120"/>
              </a:rPr>
              <a:t>Streamlit</a:t>
            </a:r>
            <a:r>
              <a:rPr lang="en-US" sz="1000" i="1" dirty="0">
                <a:solidFill>
                  <a:srgbClr val="626568"/>
                </a:solidFill>
                <a:latin typeface="Arial" pitchFamily="34" charset="0"/>
                <a:ea typeface="Arial" pitchFamily="34" charset="-122"/>
                <a:cs typeface="Arial" pitchFamily="34" charset="-120"/>
              </a:rPr>
              <a:t>  ·  LangChain tool-calling  ·  Claude claude-haiku-4-5 (LLM orchestration)</a:t>
            </a:r>
            <a:endParaRPr lang="en-US" sz="1000" dirty="0"/>
          </a:p>
        </p:txBody>
      </p:sp>
      <p:sp>
        <p:nvSpPr>
          <p:cNvPr id="3" name="Text 2">
            <a:extLst>
              <a:ext uri="{FF2B5EF4-FFF2-40B4-BE49-F238E27FC236}">
                <a16:creationId xmlns:a16="http://schemas.microsoft.com/office/drawing/2014/main" id="{1FE172EB-60D6-F8E5-59BB-BCC90E649668}"/>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4" name="PageNum">
            <a:extLst>
              <a:ext uri="{FF2B5EF4-FFF2-40B4-BE49-F238E27FC236}">
                <a16:creationId xmlns:a16="http://schemas.microsoft.com/office/drawing/2014/main" id="{58862995-5166-5734-B5B2-F355AA356CB9}"/>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20</a:t>
            </a:r>
            <a:endParaRPr lang="en-US" sz="1000" b="0" dirty="0">
              <a:solidFill>
                <a:srgbClr val="FFFFFF"/>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stretch>
            <a:fillRect/>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EE0FB8C-0954-BAE7-CED5-4C17FD7624E6}"/>
              </a:ext>
            </a:extLst>
          </p:cNvPr>
          <p:cNvPicPr>
            <a:picLocks noChangeAspect="1"/>
          </p:cNvPicPr>
          <p:nvPr/>
        </p:nvPicPr>
        <p:blipFill>
          <a:blip r:embed="rId3"/>
          <a:stretch>
            <a:fillRect/>
          </a:stretch>
        </p:blipFill>
        <p:spPr>
          <a:xfrm>
            <a:off x="53348" y="0"/>
            <a:ext cx="4235241" cy="3365939"/>
          </a:xfrm>
          <a:prstGeom prst="rect">
            <a:avLst/>
          </a:prstGeom>
        </p:spPr>
      </p:pic>
      <p:pic>
        <p:nvPicPr>
          <p:cNvPr id="11" name="Picture 10">
            <a:extLst>
              <a:ext uri="{FF2B5EF4-FFF2-40B4-BE49-F238E27FC236}">
                <a16:creationId xmlns:a16="http://schemas.microsoft.com/office/drawing/2014/main" id="{1BB889F5-9F8E-AD1B-12F3-C5E3888A0C68}"/>
              </a:ext>
            </a:extLst>
          </p:cNvPr>
          <p:cNvPicPr>
            <a:picLocks noChangeAspect="1"/>
          </p:cNvPicPr>
          <p:nvPr/>
        </p:nvPicPr>
        <p:blipFill>
          <a:blip r:embed="rId4"/>
          <a:stretch>
            <a:fillRect/>
          </a:stretch>
        </p:blipFill>
        <p:spPr>
          <a:xfrm>
            <a:off x="4327633" y="1269123"/>
            <a:ext cx="4816367" cy="3184636"/>
          </a:xfrm>
          <a:prstGeom prst="rect">
            <a:avLst/>
          </a:prstGeom>
        </p:spPr>
      </p:pic>
      <p:sp>
        <p:nvSpPr>
          <p:cNvPr id="4" name="Text 2">
            <a:extLst>
              <a:ext uri="{FF2B5EF4-FFF2-40B4-BE49-F238E27FC236}">
                <a16:creationId xmlns:a16="http://schemas.microsoft.com/office/drawing/2014/main" id="{DDCED86F-0145-745C-1CE3-1AFED6555EAF}"/>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PageNum">
            <a:extLst>
              <a:ext uri="{FF2B5EF4-FFF2-40B4-BE49-F238E27FC236}">
                <a16:creationId xmlns:a16="http://schemas.microsoft.com/office/drawing/2014/main" id="{209D63B3-3F2C-32C9-D5F9-5CD15A3D4BB2}"/>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21</a:t>
            </a:r>
            <a:endParaRPr lang="en-US" sz="1000" b="0" dirty="0">
              <a:solidFill>
                <a:srgbClr val="FFFFFF"/>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65760" y="2023110"/>
            <a:ext cx="8412480" cy="1097280"/>
          </a:xfrm>
          <a:prstGeom prst="rect">
            <a:avLst/>
          </a:prstGeom>
          <a:noFill/>
          <a:ln/>
        </p:spPr>
        <p:txBody>
          <a:bodyPr wrap="square" rtlCol="0" anchor="ctr"/>
          <a:lstStyle/>
          <a:p>
            <a:pPr marL="0" indent="0" algn="ctr">
              <a:buNone/>
            </a:pPr>
            <a:r>
              <a:rPr lang="en-US" sz="4200" b="1" dirty="0">
                <a:solidFill>
                  <a:srgbClr val="FFFFFF"/>
                </a:solidFill>
                <a:latin typeface="Arial" pitchFamily="34" charset="0"/>
                <a:ea typeface="Arial" pitchFamily="34" charset="-122"/>
                <a:cs typeface="Arial" pitchFamily="34" charset="-120"/>
              </a:rPr>
              <a:t>Experiments &amp; Results</a:t>
            </a:r>
            <a:endParaRPr lang="en-US" sz="4200" dirty="0"/>
          </a:p>
        </p:txBody>
      </p:sp>
      <p:sp>
        <p:nvSpPr>
          <p:cNvPr id="2" name="Rectangle 1">
            <a:extLst>
              <a:ext uri="{FF2B5EF4-FFF2-40B4-BE49-F238E27FC236}">
                <a16:creationId xmlns:a16="http://schemas.microsoft.com/office/drawing/2014/main" id="{97FF6DA1-0B2B-C280-278F-D03F0A6886F7}"/>
              </a:ext>
            </a:extLst>
          </p:cNvPr>
          <p:cNvSpPr/>
          <p:nvPr/>
        </p:nvSpPr>
        <p:spPr>
          <a:xfrm>
            <a:off x="898497" y="4780000"/>
            <a:ext cx="1614115" cy="197517"/>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 2">
            <a:extLst>
              <a:ext uri="{FF2B5EF4-FFF2-40B4-BE49-F238E27FC236}">
                <a16:creationId xmlns:a16="http://schemas.microsoft.com/office/drawing/2014/main" id="{DA0A2803-165E-89A4-03E0-10251E38E4DE}"/>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PageNum">
            <a:extLst>
              <a:ext uri="{FF2B5EF4-FFF2-40B4-BE49-F238E27FC236}">
                <a16:creationId xmlns:a16="http://schemas.microsoft.com/office/drawing/2014/main" id="{69E0B8BE-4BE3-2915-B82A-2F4C7A247CF6}"/>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22</a:t>
            </a:r>
            <a:endParaRPr lang="en-US" sz="1000" b="0" dirty="0">
              <a:solidFill>
                <a:srgbClr val="FFFFFF"/>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Model Performance</a:t>
            </a:r>
            <a:endParaRPr lang="en-US" sz="2400" dirty="0"/>
          </a:p>
        </p:txBody>
      </p:sp>
      <p:sp>
        <p:nvSpPr>
          <p:cNvPr id="3" name="TextBox 2">
            <a:extLst>
              <a:ext uri="{FF2B5EF4-FFF2-40B4-BE49-F238E27FC236}">
                <a16:creationId xmlns:a16="http://schemas.microsoft.com/office/drawing/2014/main" id="{9C16282C-7F5C-0155-A25E-C0DC47AD7924}"/>
              </a:ext>
            </a:extLst>
          </p:cNvPr>
          <p:cNvSpPr txBox="1"/>
          <p:nvPr/>
        </p:nvSpPr>
        <p:spPr>
          <a:xfrm>
            <a:off x="982514" y="4269410"/>
            <a:ext cx="6447452" cy="276999"/>
          </a:xfrm>
          <a:prstGeom prst="rect">
            <a:avLst/>
          </a:prstGeom>
          <a:noFill/>
        </p:spPr>
        <p:txBody>
          <a:bodyPr wrap="square" rtlCol="0">
            <a:spAutoFit/>
          </a:bodyPr>
          <a:lstStyle/>
          <a:p>
            <a:r>
              <a:rPr lang="en-US" sz="1200" dirty="0">
                <a:solidFill>
                  <a:srgbClr val="626568"/>
                </a:solidFill>
                <a:latin typeface="Arial" pitchFamily="34" charset="0"/>
                <a:cs typeface="Arial" pitchFamily="34" charset="-120"/>
              </a:rPr>
              <a:t>Keeping all features reduced the performance of most models, except </a:t>
            </a:r>
            <a:r>
              <a:rPr lang="en-US" sz="1200" dirty="0" err="1">
                <a:solidFill>
                  <a:srgbClr val="626568"/>
                </a:solidFill>
                <a:latin typeface="Arial" pitchFamily="34" charset="0"/>
                <a:cs typeface="Arial" pitchFamily="34" charset="-120"/>
              </a:rPr>
              <a:t>XGBoost</a:t>
            </a:r>
            <a:r>
              <a:rPr lang="en-US" sz="1200" dirty="0">
                <a:solidFill>
                  <a:srgbClr val="626568"/>
                </a:solidFill>
                <a:latin typeface="Arial" pitchFamily="34" charset="0"/>
                <a:cs typeface="Arial" pitchFamily="34" charset="-120"/>
              </a:rPr>
              <a:t>.</a:t>
            </a:r>
          </a:p>
        </p:txBody>
      </p:sp>
      <p:sp>
        <p:nvSpPr>
          <p:cNvPr id="4" name="Text 2">
            <a:extLst>
              <a:ext uri="{FF2B5EF4-FFF2-40B4-BE49-F238E27FC236}">
                <a16:creationId xmlns:a16="http://schemas.microsoft.com/office/drawing/2014/main" id="{914301BD-21C6-2BC2-3B76-DD973BC9EEDB}"/>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PageNum">
            <a:extLst>
              <a:ext uri="{FF2B5EF4-FFF2-40B4-BE49-F238E27FC236}">
                <a16:creationId xmlns:a16="http://schemas.microsoft.com/office/drawing/2014/main" id="{211078B5-0BCF-2F28-0B19-935D4A51FE32}"/>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23</a:t>
            </a:r>
            <a:endParaRPr lang="en-US" sz="1000" b="0" dirty="0">
              <a:solidFill>
                <a:srgbClr val="FFFFFF"/>
              </a:solidFill>
              <a:latin typeface="Arial"/>
            </a:endParaRPr>
          </a:p>
        </p:txBody>
      </p:sp>
      <p:pic>
        <p:nvPicPr>
          <p:cNvPr id="7" name="Picture 6">
            <a:extLst>
              <a:ext uri="{FF2B5EF4-FFF2-40B4-BE49-F238E27FC236}">
                <a16:creationId xmlns:a16="http://schemas.microsoft.com/office/drawing/2014/main" id="{B167469A-59DD-2317-E9C5-AD97284E8BA2}"/>
              </a:ext>
            </a:extLst>
          </p:cNvPr>
          <p:cNvPicPr>
            <a:picLocks noChangeAspect="1"/>
          </p:cNvPicPr>
          <p:nvPr/>
        </p:nvPicPr>
        <p:blipFill>
          <a:blip r:embed="rId4"/>
          <a:stretch>
            <a:fillRect/>
          </a:stretch>
        </p:blipFill>
        <p:spPr>
          <a:xfrm>
            <a:off x="217151" y="579815"/>
            <a:ext cx="8709697" cy="3544161"/>
          </a:xfrm>
          <a:prstGeom prst="rect">
            <a:avLst/>
          </a:prstGeom>
        </p:spPr>
      </p:pic>
      <p:sp>
        <p:nvSpPr>
          <p:cNvPr id="8" name="Rounded Rectangle 7">
            <a:extLst>
              <a:ext uri="{FF2B5EF4-FFF2-40B4-BE49-F238E27FC236}">
                <a16:creationId xmlns:a16="http://schemas.microsoft.com/office/drawing/2014/main" id="{E6D78E3A-E903-9899-0115-09090525FE8E}"/>
              </a:ext>
            </a:extLst>
          </p:cNvPr>
          <p:cNvSpPr/>
          <p:nvPr/>
        </p:nvSpPr>
        <p:spPr>
          <a:xfrm>
            <a:off x="217151" y="2896949"/>
            <a:ext cx="8709696" cy="104387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A12509C2-BF48-7B10-0E0F-42749A03DAC9}"/>
              </a:ext>
            </a:extLst>
          </p:cNvPr>
          <p:cNvSpPr/>
          <p:nvPr/>
        </p:nvSpPr>
        <p:spPr>
          <a:xfrm>
            <a:off x="217151" y="1618034"/>
            <a:ext cx="8709696" cy="104387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Provider-Level Explanation: NPI 250978</a:t>
            </a:r>
            <a:endParaRPr lang="en-US" sz="2400" dirty="0"/>
          </a:p>
        </p:txBody>
      </p:sp>
      <p:sp>
        <p:nvSpPr>
          <p:cNvPr id="6" name="Text 4"/>
          <p:cNvSpPr/>
          <p:nvPr/>
        </p:nvSpPr>
        <p:spPr>
          <a:xfrm>
            <a:off x="3440666" y="893501"/>
            <a:ext cx="4160520" cy="201168"/>
          </a:xfrm>
          <a:prstGeom prst="rect">
            <a:avLst/>
          </a:prstGeom>
          <a:noFill/>
          <a:ln/>
        </p:spPr>
        <p:txBody>
          <a:bodyPr wrap="square" rtlCol="0" anchor="ctr"/>
          <a:lstStyle/>
          <a:p>
            <a:pPr marL="0" indent="0" algn="ctr">
              <a:buNone/>
            </a:pPr>
            <a:r>
              <a:rPr lang="en-US" sz="1050" b="1" dirty="0">
                <a:solidFill>
                  <a:srgbClr val="D61920"/>
                </a:solidFill>
                <a:latin typeface="Arial" pitchFamily="34" charset="0"/>
                <a:ea typeface="Arial" pitchFamily="34" charset="-122"/>
                <a:cs typeface="Arial" pitchFamily="34" charset="-120"/>
              </a:rPr>
              <a:t>Prediction Breakdown — NPI 250978 (Fraud 100%)</a:t>
            </a:r>
            <a:endParaRPr lang="en-US" sz="1050" dirty="0"/>
          </a:p>
        </p:txBody>
      </p:sp>
      <p:pic>
        <p:nvPicPr>
          <p:cNvPr id="8" name="Image 1" descr="/sessions/vibrant-upbeat-sagan/mnt/outputs/thesis_fig_004.png"/>
          <p:cNvPicPr>
            <a:picLocks noChangeAspect="1"/>
          </p:cNvPicPr>
          <p:nvPr/>
        </p:nvPicPr>
        <p:blipFill>
          <a:blip r:embed="rId4"/>
          <a:srcRect/>
          <a:stretch/>
        </p:blipFill>
        <p:spPr>
          <a:xfrm>
            <a:off x="3738808" y="1192593"/>
            <a:ext cx="4160520" cy="2980944"/>
          </a:xfrm>
          <a:prstGeom prst="rect">
            <a:avLst/>
          </a:prstGeom>
        </p:spPr>
      </p:pic>
      <p:pic>
        <p:nvPicPr>
          <p:cNvPr id="11" name="Picture 10">
            <a:extLst>
              <a:ext uri="{FF2B5EF4-FFF2-40B4-BE49-F238E27FC236}">
                <a16:creationId xmlns:a16="http://schemas.microsoft.com/office/drawing/2014/main" id="{90323BC2-3F4A-4E01-EE91-441B7FA30A71}"/>
              </a:ext>
            </a:extLst>
          </p:cNvPr>
          <p:cNvPicPr>
            <a:picLocks noChangeAspect="1"/>
          </p:cNvPicPr>
          <p:nvPr/>
        </p:nvPicPr>
        <p:blipFill>
          <a:blip r:embed="rId5"/>
          <a:stretch>
            <a:fillRect/>
          </a:stretch>
        </p:blipFill>
        <p:spPr>
          <a:xfrm>
            <a:off x="457201" y="595010"/>
            <a:ext cx="2247900" cy="3953479"/>
          </a:xfrm>
          <a:prstGeom prst="rect">
            <a:avLst/>
          </a:prstGeom>
        </p:spPr>
      </p:pic>
      <p:sp>
        <p:nvSpPr>
          <p:cNvPr id="3" name="Text 2">
            <a:extLst>
              <a:ext uri="{FF2B5EF4-FFF2-40B4-BE49-F238E27FC236}">
                <a16:creationId xmlns:a16="http://schemas.microsoft.com/office/drawing/2014/main" id="{3D7AD286-9897-CE41-EB76-83B2F6963BD3}"/>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4" name="PageNum">
            <a:extLst>
              <a:ext uri="{FF2B5EF4-FFF2-40B4-BE49-F238E27FC236}">
                <a16:creationId xmlns:a16="http://schemas.microsoft.com/office/drawing/2014/main" id="{B3B7272F-E3B9-04BE-B96E-A2F320EA1365}"/>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24</a:t>
            </a:r>
            <a:endParaRPr lang="en-US" sz="1000" b="0" dirty="0">
              <a:solidFill>
                <a:srgbClr val="FFFFFF"/>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SHAP-to-Text Bridge: Connecting Model to Policy</a:t>
            </a:r>
            <a:endParaRPr lang="en-US" sz="2400" dirty="0"/>
          </a:p>
        </p:txBody>
      </p:sp>
      <p:sp>
        <p:nvSpPr>
          <p:cNvPr id="5" name="Shape 3"/>
          <p:cNvSpPr/>
          <p:nvPr/>
        </p:nvSpPr>
        <p:spPr>
          <a:xfrm>
            <a:off x="365760" y="914400"/>
            <a:ext cx="8412480" cy="1097280"/>
          </a:xfrm>
          <a:prstGeom prst="roundRect">
            <a:avLst>
              <a:gd name="adj" fmla="val 6667"/>
            </a:avLst>
          </a:prstGeom>
          <a:solidFill>
            <a:srgbClr val="F4F4F4"/>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6" name="Text 4"/>
          <p:cNvSpPr/>
          <p:nvPr/>
        </p:nvSpPr>
        <p:spPr>
          <a:xfrm>
            <a:off x="512064" y="961949"/>
            <a:ext cx="8229600" cy="204826"/>
          </a:xfrm>
          <a:prstGeom prst="rect">
            <a:avLst/>
          </a:prstGeom>
          <a:noFill/>
          <a:ln/>
        </p:spPr>
        <p:txBody>
          <a:bodyPr wrap="square" rtlCol="0" anchor="ctr"/>
          <a:lstStyle/>
          <a:p>
            <a:pPr marL="0" indent="0">
              <a:buNone/>
            </a:pPr>
            <a:r>
              <a:rPr lang="en-US" sz="1400" b="1" dirty="0">
                <a:solidFill>
                  <a:srgbClr val="2D2D2D"/>
                </a:solidFill>
                <a:latin typeface="Arial" pitchFamily="34" charset="0"/>
                <a:ea typeface="Arial" pitchFamily="34" charset="-122"/>
                <a:cs typeface="Arial" pitchFamily="34" charset="-120"/>
              </a:rPr>
              <a:t>The Bridge: SHAP attribution vector  →  natural-language narrative  →  RAG query</a:t>
            </a:r>
            <a:endParaRPr lang="en-US" sz="1400" dirty="0"/>
          </a:p>
        </p:txBody>
      </p:sp>
      <p:sp>
        <p:nvSpPr>
          <p:cNvPr id="7" name="Text 5"/>
          <p:cNvSpPr/>
          <p:nvPr/>
        </p:nvSpPr>
        <p:spPr>
          <a:xfrm>
            <a:off x="512064" y="1196035"/>
            <a:ext cx="8229600" cy="497434"/>
          </a:xfrm>
          <a:prstGeom prst="rect">
            <a:avLst/>
          </a:prstGeom>
          <a:noFill/>
          <a:ln/>
        </p:spPr>
        <p:txBody>
          <a:bodyPr wrap="square" rtlCol="0" anchor="ctr"/>
          <a:lstStyle/>
          <a:p>
            <a:pPr marL="0" indent="0">
              <a:buNone/>
            </a:pPr>
            <a:r>
              <a:rPr lang="en-US" sz="1200" dirty="0">
                <a:solidFill>
                  <a:srgbClr val="626568"/>
                </a:solidFill>
                <a:latin typeface="Arial" pitchFamily="34" charset="0"/>
                <a:ea typeface="Arial" pitchFamily="34" charset="-122"/>
                <a:cs typeface="Arial" pitchFamily="34" charset="-120"/>
              </a:rPr>
              <a:t>SHAP values are statistics — they cannot directly query a policy document. The bridge converts feature contributions into sentences that can retrieve relevant CMS/OIG passages.</a:t>
            </a:r>
            <a:endParaRPr lang="en-US" sz="1200" dirty="0"/>
          </a:p>
        </p:txBody>
      </p:sp>
      <p:sp>
        <p:nvSpPr>
          <p:cNvPr id="8" name="Shape 6"/>
          <p:cNvSpPr/>
          <p:nvPr/>
        </p:nvSpPr>
        <p:spPr>
          <a:xfrm>
            <a:off x="365760" y="2366898"/>
            <a:ext cx="3840480" cy="1975104"/>
          </a:xfrm>
          <a:prstGeom prst="roundRect">
            <a:avLst>
              <a:gd name="adj" fmla="val 3704"/>
            </a:avLst>
          </a:prstGeom>
          <a:solidFill>
            <a:srgbClr val="000000"/>
          </a:solidFill>
          <a:ln w="6350">
            <a:solidFill>
              <a:srgbClr val="000000"/>
            </a:solidFill>
            <a:prstDash val="solid"/>
          </a:ln>
          <a:effectLst>
            <a:outerShdw blurRad="63500" dist="25400" dir="2700000" algn="bl" rotWithShape="0">
              <a:srgbClr val="000000">
                <a:alpha val="10000"/>
              </a:srgbClr>
            </a:outerShdw>
          </a:effectLst>
        </p:spPr>
        <p:txBody>
          <a:bodyPr/>
          <a:lstStyle/>
          <a:p>
            <a:endParaRPr lang="en-US"/>
          </a:p>
        </p:txBody>
      </p:sp>
      <p:sp>
        <p:nvSpPr>
          <p:cNvPr id="9" name="Text 7"/>
          <p:cNvSpPr/>
          <p:nvPr/>
        </p:nvSpPr>
        <p:spPr>
          <a:xfrm>
            <a:off x="512064" y="2469210"/>
            <a:ext cx="3547872" cy="234086"/>
          </a:xfrm>
          <a:prstGeom prst="rect">
            <a:avLst/>
          </a:prstGeom>
          <a:noFill/>
          <a:ln/>
        </p:spPr>
        <p:txBody>
          <a:bodyPr wrap="square" rtlCol="0" anchor="ctr"/>
          <a:lstStyle/>
          <a:p>
            <a:pPr marL="0" indent="0">
              <a:buNone/>
            </a:pPr>
            <a:r>
              <a:rPr lang="en-US" sz="1200" b="1" dirty="0">
                <a:solidFill>
                  <a:srgbClr val="D61920"/>
                </a:solidFill>
                <a:latin typeface="Arial" pitchFamily="34" charset="0"/>
                <a:ea typeface="Arial" pitchFamily="34" charset="-122"/>
                <a:cs typeface="Arial" pitchFamily="34" charset="-120"/>
              </a:rPr>
              <a:t>SHAP Output (raw)</a:t>
            </a:r>
            <a:endParaRPr lang="en-US" sz="1200" dirty="0"/>
          </a:p>
        </p:txBody>
      </p:sp>
      <p:sp>
        <p:nvSpPr>
          <p:cNvPr id="10" name="Text 8"/>
          <p:cNvSpPr/>
          <p:nvPr/>
        </p:nvSpPr>
        <p:spPr>
          <a:xfrm>
            <a:off x="512064" y="2923714"/>
            <a:ext cx="3547872" cy="790042"/>
          </a:xfrm>
          <a:prstGeom prst="rect">
            <a:avLst/>
          </a:prstGeom>
          <a:noFill/>
          <a:ln/>
        </p:spPr>
        <p:txBody>
          <a:bodyPr wrap="square" rtlCol="0" anchor="ctr"/>
          <a:lstStyle/>
          <a:p>
            <a:pPr marL="0" indent="0">
              <a:buNone/>
            </a:pPr>
            <a:r>
              <a:rPr lang="en-US" sz="1100" dirty="0">
                <a:solidFill>
                  <a:srgbClr val="CCCCCC"/>
                </a:solidFill>
                <a:latin typeface="Courier New" pitchFamily="34" charset="0"/>
                <a:ea typeface="Courier New" pitchFamily="34" charset="-122"/>
                <a:cs typeface="Courier New" pitchFamily="34" charset="-120"/>
              </a:rPr>
              <a:t>Payment_to_Allowed_Ratio:  SHAP = +0.148</a:t>
            </a:r>
            <a:endParaRPr lang="en-US" sz="1100" dirty="0"/>
          </a:p>
          <a:p>
            <a:pPr marL="0" indent="0">
              <a:buNone/>
            </a:pPr>
            <a:r>
              <a:rPr lang="en-US" sz="1100" dirty="0">
                <a:solidFill>
                  <a:srgbClr val="CCCCCC"/>
                </a:solidFill>
                <a:latin typeface="Courier New" pitchFamily="34" charset="0"/>
                <a:ea typeface="Courier New" pitchFamily="34" charset="-122"/>
                <a:cs typeface="Courier New" pitchFamily="34" charset="-120"/>
              </a:rPr>
              <a:t>Has_Both:  SHAP = +0.094</a:t>
            </a:r>
            <a:endParaRPr lang="en-US" sz="1100" dirty="0"/>
          </a:p>
          <a:p>
            <a:pPr marL="0" indent="0">
              <a:buNone/>
            </a:pPr>
            <a:r>
              <a:rPr lang="en-US" sz="1100" dirty="0">
                <a:solidFill>
                  <a:srgbClr val="CCCCCC"/>
                </a:solidFill>
                <a:latin typeface="Courier New" pitchFamily="34" charset="0"/>
                <a:ea typeface="Courier New" pitchFamily="34" charset="-122"/>
                <a:cs typeface="Courier New" pitchFamily="34" charset="-120"/>
              </a:rPr>
              <a:t>BeneDay_Per_Beneficiary_B:  SHAP = +0.058</a:t>
            </a:r>
            <a:endParaRPr lang="en-US" sz="1100" dirty="0"/>
          </a:p>
          <a:p>
            <a:pPr marL="0" indent="0">
              <a:buNone/>
            </a:pPr>
            <a:r>
              <a:rPr lang="en-US" sz="1100" dirty="0">
                <a:solidFill>
                  <a:srgbClr val="CCCCCC"/>
                </a:solidFill>
                <a:latin typeface="Courier New" pitchFamily="34" charset="0"/>
                <a:ea typeface="Courier New" pitchFamily="34" charset="-122"/>
                <a:cs typeface="Courier New" pitchFamily="34" charset="-120"/>
              </a:rPr>
              <a:t>Fraud_Probability:  0.9997</a:t>
            </a:r>
            <a:endParaRPr lang="en-US" sz="1100" dirty="0"/>
          </a:p>
        </p:txBody>
      </p:sp>
      <p:sp>
        <p:nvSpPr>
          <p:cNvPr id="12" name="Text 10"/>
          <p:cNvSpPr/>
          <p:nvPr/>
        </p:nvSpPr>
        <p:spPr>
          <a:xfrm>
            <a:off x="512064" y="3925466"/>
            <a:ext cx="3547872" cy="204826"/>
          </a:xfrm>
          <a:prstGeom prst="rect">
            <a:avLst/>
          </a:prstGeom>
          <a:noFill/>
          <a:ln/>
        </p:spPr>
        <p:txBody>
          <a:bodyPr wrap="square" rtlCol="0" anchor="ctr"/>
          <a:lstStyle/>
          <a:p>
            <a:pPr marL="0" indent="0" algn="ctr">
              <a:buNone/>
            </a:pPr>
            <a:r>
              <a:rPr lang="en-US" sz="900" i="1" dirty="0">
                <a:solidFill>
                  <a:srgbClr val="888888"/>
                </a:solidFill>
                <a:latin typeface="Arial" pitchFamily="34" charset="0"/>
                <a:ea typeface="Arial" pitchFamily="34" charset="-122"/>
                <a:cs typeface="Arial" pitchFamily="34" charset="-120"/>
              </a:rPr>
              <a:t>Provider NPI 250978 · Setting 4 · RF Model</a:t>
            </a:r>
            <a:endParaRPr lang="en-US" sz="900" dirty="0"/>
          </a:p>
        </p:txBody>
      </p:sp>
      <p:sp>
        <p:nvSpPr>
          <p:cNvPr id="13" name="Text 11"/>
          <p:cNvSpPr/>
          <p:nvPr/>
        </p:nvSpPr>
        <p:spPr>
          <a:xfrm>
            <a:off x="4279392" y="3105770"/>
            <a:ext cx="402336" cy="365760"/>
          </a:xfrm>
          <a:prstGeom prst="rect">
            <a:avLst/>
          </a:prstGeom>
          <a:noFill/>
          <a:ln/>
        </p:spPr>
        <p:txBody>
          <a:bodyPr wrap="square" rtlCol="0" anchor="ctr"/>
          <a:lstStyle/>
          <a:p>
            <a:pPr marL="0" indent="0" algn="ctr">
              <a:buNone/>
            </a:pPr>
            <a:r>
              <a:rPr lang="en-US" sz="2600" b="1" dirty="0">
                <a:solidFill>
                  <a:srgbClr val="D61920"/>
                </a:solidFill>
              </a:rPr>
              <a:t>→</a:t>
            </a:r>
            <a:endParaRPr lang="en-US" sz="2600" dirty="0"/>
          </a:p>
        </p:txBody>
      </p:sp>
      <p:sp>
        <p:nvSpPr>
          <p:cNvPr id="14" name="Shape 12"/>
          <p:cNvSpPr/>
          <p:nvPr/>
        </p:nvSpPr>
        <p:spPr>
          <a:xfrm>
            <a:off x="4718304" y="2366898"/>
            <a:ext cx="4023360" cy="1975104"/>
          </a:xfrm>
          <a:prstGeom prst="roundRect">
            <a:avLst>
              <a:gd name="adj" fmla="val 3704"/>
            </a:avLst>
          </a:prstGeom>
          <a:solidFill>
            <a:srgbClr val="FFF0F0"/>
          </a:solidFill>
          <a:ln w="6350">
            <a:solidFill>
              <a:srgbClr val="FDCACA"/>
            </a:solidFill>
            <a:prstDash val="solid"/>
          </a:ln>
          <a:effectLst>
            <a:outerShdw blurRad="63500" dist="25400" dir="2700000" algn="bl" rotWithShape="0">
              <a:srgbClr val="000000">
                <a:alpha val="10000"/>
              </a:srgbClr>
            </a:outerShdw>
          </a:effectLst>
        </p:spPr>
        <p:txBody>
          <a:bodyPr/>
          <a:lstStyle/>
          <a:p>
            <a:endParaRPr lang="en-US"/>
          </a:p>
        </p:txBody>
      </p:sp>
      <p:sp>
        <p:nvSpPr>
          <p:cNvPr id="15" name="Text 13"/>
          <p:cNvSpPr/>
          <p:nvPr/>
        </p:nvSpPr>
        <p:spPr>
          <a:xfrm>
            <a:off x="4864608" y="2469210"/>
            <a:ext cx="3730752" cy="234086"/>
          </a:xfrm>
          <a:prstGeom prst="rect">
            <a:avLst/>
          </a:prstGeom>
          <a:noFill/>
          <a:ln/>
        </p:spPr>
        <p:txBody>
          <a:bodyPr wrap="square" rtlCol="0" anchor="ctr"/>
          <a:lstStyle/>
          <a:p>
            <a:pPr marL="0" indent="0">
              <a:buNone/>
            </a:pPr>
            <a:r>
              <a:rPr lang="en-US" sz="1200" b="1" dirty="0">
                <a:solidFill>
                  <a:srgbClr val="2D2D2D"/>
                </a:solidFill>
                <a:latin typeface="Arial" pitchFamily="34" charset="0"/>
                <a:ea typeface="Arial" pitchFamily="34" charset="-122"/>
                <a:cs typeface="Arial" pitchFamily="34" charset="-120"/>
              </a:rPr>
              <a:t>Natural-Language Narrative</a:t>
            </a:r>
            <a:endParaRPr lang="en-US" sz="1200" dirty="0"/>
          </a:p>
        </p:txBody>
      </p:sp>
      <p:sp>
        <p:nvSpPr>
          <p:cNvPr id="16" name="Text 14"/>
          <p:cNvSpPr/>
          <p:nvPr/>
        </p:nvSpPr>
        <p:spPr>
          <a:xfrm>
            <a:off x="4864608" y="2766044"/>
            <a:ext cx="3730752" cy="1463040"/>
          </a:xfrm>
          <a:prstGeom prst="rect">
            <a:avLst/>
          </a:prstGeom>
          <a:noFill/>
          <a:ln/>
        </p:spPr>
        <p:txBody>
          <a:bodyPr wrap="square" rtlCol="0" anchor="ctr"/>
          <a:lstStyle/>
          <a:p>
            <a:pPr marL="0" indent="0">
              <a:buNone/>
            </a:pPr>
            <a:r>
              <a:rPr lang="en-US" sz="1100" i="1" dirty="0">
                <a:solidFill>
                  <a:srgbClr val="626568"/>
                </a:solidFill>
                <a:latin typeface="Arial" pitchFamily="34" charset="0"/>
                <a:ea typeface="Arial" pitchFamily="34" charset="-122"/>
                <a:cs typeface="Arial" pitchFamily="34" charset="-120"/>
              </a:rPr>
              <a:t>"This provider's payment-to-allowed ratio is 2.3 standard deviations above the specialty average, indicating systematic billing above Medicare-allowed rates. The provider bills both Part B (physician) and Part D (prescription), a cross-program pattern associated with OIG enforcement priority. Service utilization per beneficiary is elevated at 1.8× specialty norm."</a:t>
            </a:r>
            <a:endParaRPr lang="en-US" sz="1100" dirty="0"/>
          </a:p>
        </p:txBody>
      </p:sp>
      <p:sp>
        <p:nvSpPr>
          <p:cNvPr id="3" name="Text 2">
            <a:extLst>
              <a:ext uri="{FF2B5EF4-FFF2-40B4-BE49-F238E27FC236}">
                <a16:creationId xmlns:a16="http://schemas.microsoft.com/office/drawing/2014/main" id="{42ACC51F-42A8-C929-F6AE-9A70DF22FBCC}"/>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4" name="PageNum">
            <a:extLst>
              <a:ext uri="{FF2B5EF4-FFF2-40B4-BE49-F238E27FC236}">
                <a16:creationId xmlns:a16="http://schemas.microsoft.com/office/drawing/2014/main" id="{0B2BB9BD-E3A7-D9B6-D9D0-6159E8C2C602}"/>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25</a:t>
            </a:r>
            <a:endParaRPr lang="en-US" sz="1000" b="0" dirty="0">
              <a:solidFill>
                <a:srgbClr val="FFFFFF"/>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A67C351-219D-4734-D3A1-5436ECC139B0}"/>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2244C8A-B7BC-4A9F-2E66-992C7DE084B9}"/>
              </a:ext>
            </a:extLst>
          </p:cNvPr>
          <p:cNvSpPr/>
          <p:nvPr/>
        </p:nvSpPr>
        <p:spPr>
          <a:xfrm>
            <a:off x="365760" y="2036313"/>
            <a:ext cx="8412480" cy="1070873"/>
          </a:xfrm>
          <a:prstGeom prst="rect">
            <a:avLst/>
          </a:prstGeom>
          <a:noFill/>
          <a:ln/>
        </p:spPr>
        <p:txBody>
          <a:bodyPr wrap="square" rtlCol="0" anchor="ctr"/>
          <a:lstStyle/>
          <a:p>
            <a:pPr marL="0" indent="0" algn="ctr">
              <a:buNone/>
            </a:pPr>
            <a:r>
              <a:rPr lang="en-US" sz="4200" b="1" dirty="0">
                <a:solidFill>
                  <a:srgbClr val="FFFFFF"/>
                </a:solidFill>
                <a:latin typeface="Arial" pitchFamily="34" charset="0"/>
                <a:cs typeface="Arial" pitchFamily="34" charset="-120"/>
              </a:rPr>
              <a:t>Chatbot Interface</a:t>
            </a:r>
          </a:p>
        </p:txBody>
      </p:sp>
      <p:sp>
        <p:nvSpPr>
          <p:cNvPr id="2" name="Rectangle 1">
            <a:extLst>
              <a:ext uri="{FF2B5EF4-FFF2-40B4-BE49-F238E27FC236}">
                <a16:creationId xmlns:a16="http://schemas.microsoft.com/office/drawing/2014/main" id="{DA25D009-8579-09F6-4FFC-D7F573AC247A}"/>
              </a:ext>
            </a:extLst>
          </p:cNvPr>
          <p:cNvSpPr/>
          <p:nvPr/>
        </p:nvSpPr>
        <p:spPr>
          <a:xfrm>
            <a:off x="898497" y="4780000"/>
            <a:ext cx="1590261" cy="260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 2">
            <a:extLst>
              <a:ext uri="{FF2B5EF4-FFF2-40B4-BE49-F238E27FC236}">
                <a16:creationId xmlns:a16="http://schemas.microsoft.com/office/drawing/2014/main" id="{EC8F507E-7EC0-6B9A-08AA-99BE464C80FB}"/>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7" name="PageNum">
            <a:extLst>
              <a:ext uri="{FF2B5EF4-FFF2-40B4-BE49-F238E27FC236}">
                <a16:creationId xmlns:a16="http://schemas.microsoft.com/office/drawing/2014/main" id="{8CEB10B1-395A-0A7D-D77F-E6DC4C52E7E3}"/>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26</a:t>
            </a:r>
            <a:endParaRPr lang="en-US" sz="1000" b="0" dirty="0">
              <a:solidFill>
                <a:srgbClr val="FFFFFF"/>
              </a:solidFill>
              <a:latin typeface="Arial"/>
            </a:endParaRPr>
          </a:p>
        </p:txBody>
      </p:sp>
    </p:spTree>
    <p:extLst>
      <p:ext uri="{BB962C8B-B14F-4D97-AF65-F5344CB8AC3E}">
        <p14:creationId xmlns:p14="http://schemas.microsoft.com/office/powerpoint/2010/main" val="1513161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365760" y="2036313"/>
            <a:ext cx="8412480" cy="1070873"/>
          </a:xfrm>
          <a:prstGeom prst="rect">
            <a:avLst/>
          </a:prstGeom>
          <a:noFill/>
          <a:ln/>
        </p:spPr>
        <p:txBody>
          <a:bodyPr wrap="square" rtlCol="0" anchor="ctr"/>
          <a:lstStyle/>
          <a:p>
            <a:pPr marL="0" indent="0" algn="ctr">
              <a:buNone/>
            </a:pPr>
            <a:r>
              <a:rPr lang="en-US" sz="4200" b="1" dirty="0">
                <a:solidFill>
                  <a:srgbClr val="FFFFFF"/>
                </a:solidFill>
                <a:latin typeface="Arial" pitchFamily="34" charset="0"/>
                <a:ea typeface="Arial" pitchFamily="34" charset="-122"/>
                <a:cs typeface="Arial" pitchFamily="34" charset="-120"/>
              </a:rPr>
              <a:t>Discussion</a:t>
            </a:r>
          </a:p>
          <a:p>
            <a:pPr algn="ctr"/>
            <a:r>
              <a:rPr lang="en-US" sz="4200" b="1" dirty="0">
                <a:solidFill>
                  <a:srgbClr val="FFFFFF"/>
                </a:solidFill>
                <a:latin typeface="Arial" pitchFamily="34" charset="0"/>
                <a:ea typeface="Arial" pitchFamily="34" charset="-122"/>
                <a:cs typeface="Arial" pitchFamily="34" charset="-120"/>
              </a:rPr>
              <a:t>&amp;</a:t>
            </a:r>
          </a:p>
          <a:p>
            <a:pPr algn="ctr"/>
            <a:r>
              <a:rPr lang="en-US" sz="4200" b="1" dirty="0">
                <a:solidFill>
                  <a:srgbClr val="FFFFFF"/>
                </a:solidFill>
                <a:latin typeface="Arial" pitchFamily="34" charset="0"/>
                <a:ea typeface="Arial" pitchFamily="34" charset="-122"/>
                <a:cs typeface="Arial" pitchFamily="34" charset="-120"/>
              </a:rPr>
              <a:t>Conclusion</a:t>
            </a:r>
            <a:endParaRPr lang="en-US" sz="4200" dirty="0"/>
          </a:p>
          <a:p>
            <a:pPr marL="0" indent="0" algn="ctr">
              <a:buNone/>
            </a:pPr>
            <a:endParaRPr lang="en-US" sz="4200" dirty="0"/>
          </a:p>
        </p:txBody>
      </p:sp>
      <p:sp>
        <p:nvSpPr>
          <p:cNvPr id="2" name="Rectangle 1">
            <a:extLst>
              <a:ext uri="{FF2B5EF4-FFF2-40B4-BE49-F238E27FC236}">
                <a16:creationId xmlns:a16="http://schemas.microsoft.com/office/drawing/2014/main" id="{CE798D9F-F673-9AB1-8BE0-1C5BE0CDE34A}"/>
              </a:ext>
            </a:extLst>
          </p:cNvPr>
          <p:cNvSpPr/>
          <p:nvPr/>
        </p:nvSpPr>
        <p:spPr>
          <a:xfrm>
            <a:off x="898497" y="4780000"/>
            <a:ext cx="1590261" cy="260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 2">
            <a:extLst>
              <a:ext uri="{FF2B5EF4-FFF2-40B4-BE49-F238E27FC236}">
                <a16:creationId xmlns:a16="http://schemas.microsoft.com/office/drawing/2014/main" id="{77C89E3B-2334-B1C2-81B6-8F136D8EB06C}"/>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PageNum">
            <a:extLst>
              <a:ext uri="{FF2B5EF4-FFF2-40B4-BE49-F238E27FC236}">
                <a16:creationId xmlns:a16="http://schemas.microsoft.com/office/drawing/2014/main" id="{B61EE146-F3DB-445C-A0AE-279440962328}"/>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27</a:t>
            </a:r>
            <a:endParaRPr lang="en-US" sz="1000" b="0" dirty="0">
              <a:solidFill>
                <a:srgbClr val="FFFFFF"/>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59" y="109728"/>
            <a:ext cx="8210681" cy="512064"/>
          </a:xfrm>
          <a:prstGeom prst="rect">
            <a:avLst/>
          </a:prstGeom>
          <a:noFill/>
          <a:ln/>
        </p:spPr>
        <p:txBody>
          <a:bodyPr wrap="square" rtlCol="0" anchor="ctr"/>
          <a:lstStyle/>
          <a:p>
            <a:r>
              <a:rPr lang="en-US" sz="2400" b="1" dirty="0">
                <a:solidFill>
                  <a:srgbClr val="2D2D2D"/>
                </a:solidFill>
                <a:latin typeface="Arial" pitchFamily="34" charset="0"/>
                <a:cs typeface="Arial" pitchFamily="34" charset="-120"/>
              </a:rPr>
              <a:t>Linear SVM Performance</a:t>
            </a:r>
          </a:p>
        </p:txBody>
      </p:sp>
      <p:sp>
        <p:nvSpPr>
          <p:cNvPr id="5" name="Shape 3"/>
          <p:cNvSpPr/>
          <p:nvPr/>
        </p:nvSpPr>
        <p:spPr>
          <a:xfrm>
            <a:off x="365760" y="914400"/>
            <a:ext cx="8412480" cy="658368"/>
          </a:xfrm>
          <a:prstGeom prst="roundRect">
            <a:avLst>
              <a:gd name="adj" fmla="val 11111"/>
            </a:avLst>
          </a:prstGeom>
          <a:solidFill>
            <a:srgbClr val="F4F4F4"/>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6" name="Text 4"/>
          <p:cNvSpPr/>
          <p:nvPr/>
        </p:nvSpPr>
        <p:spPr>
          <a:xfrm>
            <a:off x="512064" y="961949"/>
            <a:ext cx="8229600" cy="409651"/>
          </a:xfrm>
          <a:prstGeom prst="rect">
            <a:avLst/>
          </a:prstGeom>
          <a:noFill/>
          <a:ln/>
        </p:spPr>
        <p:txBody>
          <a:bodyPr wrap="square" rtlCol="0" anchor="ctr"/>
          <a:lstStyle/>
          <a:p>
            <a:pPr marL="0" indent="0">
              <a:buNone/>
            </a:pPr>
            <a:r>
              <a:rPr lang="en-US" sz="1300" b="1" dirty="0">
                <a:solidFill>
                  <a:srgbClr val="2D2D2D"/>
                </a:solidFill>
                <a:latin typeface="Arial" pitchFamily="34" charset="0"/>
                <a:ea typeface="Arial" pitchFamily="34" charset="-122"/>
                <a:cs typeface="Arial" pitchFamily="34" charset="-120"/>
              </a:rPr>
              <a:t>Result: Linear SVM (Setting 1, 83.33% recall).</a:t>
            </a:r>
            <a:endParaRPr lang="en-US" sz="1300" dirty="0"/>
          </a:p>
        </p:txBody>
      </p:sp>
      <p:sp>
        <p:nvSpPr>
          <p:cNvPr id="7" name="Shape 5"/>
          <p:cNvSpPr/>
          <p:nvPr/>
        </p:nvSpPr>
        <p:spPr>
          <a:xfrm>
            <a:off x="365760" y="1755648"/>
            <a:ext cx="347472" cy="277978"/>
          </a:xfrm>
          <a:prstGeom prst="ellipse">
            <a:avLst/>
          </a:prstGeom>
          <a:solidFill>
            <a:srgbClr val="D61920"/>
          </a:solidFill>
          <a:ln w="12700">
            <a:solidFill>
              <a:srgbClr val="D61920"/>
            </a:solidFill>
            <a:prstDash val="solid"/>
          </a:ln>
        </p:spPr>
        <p:txBody>
          <a:bodyPr/>
          <a:lstStyle/>
          <a:p>
            <a:endParaRPr lang="en-US"/>
          </a:p>
        </p:txBody>
      </p:sp>
      <p:sp>
        <p:nvSpPr>
          <p:cNvPr id="8" name="Text 6"/>
          <p:cNvSpPr/>
          <p:nvPr/>
        </p:nvSpPr>
        <p:spPr>
          <a:xfrm>
            <a:off x="365760" y="1755648"/>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9" name="Text 7"/>
          <p:cNvSpPr/>
          <p:nvPr/>
        </p:nvSpPr>
        <p:spPr>
          <a:xfrm>
            <a:off x="822960" y="1719072"/>
            <a:ext cx="7955280" cy="204826"/>
          </a:xfrm>
          <a:prstGeom prst="rect">
            <a:avLst/>
          </a:prstGeom>
          <a:noFill/>
          <a:ln/>
        </p:spPr>
        <p:txBody>
          <a:bodyPr wrap="square" rtlCol="0" anchor="ctr"/>
          <a:lstStyle/>
          <a:p>
            <a:r>
              <a:rPr lang="en-US" sz="1200" b="1" dirty="0">
                <a:solidFill>
                  <a:srgbClr val="2D2D2D"/>
                </a:solidFill>
                <a:latin typeface="Arial" pitchFamily="34" charset="0"/>
                <a:cs typeface="Arial" pitchFamily="34" charset="-120"/>
              </a:rPr>
              <a:t>Recall-focused tuning:</a:t>
            </a:r>
          </a:p>
        </p:txBody>
      </p:sp>
      <p:sp>
        <p:nvSpPr>
          <p:cNvPr id="10" name="Text 8"/>
          <p:cNvSpPr/>
          <p:nvPr/>
        </p:nvSpPr>
        <p:spPr>
          <a:xfrm>
            <a:off x="822960" y="2007108"/>
            <a:ext cx="7955280" cy="274320"/>
          </a:xfrm>
          <a:prstGeom prst="rect">
            <a:avLst/>
          </a:prstGeom>
          <a:noFill/>
          <a:ln/>
        </p:spPr>
        <p:txBody>
          <a:bodyPr wrap="square" rtlCol="0" anchor="ctr"/>
          <a:lstStyle/>
          <a:p>
            <a:r>
              <a:rPr lang="en-US" sz="1050" dirty="0">
                <a:solidFill>
                  <a:srgbClr val="626568"/>
                </a:solidFill>
                <a:latin typeface="Arial" pitchFamily="34" charset="0"/>
                <a:cs typeface="Arial" pitchFamily="34" charset="-120"/>
              </a:rPr>
              <a:t>optimized with F2-score, not ROC-AUC.</a:t>
            </a:r>
          </a:p>
        </p:txBody>
      </p:sp>
      <p:sp>
        <p:nvSpPr>
          <p:cNvPr id="11" name="Shape 9"/>
          <p:cNvSpPr/>
          <p:nvPr/>
        </p:nvSpPr>
        <p:spPr>
          <a:xfrm>
            <a:off x="365760" y="2395728"/>
            <a:ext cx="347472" cy="277978"/>
          </a:xfrm>
          <a:prstGeom prst="ellipse">
            <a:avLst/>
          </a:prstGeom>
          <a:solidFill>
            <a:srgbClr val="D61920"/>
          </a:solidFill>
          <a:ln w="12700">
            <a:solidFill>
              <a:srgbClr val="D61920"/>
            </a:solidFill>
            <a:prstDash val="solid"/>
          </a:ln>
        </p:spPr>
        <p:txBody>
          <a:bodyPr/>
          <a:lstStyle/>
          <a:p>
            <a:endParaRPr lang="en-US"/>
          </a:p>
        </p:txBody>
      </p:sp>
      <p:sp>
        <p:nvSpPr>
          <p:cNvPr id="12" name="Text 10"/>
          <p:cNvSpPr/>
          <p:nvPr/>
        </p:nvSpPr>
        <p:spPr>
          <a:xfrm>
            <a:off x="365760" y="2395728"/>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822960" y="2359152"/>
            <a:ext cx="7955280" cy="204826"/>
          </a:xfrm>
          <a:prstGeom prst="rect">
            <a:avLst/>
          </a:prstGeom>
          <a:noFill/>
          <a:ln/>
        </p:spPr>
        <p:txBody>
          <a:bodyPr wrap="square" rtlCol="0" anchor="ctr"/>
          <a:lstStyle/>
          <a:p>
            <a:r>
              <a:rPr lang="en-US" sz="1200" b="1" dirty="0">
                <a:solidFill>
                  <a:srgbClr val="2D2D2D"/>
                </a:solidFill>
                <a:latin typeface="Arial" pitchFamily="34" charset="0"/>
                <a:cs typeface="Arial" pitchFamily="34" charset="-120"/>
              </a:rPr>
              <a:t>Recall-targeted threshold:</a:t>
            </a:r>
          </a:p>
        </p:txBody>
      </p:sp>
      <p:sp>
        <p:nvSpPr>
          <p:cNvPr id="14" name="Text 12"/>
          <p:cNvSpPr/>
          <p:nvPr/>
        </p:nvSpPr>
        <p:spPr>
          <a:xfrm>
            <a:off x="822960" y="2615184"/>
            <a:ext cx="7955280" cy="274320"/>
          </a:xfrm>
          <a:prstGeom prst="rect">
            <a:avLst/>
          </a:prstGeom>
          <a:noFill/>
          <a:ln/>
        </p:spPr>
        <p:txBody>
          <a:bodyPr wrap="square" rtlCol="0" anchor="ctr"/>
          <a:lstStyle/>
          <a:p>
            <a:r>
              <a:rPr lang="en-US" sz="1050" dirty="0">
                <a:solidFill>
                  <a:srgbClr val="626568"/>
                </a:solidFill>
                <a:latin typeface="Arial" pitchFamily="34" charset="0"/>
                <a:cs typeface="Arial" pitchFamily="34" charset="-120"/>
              </a:rPr>
              <a:t>selected threshold to achieve ≥85% validation recall.</a:t>
            </a:r>
          </a:p>
        </p:txBody>
      </p:sp>
      <p:sp>
        <p:nvSpPr>
          <p:cNvPr id="15" name="Shape 13"/>
          <p:cNvSpPr/>
          <p:nvPr/>
        </p:nvSpPr>
        <p:spPr>
          <a:xfrm>
            <a:off x="365760" y="3035808"/>
            <a:ext cx="347472" cy="277978"/>
          </a:xfrm>
          <a:prstGeom prst="ellipse">
            <a:avLst/>
          </a:prstGeom>
          <a:solidFill>
            <a:srgbClr val="D61920"/>
          </a:solidFill>
          <a:ln w="12700">
            <a:solidFill>
              <a:srgbClr val="D61920"/>
            </a:solidFill>
            <a:prstDash val="solid"/>
          </a:ln>
        </p:spPr>
        <p:txBody>
          <a:bodyPr/>
          <a:lstStyle/>
          <a:p>
            <a:endParaRPr lang="en-US"/>
          </a:p>
        </p:txBody>
      </p:sp>
      <p:sp>
        <p:nvSpPr>
          <p:cNvPr id="16" name="Text 14"/>
          <p:cNvSpPr/>
          <p:nvPr/>
        </p:nvSpPr>
        <p:spPr>
          <a:xfrm>
            <a:off x="365760" y="3035808"/>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7" name="Text 15"/>
          <p:cNvSpPr/>
          <p:nvPr/>
        </p:nvSpPr>
        <p:spPr>
          <a:xfrm>
            <a:off x="822960" y="2999232"/>
            <a:ext cx="7955280" cy="204826"/>
          </a:xfrm>
          <a:prstGeom prst="rect">
            <a:avLst/>
          </a:prstGeom>
          <a:noFill/>
          <a:ln/>
        </p:spPr>
        <p:txBody>
          <a:bodyPr wrap="square" rtlCol="0" anchor="ctr"/>
          <a:lstStyle/>
          <a:p>
            <a:r>
              <a:rPr lang="en-US" sz="1200" b="1" dirty="0">
                <a:solidFill>
                  <a:srgbClr val="2D2D2D"/>
                </a:solidFill>
                <a:latin typeface="Arial" pitchFamily="34" charset="0"/>
                <a:cs typeface="Arial" pitchFamily="34" charset="-120"/>
              </a:rPr>
              <a:t>SMOTE-ENN training:</a:t>
            </a:r>
          </a:p>
        </p:txBody>
      </p:sp>
      <p:sp>
        <p:nvSpPr>
          <p:cNvPr id="18" name="Text 16"/>
          <p:cNvSpPr/>
          <p:nvPr/>
        </p:nvSpPr>
        <p:spPr>
          <a:xfrm>
            <a:off x="822960" y="3255264"/>
            <a:ext cx="7955280" cy="274320"/>
          </a:xfrm>
          <a:prstGeom prst="rect">
            <a:avLst/>
          </a:prstGeom>
          <a:noFill/>
          <a:ln/>
        </p:spPr>
        <p:txBody>
          <a:bodyPr wrap="square" rtlCol="0" anchor="ctr"/>
          <a:lstStyle/>
          <a:p>
            <a:r>
              <a:rPr lang="en-US" sz="1050" dirty="0">
                <a:solidFill>
                  <a:srgbClr val="626568"/>
                </a:solidFill>
                <a:latin typeface="Arial" pitchFamily="34" charset="0"/>
                <a:cs typeface="Arial" pitchFamily="34" charset="-120"/>
              </a:rPr>
              <a:t>exposed the model to more fraud-like minority patterns.</a:t>
            </a:r>
          </a:p>
        </p:txBody>
      </p:sp>
      <p:sp>
        <p:nvSpPr>
          <p:cNvPr id="19" name="Shape 17"/>
          <p:cNvSpPr/>
          <p:nvPr/>
        </p:nvSpPr>
        <p:spPr>
          <a:xfrm>
            <a:off x="365760" y="3675888"/>
            <a:ext cx="347472" cy="277978"/>
          </a:xfrm>
          <a:prstGeom prst="ellipse">
            <a:avLst/>
          </a:prstGeom>
          <a:solidFill>
            <a:srgbClr val="D61920"/>
          </a:solidFill>
          <a:ln w="12700">
            <a:solidFill>
              <a:srgbClr val="D61920"/>
            </a:solidFill>
            <a:prstDash val="solid"/>
          </a:ln>
        </p:spPr>
        <p:txBody>
          <a:bodyPr/>
          <a:lstStyle/>
          <a:p>
            <a:endParaRPr lang="en-US"/>
          </a:p>
        </p:txBody>
      </p:sp>
      <p:sp>
        <p:nvSpPr>
          <p:cNvPr id="20" name="Text 18"/>
          <p:cNvSpPr/>
          <p:nvPr/>
        </p:nvSpPr>
        <p:spPr>
          <a:xfrm>
            <a:off x="365760" y="3675888"/>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1" name="Text 19"/>
          <p:cNvSpPr/>
          <p:nvPr/>
        </p:nvSpPr>
        <p:spPr>
          <a:xfrm>
            <a:off x="822960" y="3639312"/>
            <a:ext cx="7955280" cy="204826"/>
          </a:xfrm>
          <a:prstGeom prst="rect">
            <a:avLst/>
          </a:prstGeom>
          <a:noFill/>
          <a:ln/>
        </p:spPr>
        <p:txBody>
          <a:bodyPr wrap="square" rtlCol="0" anchor="ctr"/>
          <a:lstStyle/>
          <a:p>
            <a:r>
              <a:rPr lang="en-US" sz="1200" b="1" dirty="0">
                <a:solidFill>
                  <a:srgbClr val="2D2D2D"/>
                </a:solidFill>
                <a:latin typeface="Arial" pitchFamily="34" charset="0"/>
                <a:cs typeface="Arial" pitchFamily="34" charset="-120"/>
              </a:rPr>
              <a:t>Wide C search:</a:t>
            </a:r>
          </a:p>
        </p:txBody>
      </p:sp>
      <p:sp>
        <p:nvSpPr>
          <p:cNvPr id="22" name="Text 20"/>
          <p:cNvSpPr/>
          <p:nvPr/>
        </p:nvSpPr>
        <p:spPr>
          <a:xfrm>
            <a:off x="822960" y="3967098"/>
            <a:ext cx="7955280" cy="274320"/>
          </a:xfrm>
          <a:prstGeom prst="rect">
            <a:avLst/>
          </a:prstGeom>
          <a:noFill/>
          <a:ln/>
        </p:spPr>
        <p:txBody>
          <a:bodyPr wrap="square" rtlCol="0" anchor="ctr"/>
          <a:lstStyle/>
          <a:p>
            <a:r>
              <a:rPr lang="en-US" sz="1050" dirty="0">
                <a:solidFill>
                  <a:srgbClr val="626568"/>
                </a:solidFill>
                <a:latin typeface="Arial" pitchFamily="34" charset="0"/>
                <a:cs typeface="Arial" pitchFamily="34" charset="-120"/>
              </a:rPr>
              <a:t>helped find a more aggressive fraud-detection boundary. </a:t>
            </a:r>
            <a:r>
              <a:rPr lang="en-US" sz="1050" dirty="0" err="1">
                <a:solidFill>
                  <a:srgbClr val="626568"/>
                </a:solidFill>
                <a:latin typeface="Arial" pitchFamily="34" charset="0"/>
                <a:cs typeface="Arial" pitchFamily="34" charset="-120"/>
              </a:rPr>
              <a:t>Hyperopt</a:t>
            </a:r>
            <a:r>
              <a:rPr lang="en-US" sz="1050" dirty="0">
                <a:solidFill>
                  <a:srgbClr val="626568"/>
                </a:solidFill>
                <a:latin typeface="Arial" pitchFamily="34" charset="0"/>
                <a:cs typeface="Arial" pitchFamily="34" charset="-120"/>
              </a:rPr>
              <a:t> searched C over a wide log-uniform range from 0.001 to 1000.</a:t>
            </a:r>
          </a:p>
          <a:p>
            <a:pPr marL="0" indent="0">
              <a:buNone/>
            </a:pPr>
            <a:endParaRPr lang="en-US" sz="1100" dirty="0"/>
          </a:p>
        </p:txBody>
      </p:sp>
      <p:sp>
        <p:nvSpPr>
          <p:cNvPr id="3" name="Text 2">
            <a:extLst>
              <a:ext uri="{FF2B5EF4-FFF2-40B4-BE49-F238E27FC236}">
                <a16:creationId xmlns:a16="http://schemas.microsoft.com/office/drawing/2014/main" id="{0226B735-6E45-A725-CC59-6184ADB1C036}"/>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4" name="PageNum">
            <a:extLst>
              <a:ext uri="{FF2B5EF4-FFF2-40B4-BE49-F238E27FC236}">
                <a16:creationId xmlns:a16="http://schemas.microsoft.com/office/drawing/2014/main" id="{F28B868F-CC6A-49E1-D626-663EB3C319E8}"/>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28</a:t>
            </a:r>
            <a:endParaRPr lang="en-US" sz="1000" b="0" dirty="0">
              <a:solidFill>
                <a:srgbClr val="FFFFFF"/>
              </a:solid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Conclusion: Both Research Objectives Achieved</a:t>
            </a:r>
            <a:endParaRPr lang="en-US" sz="2400" dirty="0"/>
          </a:p>
        </p:txBody>
      </p:sp>
      <p:sp>
        <p:nvSpPr>
          <p:cNvPr id="3" name="Shape 1"/>
          <p:cNvSpPr/>
          <p:nvPr/>
        </p:nvSpPr>
        <p:spPr>
          <a:xfrm>
            <a:off x="502920" y="4052973"/>
            <a:ext cx="4754880" cy="274320"/>
          </a:xfrm>
          <a:prstGeom prst="rect">
            <a:avLst/>
          </a:prstGeom>
          <a:solidFill>
            <a:srgbClr val="000000"/>
          </a:solidFill>
          <a:ln w="12700">
            <a:solidFill>
              <a:srgbClr val="000000"/>
            </a:solidFill>
            <a:prstDash val="solid"/>
          </a:ln>
        </p:spPr>
        <p:txBody>
          <a:bodyPr/>
          <a:lstStyle/>
          <a:p>
            <a:endParaRPr lang="en-US"/>
          </a:p>
        </p:txBody>
      </p:sp>
      <p:sp>
        <p:nvSpPr>
          <p:cNvPr id="4" name="Text 2"/>
          <p:cNvSpPr/>
          <p:nvPr/>
        </p:nvSpPr>
        <p:spPr>
          <a:xfrm>
            <a:off x="502920" y="4052973"/>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5" name="Shape 3"/>
          <p:cNvSpPr/>
          <p:nvPr/>
        </p:nvSpPr>
        <p:spPr>
          <a:xfrm>
            <a:off x="365760" y="662378"/>
            <a:ext cx="8412480" cy="1847088"/>
          </a:xfrm>
          <a:prstGeom prst="roundRect">
            <a:avLst>
              <a:gd name="adj" fmla="val 3960"/>
            </a:avLst>
          </a:prstGeom>
          <a:solidFill>
            <a:srgbClr val="000000"/>
          </a:solidFill>
          <a:ln w="6350">
            <a:solidFill>
              <a:srgbClr val="000000"/>
            </a:solidFill>
            <a:prstDash val="solid"/>
          </a:ln>
          <a:effectLst>
            <a:outerShdw blurRad="63500" dist="25400" dir="2700000" algn="bl" rotWithShape="0">
              <a:srgbClr val="000000">
                <a:alpha val="10000"/>
              </a:srgbClr>
            </a:outerShdw>
          </a:effectLst>
        </p:spPr>
        <p:txBody>
          <a:bodyPr/>
          <a:lstStyle/>
          <a:p>
            <a:endParaRPr lang="en-US" dirty="0"/>
          </a:p>
        </p:txBody>
      </p:sp>
      <p:sp>
        <p:nvSpPr>
          <p:cNvPr id="6" name="Shape 4"/>
          <p:cNvSpPr/>
          <p:nvPr/>
        </p:nvSpPr>
        <p:spPr>
          <a:xfrm>
            <a:off x="493776" y="806853"/>
            <a:ext cx="877824" cy="438912"/>
          </a:xfrm>
          <a:prstGeom prst="roundRect">
            <a:avLst>
              <a:gd name="adj" fmla="val 12500"/>
            </a:avLst>
          </a:prstGeom>
          <a:solidFill>
            <a:srgbClr val="D61920"/>
          </a:solidFill>
          <a:ln w="12700">
            <a:solidFill>
              <a:srgbClr val="D61920"/>
            </a:solidFill>
            <a:prstDash val="solid"/>
          </a:ln>
        </p:spPr>
        <p:txBody>
          <a:bodyPr/>
          <a:lstStyle/>
          <a:p>
            <a:endParaRPr lang="en-US"/>
          </a:p>
        </p:txBody>
      </p:sp>
      <p:sp>
        <p:nvSpPr>
          <p:cNvPr id="7" name="Text 5"/>
          <p:cNvSpPr/>
          <p:nvPr/>
        </p:nvSpPr>
        <p:spPr>
          <a:xfrm>
            <a:off x="493776" y="806853"/>
            <a:ext cx="877824" cy="438912"/>
          </a:xfrm>
          <a:prstGeom prst="rect">
            <a:avLst/>
          </a:prstGeom>
          <a:noFill/>
          <a:ln/>
        </p:spPr>
        <p:txBody>
          <a:bodyPr wrap="square" lIns="0" tIns="0" rIns="0" bIns="0" rtlCol="0" anchor="ctr"/>
          <a:lstStyle/>
          <a:p>
            <a:pPr marL="0" indent="0" algn="ctr">
              <a:buNone/>
            </a:pPr>
            <a:r>
              <a:rPr lang="en-US" sz="1300" b="1" dirty="0">
                <a:solidFill>
                  <a:srgbClr val="FFFFFF"/>
                </a:solidFill>
              </a:rPr>
              <a:t>RO 1</a:t>
            </a:r>
            <a:endParaRPr lang="en-US" sz="1300" dirty="0"/>
          </a:p>
        </p:txBody>
      </p:sp>
      <p:sp>
        <p:nvSpPr>
          <p:cNvPr id="8" name="Text 6"/>
          <p:cNvSpPr/>
          <p:nvPr/>
        </p:nvSpPr>
        <p:spPr>
          <a:xfrm>
            <a:off x="1463040" y="825141"/>
            <a:ext cx="1097280" cy="307238"/>
          </a:xfrm>
          <a:prstGeom prst="rect">
            <a:avLst/>
          </a:prstGeom>
          <a:noFill/>
          <a:ln/>
        </p:spPr>
        <p:txBody>
          <a:bodyPr wrap="square" rtlCol="0" anchor="ctr"/>
          <a:lstStyle/>
          <a:p>
            <a:pPr marL="0" indent="0">
              <a:buNone/>
            </a:pPr>
            <a:r>
              <a:rPr lang="en-US" sz="1300" b="1" dirty="0">
                <a:solidFill>
                  <a:srgbClr val="D61920"/>
                </a:solidFill>
                <a:latin typeface="Arial" pitchFamily="34" charset="0"/>
                <a:ea typeface="Arial" pitchFamily="34" charset="-122"/>
                <a:cs typeface="Arial" pitchFamily="34" charset="-120"/>
              </a:rPr>
              <a:t>✓ Achieved</a:t>
            </a:r>
            <a:endParaRPr lang="en-US" sz="1300" dirty="0"/>
          </a:p>
        </p:txBody>
      </p:sp>
      <p:sp>
        <p:nvSpPr>
          <p:cNvPr id="9" name="Text 7"/>
          <p:cNvSpPr/>
          <p:nvPr/>
        </p:nvSpPr>
        <p:spPr>
          <a:xfrm>
            <a:off x="2615184" y="825141"/>
            <a:ext cx="6035040" cy="307238"/>
          </a:xfrm>
          <a:prstGeom prst="rect">
            <a:avLst/>
          </a:prstGeom>
          <a:noFill/>
          <a:ln/>
        </p:spPr>
        <p:txBody>
          <a:bodyPr wrap="square" rtlCol="0" anchor="ctr"/>
          <a:lstStyle/>
          <a:p>
            <a:r>
              <a:rPr lang="en-US" sz="1300" b="1" dirty="0">
                <a:solidFill>
                  <a:schemeClr val="bg1"/>
                </a:solidFill>
                <a:latin typeface="Arial" pitchFamily="34" charset="0"/>
                <a:cs typeface="Arial" pitchFamily="34" charset="-120"/>
              </a:rPr>
              <a:t>Develop an Explainable ML Framework for Medicare Fraud Detection</a:t>
            </a:r>
          </a:p>
        </p:txBody>
      </p:sp>
      <p:sp>
        <p:nvSpPr>
          <p:cNvPr id="10" name="Text 8"/>
          <p:cNvSpPr/>
          <p:nvPr/>
        </p:nvSpPr>
        <p:spPr>
          <a:xfrm>
            <a:off x="1463040" y="1337204"/>
            <a:ext cx="7187184" cy="1073427"/>
          </a:xfrm>
          <a:prstGeom prst="rect">
            <a:avLst/>
          </a:prstGeom>
          <a:noFill/>
          <a:ln/>
        </p:spPr>
        <p:txBody>
          <a:bodyPr wrap="square" rtlCol="0" anchor="ctr"/>
          <a:lstStyle/>
          <a:p>
            <a:pPr marL="171450" indent="-171450">
              <a:buFont typeface="Arial" panose="020B0604020202020204" pitchFamily="34" charset="0"/>
              <a:buChar char="•"/>
            </a:pPr>
            <a:r>
              <a:rPr lang="en-US" sz="1100" dirty="0">
                <a:solidFill>
                  <a:schemeClr val="bg1"/>
                </a:solidFill>
                <a:latin typeface="Arial" pitchFamily="34" charset="0"/>
                <a:cs typeface="Arial" pitchFamily="34" charset="-120"/>
              </a:rPr>
              <a:t>Best model: Linear SVM (Setting 1) with 83.3% Recall (45/54 fraud cases detected). </a:t>
            </a:r>
          </a:p>
          <a:p>
            <a:pPr marL="171450" indent="-171450">
              <a:buFont typeface="Arial" panose="020B0604020202020204" pitchFamily="34" charset="0"/>
              <a:buChar char="•"/>
            </a:pPr>
            <a:r>
              <a:rPr lang="en-US" sz="1100" dirty="0">
                <a:solidFill>
                  <a:schemeClr val="bg1"/>
                </a:solidFill>
                <a:latin typeface="Arial" pitchFamily="34" charset="0"/>
                <a:cs typeface="Arial" pitchFamily="34" charset="-120"/>
              </a:rPr>
              <a:t>Evaluated 10 ML models across 6 experimental settings. </a:t>
            </a:r>
          </a:p>
          <a:p>
            <a:pPr marL="171450" indent="-171450">
              <a:buFont typeface="Arial" panose="020B0604020202020204" pitchFamily="34" charset="0"/>
              <a:buChar char="•"/>
            </a:pPr>
            <a:r>
              <a:rPr lang="en-US" sz="1100" dirty="0">
                <a:solidFill>
                  <a:schemeClr val="bg1"/>
                </a:solidFill>
                <a:latin typeface="Arial" pitchFamily="34" charset="0"/>
                <a:cs typeface="Arial" pitchFamily="34" charset="-120"/>
              </a:rPr>
              <a:t>SHAP provided transparent feature-level explanations.</a:t>
            </a:r>
          </a:p>
          <a:p>
            <a:pPr marL="171450" indent="-171450">
              <a:buFont typeface="Arial" panose="020B0604020202020204" pitchFamily="34" charset="0"/>
              <a:buChar char="•"/>
            </a:pPr>
            <a:r>
              <a:rPr lang="en-US" sz="1100" dirty="0">
                <a:solidFill>
                  <a:schemeClr val="bg1"/>
                </a:solidFill>
                <a:latin typeface="Arial" pitchFamily="34" charset="0"/>
                <a:cs typeface="Arial" pitchFamily="34" charset="-120"/>
              </a:rPr>
              <a:t> Key finding: Sampling strategy had a greater impact than model selection. </a:t>
            </a:r>
          </a:p>
        </p:txBody>
      </p:sp>
      <p:sp>
        <p:nvSpPr>
          <p:cNvPr id="14" name="Shape 12"/>
          <p:cNvSpPr/>
          <p:nvPr/>
        </p:nvSpPr>
        <p:spPr>
          <a:xfrm>
            <a:off x="365760" y="2575566"/>
            <a:ext cx="8412480" cy="1847088"/>
          </a:xfrm>
          <a:prstGeom prst="roundRect">
            <a:avLst>
              <a:gd name="adj" fmla="val 3960"/>
            </a:avLst>
          </a:prstGeom>
          <a:solidFill>
            <a:srgbClr val="F4F4F4"/>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15" name="Shape 13"/>
          <p:cNvSpPr/>
          <p:nvPr/>
        </p:nvSpPr>
        <p:spPr>
          <a:xfrm>
            <a:off x="493776" y="2800245"/>
            <a:ext cx="877824" cy="438912"/>
          </a:xfrm>
          <a:prstGeom prst="roundRect">
            <a:avLst>
              <a:gd name="adj" fmla="val 12500"/>
            </a:avLst>
          </a:prstGeom>
          <a:solidFill>
            <a:srgbClr val="D61920"/>
          </a:solidFill>
          <a:ln w="12700">
            <a:solidFill>
              <a:srgbClr val="D61920"/>
            </a:solidFill>
            <a:prstDash val="solid"/>
          </a:ln>
        </p:spPr>
        <p:txBody>
          <a:bodyPr/>
          <a:lstStyle/>
          <a:p>
            <a:endParaRPr lang="en-US"/>
          </a:p>
        </p:txBody>
      </p:sp>
      <p:sp>
        <p:nvSpPr>
          <p:cNvPr id="16" name="Text 14"/>
          <p:cNvSpPr/>
          <p:nvPr/>
        </p:nvSpPr>
        <p:spPr>
          <a:xfrm>
            <a:off x="493776" y="2800245"/>
            <a:ext cx="877824" cy="438912"/>
          </a:xfrm>
          <a:prstGeom prst="rect">
            <a:avLst/>
          </a:prstGeom>
          <a:noFill/>
          <a:ln/>
        </p:spPr>
        <p:txBody>
          <a:bodyPr wrap="square" lIns="0" tIns="0" rIns="0" bIns="0" rtlCol="0" anchor="ctr"/>
          <a:lstStyle/>
          <a:p>
            <a:pPr marL="0" indent="0" algn="ctr">
              <a:buNone/>
            </a:pPr>
            <a:r>
              <a:rPr lang="en-US" sz="1300" b="1" dirty="0">
                <a:solidFill>
                  <a:srgbClr val="FFFFFF"/>
                </a:solidFill>
              </a:rPr>
              <a:t>RO 2</a:t>
            </a:r>
            <a:endParaRPr lang="en-US" sz="1300" dirty="0"/>
          </a:p>
        </p:txBody>
      </p:sp>
      <p:sp>
        <p:nvSpPr>
          <p:cNvPr id="17" name="Text 15"/>
          <p:cNvSpPr/>
          <p:nvPr/>
        </p:nvSpPr>
        <p:spPr>
          <a:xfrm>
            <a:off x="1463040" y="2818533"/>
            <a:ext cx="1097280" cy="307238"/>
          </a:xfrm>
          <a:prstGeom prst="rect">
            <a:avLst/>
          </a:prstGeom>
          <a:noFill/>
          <a:ln/>
        </p:spPr>
        <p:txBody>
          <a:bodyPr wrap="square" rtlCol="0" anchor="ctr"/>
          <a:lstStyle/>
          <a:p>
            <a:pPr marL="0" indent="0">
              <a:buNone/>
            </a:pPr>
            <a:r>
              <a:rPr lang="en-US" sz="1300" b="1" dirty="0">
                <a:solidFill>
                  <a:srgbClr val="D61920"/>
                </a:solidFill>
                <a:latin typeface="Arial" pitchFamily="34" charset="0"/>
                <a:ea typeface="Arial" pitchFamily="34" charset="-122"/>
                <a:cs typeface="Arial" pitchFamily="34" charset="-120"/>
              </a:rPr>
              <a:t>✓ Achieved</a:t>
            </a:r>
            <a:endParaRPr lang="en-US" sz="1300" dirty="0"/>
          </a:p>
        </p:txBody>
      </p:sp>
      <p:sp>
        <p:nvSpPr>
          <p:cNvPr id="18" name="Text 16"/>
          <p:cNvSpPr/>
          <p:nvPr/>
        </p:nvSpPr>
        <p:spPr>
          <a:xfrm>
            <a:off x="2615184" y="2818533"/>
            <a:ext cx="6035040" cy="307238"/>
          </a:xfrm>
          <a:prstGeom prst="rect">
            <a:avLst/>
          </a:prstGeom>
          <a:noFill/>
          <a:ln/>
        </p:spPr>
        <p:txBody>
          <a:bodyPr wrap="square" rtlCol="0" anchor="ctr"/>
          <a:lstStyle/>
          <a:p>
            <a:r>
              <a:rPr lang="en-US" sz="1300" b="1" dirty="0">
                <a:latin typeface="Arial" pitchFamily="34" charset="0"/>
                <a:cs typeface="Arial" pitchFamily="34" charset="-120"/>
              </a:rPr>
              <a:t>Develop an AI Investigator Assistant</a:t>
            </a:r>
          </a:p>
        </p:txBody>
      </p:sp>
      <p:sp>
        <p:nvSpPr>
          <p:cNvPr id="19" name="Text 17"/>
          <p:cNvSpPr/>
          <p:nvPr/>
        </p:nvSpPr>
        <p:spPr>
          <a:xfrm>
            <a:off x="1463040" y="3330596"/>
            <a:ext cx="7187184" cy="1150525"/>
          </a:xfrm>
          <a:prstGeom prst="rect">
            <a:avLst/>
          </a:prstGeom>
          <a:noFill/>
          <a:ln/>
        </p:spPr>
        <p:txBody>
          <a:bodyPr wrap="square" rtlCol="0" anchor="ctr"/>
          <a:lstStyle/>
          <a:p>
            <a:pPr marL="171450" indent="-171450">
              <a:buFont typeface="Arial" panose="020B0604020202020204" pitchFamily="34" charset="0"/>
              <a:buChar char="•"/>
            </a:pPr>
            <a:r>
              <a:rPr lang="en-US" sz="1100" dirty="0">
                <a:latin typeface="Arial" pitchFamily="34" charset="0"/>
                <a:cs typeface="Arial" pitchFamily="34" charset="-120"/>
              </a:rPr>
              <a:t>Integrated SHAP explanations with RAG over CMS/OIG policies.</a:t>
            </a:r>
          </a:p>
          <a:p>
            <a:pPr marL="171450" indent="-171450">
              <a:buFont typeface="Arial" panose="020B0604020202020204" pitchFamily="34" charset="0"/>
              <a:buChar char="•"/>
            </a:pPr>
            <a:r>
              <a:rPr lang="en-US" sz="1100" dirty="0">
                <a:latin typeface="Arial" pitchFamily="34" charset="0"/>
                <a:cs typeface="Arial" pitchFamily="34" charset="-120"/>
              </a:rPr>
              <a:t> Developed an interactive chatbot with four investigation tools.</a:t>
            </a:r>
          </a:p>
          <a:p>
            <a:pPr marL="171450" indent="-171450">
              <a:buFont typeface="Arial" panose="020B0604020202020204" pitchFamily="34" charset="0"/>
              <a:buChar char="•"/>
            </a:pPr>
            <a:r>
              <a:rPr lang="en-US" sz="1100" dirty="0">
                <a:latin typeface="Arial" pitchFamily="34" charset="0"/>
                <a:cs typeface="Arial" pitchFamily="34" charset="-120"/>
              </a:rPr>
              <a:t> Demonstrated natural-language fraud investigation support. </a:t>
            </a:r>
          </a:p>
          <a:p>
            <a:pPr marL="171450" indent="-171450">
              <a:buFont typeface="Arial" panose="020B0604020202020204" pitchFamily="34" charset="0"/>
              <a:buChar char="•"/>
            </a:pPr>
            <a:r>
              <a:rPr lang="en-US" sz="1100" dirty="0">
                <a:latin typeface="Arial" pitchFamily="34" charset="0"/>
                <a:cs typeface="Arial" pitchFamily="34" charset="-120"/>
              </a:rPr>
              <a:t>Identified 111 investigation candidates for further review. </a:t>
            </a:r>
          </a:p>
        </p:txBody>
      </p:sp>
      <p:sp>
        <p:nvSpPr>
          <p:cNvPr id="11" name="Text 2">
            <a:extLst>
              <a:ext uri="{FF2B5EF4-FFF2-40B4-BE49-F238E27FC236}">
                <a16:creationId xmlns:a16="http://schemas.microsoft.com/office/drawing/2014/main" id="{D959FC26-541F-696A-E2E7-867B6D51EE9D}"/>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12" name="PageNum">
            <a:extLst>
              <a:ext uri="{FF2B5EF4-FFF2-40B4-BE49-F238E27FC236}">
                <a16:creationId xmlns:a16="http://schemas.microsoft.com/office/drawing/2014/main" id="{46EA5CB4-92C5-8BFA-6675-9A7A15B0CC3B}"/>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dirty="0">
                <a:solidFill>
                  <a:srgbClr val="FFFFFF"/>
                </a:solidFill>
                <a:latin typeface="Arial"/>
              </a:rPr>
              <a:t>29</a:t>
            </a:r>
            <a:endParaRPr lang="en-US" sz="1000" b="0" dirty="0">
              <a:solidFill>
                <a:srgbClr val="FFFFFF"/>
              </a:solidFill>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09728"/>
            <a:ext cx="7680960" cy="512064"/>
          </a:xfrm>
          <a:prstGeom prst="rect">
            <a:avLst/>
          </a:prstGeom>
          <a:noFill/>
          <a:ln/>
        </p:spPr>
        <p:txBody>
          <a:bodyPr wrap="square" rtlCol="0" anchor="ctr"/>
          <a:lstStyle/>
          <a:p>
            <a:pPr marL="0" indent="0">
              <a:buNone/>
            </a:pPr>
            <a:r>
              <a:rPr lang="en-US" sz="2400" b="1" dirty="0">
                <a:solidFill>
                  <a:srgbClr val="2D2D2D"/>
                </a:solidFill>
                <a:latin typeface="Arial" pitchFamily="34" charset="0"/>
                <a:ea typeface="Arial" pitchFamily="34" charset="-122"/>
                <a:cs typeface="Arial" pitchFamily="34" charset="-120"/>
              </a:rPr>
              <a:t>Limitations &amp; Future Research Directions</a:t>
            </a:r>
            <a:endParaRPr lang="en-US" sz="2400" dirty="0"/>
          </a:p>
        </p:txBody>
      </p:sp>
      <p:sp>
        <p:nvSpPr>
          <p:cNvPr id="5" name="Shape 3"/>
          <p:cNvSpPr/>
          <p:nvPr/>
        </p:nvSpPr>
        <p:spPr>
          <a:xfrm>
            <a:off x="365760" y="932687"/>
            <a:ext cx="4114800" cy="3492167"/>
          </a:xfrm>
          <a:prstGeom prst="roundRect">
            <a:avLst>
              <a:gd name="adj" fmla="val 1896"/>
            </a:avLst>
          </a:prstGeom>
          <a:solidFill>
            <a:srgbClr val="FFFFFF"/>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a:p>
        </p:txBody>
      </p:sp>
      <p:sp>
        <p:nvSpPr>
          <p:cNvPr id="6" name="Shape 4"/>
          <p:cNvSpPr/>
          <p:nvPr/>
        </p:nvSpPr>
        <p:spPr>
          <a:xfrm>
            <a:off x="365760" y="918058"/>
            <a:ext cx="4114800" cy="336499"/>
          </a:xfrm>
          <a:prstGeom prst="rect">
            <a:avLst/>
          </a:prstGeom>
          <a:solidFill>
            <a:srgbClr val="000000"/>
          </a:solidFill>
          <a:ln w="12700">
            <a:solidFill>
              <a:srgbClr val="000000"/>
            </a:solidFill>
            <a:prstDash val="solid"/>
          </a:ln>
        </p:spPr>
        <p:txBody>
          <a:bodyPr/>
          <a:lstStyle/>
          <a:p>
            <a:endParaRPr lang="en-US"/>
          </a:p>
        </p:txBody>
      </p:sp>
      <p:sp>
        <p:nvSpPr>
          <p:cNvPr id="7" name="Text 5"/>
          <p:cNvSpPr/>
          <p:nvPr/>
        </p:nvSpPr>
        <p:spPr>
          <a:xfrm>
            <a:off x="365760" y="918058"/>
            <a:ext cx="4114800" cy="336499"/>
          </a:xfrm>
          <a:prstGeom prst="rect">
            <a:avLst/>
          </a:prstGeom>
          <a:noFill/>
          <a:ln/>
        </p:spPr>
        <p:txBody>
          <a:bodyPr wrap="square" lIns="0" tIns="0" rIns="0" bIns="0" rtlCol="0" anchor="ctr"/>
          <a:lstStyle/>
          <a:p>
            <a:pPr marL="0" indent="0" algn="ctr">
              <a:buNone/>
            </a:pPr>
            <a:r>
              <a:rPr lang="en-US" sz="1400" b="1" dirty="0">
                <a:solidFill>
                  <a:srgbClr val="FFFFFF"/>
                </a:solidFill>
              </a:rPr>
              <a:t>Limitations</a:t>
            </a:r>
            <a:endParaRPr lang="en-US" sz="1400" dirty="0"/>
          </a:p>
        </p:txBody>
      </p:sp>
      <p:sp>
        <p:nvSpPr>
          <p:cNvPr id="8" name="Shape 6"/>
          <p:cNvSpPr/>
          <p:nvPr/>
        </p:nvSpPr>
        <p:spPr>
          <a:xfrm>
            <a:off x="493776" y="1481328"/>
            <a:ext cx="347472" cy="277978"/>
          </a:xfrm>
          <a:prstGeom prst="ellipse">
            <a:avLst/>
          </a:prstGeom>
          <a:solidFill>
            <a:srgbClr val="D61920"/>
          </a:solidFill>
          <a:ln w="12700">
            <a:solidFill>
              <a:srgbClr val="D61920"/>
            </a:solidFill>
            <a:prstDash val="solid"/>
          </a:ln>
        </p:spPr>
        <p:txBody>
          <a:bodyPr/>
          <a:lstStyle/>
          <a:p>
            <a:endParaRPr lang="en-US"/>
          </a:p>
        </p:txBody>
      </p:sp>
      <p:sp>
        <p:nvSpPr>
          <p:cNvPr id="9" name="Text 7"/>
          <p:cNvSpPr/>
          <p:nvPr/>
        </p:nvSpPr>
        <p:spPr>
          <a:xfrm>
            <a:off x="493776" y="1481328"/>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0" name="Text 8"/>
          <p:cNvSpPr/>
          <p:nvPr/>
        </p:nvSpPr>
        <p:spPr>
          <a:xfrm>
            <a:off x="932688" y="1356970"/>
            <a:ext cx="3419856" cy="204826"/>
          </a:xfrm>
          <a:prstGeom prst="rect">
            <a:avLst/>
          </a:prstGeom>
          <a:noFill/>
          <a:ln/>
        </p:spPr>
        <p:txBody>
          <a:bodyPr wrap="square" rtlCol="0" anchor="ctr"/>
          <a:lstStyle/>
          <a:p>
            <a:r>
              <a:rPr lang="en-US" sz="1200" b="1" dirty="0">
                <a:solidFill>
                  <a:srgbClr val="2D2D2D"/>
                </a:solidFill>
                <a:latin typeface="Arial" pitchFamily="34" charset="0"/>
                <a:cs typeface="Arial" pitchFamily="34" charset="-120"/>
              </a:rPr>
              <a:t>Limited ground-truth labels:</a:t>
            </a:r>
          </a:p>
        </p:txBody>
      </p:sp>
      <p:sp>
        <p:nvSpPr>
          <p:cNvPr id="11" name="Text 9"/>
          <p:cNvSpPr/>
          <p:nvPr/>
        </p:nvSpPr>
        <p:spPr>
          <a:xfrm>
            <a:off x="932688" y="1620102"/>
            <a:ext cx="3419856" cy="351130"/>
          </a:xfrm>
          <a:prstGeom prst="rect">
            <a:avLst/>
          </a:prstGeom>
          <a:noFill/>
          <a:ln/>
        </p:spPr>
        <p:txBody>
          <a:bodyPr wrap="square" rtlCol="0" anchor="ctr"/>
          <a:lstStyle/>
          <a:p>
            <a:pPr marL="0" indent="0">
              <a:buNone/>
            </a:pPr>
            <a:r>
              <a:rPr lang="en-US" sz="1050" dirty="0">
                <a:solidFill>
                  <a:srgbClr val="626568"/>
                </a:solidFill>
                <a:latin typeface="Arial" pitchFamily="34" charset="0"/>
                <a:cs typeface="Arial" pitchFamily="34" charset="-120"/>
              </a:rPr>
              <a:t>OIG LEIE captures only providers who were caught and excluded. Undetected fraud among 'legitimate' providers may dilute model training.</a:t>
            </a:r>
          </a:p>
        </p:txBody>
      </p:sp>
      <p:sp>
        <p:nvSpPr>
          <p:cNvPr id="12" name="Shape 10"/>
          <p:cNvSpPr/>
          <p:nvPr/>
        </p:nvSpPr>
        <p:spPr>
          <a:xfrm>
            <a:off x="493776" y="2267712"/>
            <a:ext cx="347472" cy="277978"/>
          </a:xfrm>
          <a:prstGeom prst="ellipse">
            <a:avLst/>
          </a:prstGeom>
          <a:solidFill>
            <a:srgbClr val="D61920"/>
          </a:solidFill>
          <a:ln w="12700">
            <a:solidFill>
              <a:srgbClr val="D61920"/>
            </a:solidFill>
            <a:prstDash val="solid"/>
          </a:ln>
        </p:spPr>
        <p:txBody>
          <a:bodyPr/>
          <a:lstStyle/>
          <a:p>
            <a:endParaRPr lang="en-US"/>
          </a:p>
        </p:txBody>
      </p:sp>
      <p:sp>
        <p:nvSpPr>
          <p:cNvPr id="13" name="Text 11"/>
          <p:cNvSpPr/>
          <p:nvPr/>
        </p:nvSpPr>
        <p:spPr>
          <a:xfrm>
            <a:off x="493776" y="2267712"/>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4" name="Text 12"/>
          <p:cNvSpPr/>
          <p:nvPr/>
        </p:nvSpPr>
        <p:spPr>
          <a:xfrm>
            <a:off x="932688" y="2143354"/>
            <a:ext cx="3419856" cy="204826"/>
          </a:xfrm>
          <a:prstGeom prst="rect">
            <a:avLst/>
          </a:prstGeom>
          <a:noFill/>
          <a:ln/>
        </p:spPr>
        <p:txBody>
          <a:bodyPr wrap="square" rtlCol="0" anchor="ctr"/>
          <a:lstStyle/>
          <a:p>
            <a:r>
              <a:rPr lang="en-US" sz="1200" b="1" dirty="0">
                <a:solidFill>
                  <a:srgbClr val="2D2D2D"/>
                </a:solidFill>
                <a:latin typeface="Arial" pitchFamily="34" charset="0"/>
                <a:cs typeface="Arial" pitchFamily="34" charset="-120"/>
              </a:rPr>
              <a:t>Single-year dataset:</a:t>
            </a:r>
          </a:p>
        </p:txBody>
      </p:sp>
      <p:sp>
        <p:nvSpPr>
          <p:cNvPr id="15" name="Text 13"/>
          <p:cNvSpPr/>
          <p:nvPr/>
        </p:nvSpPr>
        <p:spPr>
          <a:xfrm>
            <a:off x="932688" y="2406701"/>
            <a:ext cx="3419856" cy="351130"/>
          </a:xfrm>
          <a:prstGeom prst="rect">
            <a:avLst/>
          </a:prstGeom>
          <a:noFill/>
          <a:ln/>
        </p:spPr>
        <p:txBody>
          <a:bodyPr wrap="square" rtlCol="0" anchor="ctr"/>
          <a:lstStyle/>
          <a:p>
            <a:r>
              <a:rPr lang="en-US" sz="1050" dirty="0">
                <a:solidFill>
                  <a:srgbClr val="626568"/>
                </a:solidFill>
                <a:latin typeface="Arial" pitchFamily="34" charset="0"/>
                <a:cs typeface="Arial" pitchFamily="34" charset="-120"/>
              </a:rPr>
              <a:t>Models were trained using 2023 Medicare Part B and Part D data. Performance across multiple years was not evaluated.</a:t>
            </a:r>
          </a:p>
        </p:txBody>
      </p:sp>
      <p:sp>
        <p:nvSpPr>
          <p:cNvPr id="16" name="Shape 14"/>
          <p:cNvSpPr/>
          <p:nvPr/>
        </p:nvSpPr>
        <p:spPr>
          <a:xfrm>
            <a:off x="493776" y="3054096"/>
            <a:ext cx="347472" cy="277978"/>
          </a:xfrm>
          <a:prstGeom prst="ellipse">
            <a:avLst/>
          </a:prstGeom>
          <a:solidFill>
            <a:srgbClr val="D61920"/>
          </a:solidFill>
          <a:ln w="12700">
            <a:solidFill>
              <a:srgbClr val="D61920"/>
            </a:solidFill>
            <a:prstDash val="solid"/>
          </a:ln>
        </p:spPr>
        <p:txBody>
          <a:bodyPr/>
          <a:lstStyle/>
          <a:p>
            <a:endParaRPr lang="en-US"/>
          </a:p>
        </p:txBody>
      </p:sp>
      <p:sp>
        <p:nvSpPr>
          <p:cNvPr id="17" name="Text 15"/>
          <p:cNvSpPr/>
          <p:nvPr/>
        </p:nvSpPr>
        <p:spPr>
          <a:xfrm>
            <a:off x="493776" y="3054096"/>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8" name="Text 16"/>
          <p:cNvSpPr/>
          <p:nvPr/>
        </p:nvSpPr>
        <p:spPr>
          <a:xfrm>
            <a:off x="932688" y="2929738"/>
            <a:ext cx="3419856" cy="204826"/>
          </a:xfrm>
          <a:prstGeom prst="rect">
            <a:avLst/>
          </a:prstGeom>
          <a:noFill/>
          <a:ln/>
        </p:spPr>
        <p:txBody>
          <a:bodyPr wrap="square" rtlCol="0" anchor="ctr"/>
          <a:lstStyle/>
          <a:p>
            <a:r>
              <a:rPr lang="en-US" sz="1200" b="1" dirty="0">
                <a:solidFill>
                  <a:srgbClr val="2D2D2D"/>
                </a:solidFill>
                <a:latin typeface="Arial" pitchFamily="34" charset="0"/>
                <a:cs typeface="Arial" pitchFamily="34" charset="-120"/>
              </a:rPr>
              <a:t>Extreme class imbalance:</a:t>
            </a:r>
          </a:p>
        </p:txBody>
      </p:sp>
      <p:sp>
        <p:nvSpPr>
          <p:cNvPr id="19" name="Text 17"/>
          <p:cNvSpPr/>
          <p:nvPr/>
        </p:nvSpPr>
        <p:spPr>
          <a:xfrm>
            <a:off x="932688" y="3149194"/>
            <a:ext cx="3419856" cy="351130"/>
          </a:xfrm>
          <a:prstGeom prst="rect">
            <a:avLst/>
          </a:prstGeom>
          <a:noFill/>
          <a:ln/>
        </p:spPr>
        <p:txBody>
          <a:bodyPr wrap="square" rtlCol="0" anchor="ctr"/>
          <a:lstStyle/>
          <a:p>
            <a:r>
              <a:rPr lang="en-US" sz="1050" dirty="0">
                <a:solidFill>
                  <a:srgbClr val="626568"/>
                </a:solidFill>
                <a:latin typeface="Arial" pitchFamily="34" charset="0"/>
                <a:cs typeface="Arial" pitchFamily="34" charset="-120"/>
              </a:rPr>
              <a:t>The severe imbalance limits fraud detection performance</a:t>
            </a:r>
          </a:p>
        </p:txBody>
      </p:sp>
      <p:sp>
        <p:nvSpPr>
          <p:cNvPr id="20" name="Shape 18"/>
          <p:cNvSpPr/>
          <p:nvPr/>
        </p:nvSpPr>
        <p:spPr>
          <a:xfrm>
            <a:off x="493776" y="3840480"/>
            <a:ext cx="347472" cy="277978"/>
          </a:xfrm>
          <a:prstGeom prst="ellipse">
            <a:avLst/>
          </a:prstGeom>
          <a:solidFill>
            <a:srgbClr val="D61920"/>
          </a:solidFill>
          <a:ln w="12700">
            <a:solidFill>
              <a:srgbClr val="D61920"/>
            </a:solidFill>
            <a:prstDash val="solid"/>
          </a:ln>
        </p:spPr>
        <p:txBody>
          <a:bodyPr/>
          <a:lstStyle/>
          <a:p>
            <a:endParaRPr lang="en-US"/>
          </a:p>
        </p:txBody>
      </p:sp>
      <p:sp>
        <p:nvSpPr>
          <p:cNvPr id="21" name="Text 19"/>
          <p:cNvSpPr/>
          <p:nvPr/>
        </p:nvSpPr>
        <p:spPr>
          <a:xfrm>
            <a:off x="493776" y="3840480"/>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2" name="Text 20"/>
          <p:cNvSpPr/>
          <p:nvPr/>
        </p:nvSpPr>
        <p:spPr>
          <a:xfrm>
            <a:off x="932688" y="3716122"/>
            <a:ext cx="3419856" cy="204826"/>
          </a:xfrm>
          <a:prstGeom prst="rect">
            <a:avLst/>
          </a:prstGeom>
          <a:noFill/>
          <a:ln/>
        </p:spPr>
        <p:txBody>
          <a:bodyPr wrap="square" rtlCol="0" anchor="ctr"/>
          <a:lstStyle/>
          <a:p>
            <a:r>
              <a:rPr lang="en-US" sz="1200" b="1" dirty="0">
                <a:solidFill>
                  <a:srgbClr val="2D2D2D"/>
                </a:solidFill>
                <a:latin typeface="Arial" pitchFamily="34" charset="0"/>
                <a:cs typeface="Arial" pitchFamily="34" charset="-120"/>
              </a:rPr>
              <a:t>Policy-assisted explanations:</a:t>
            </a:r>
          </a:p>
        </p:txBody>
      </p:sp>
      <p:sp>
        <p:nvSpPr>
          <p:cNvPr id="23" name="Text 21"/>
          <p:cNvSpPr/>
          <p:nvPr/>
        </p:nvSpPr>
        <p:spPr>
          <a:xfrm>
            <a:off x="932688" y="3997336"/>
            <a:ext cx="3419856" cy="351130"/>
          </a:xfrm>
          <a:prstGeom prst="rect">
            <a:avLst/>
          </a:prstGeom>
          <a:noFill/>
          <a:ln/>
        </p:spPr>
        <p:txBody>
          <a:bodyPr wrap="square" rtlCol="0" anchor="ctr"/>
          <a:lstStyle/>
          <a:p>
            <a:r>
              <a:rPr lang="en-US" sz="1050" dirty="0">
                <a:solidFill>
                  <a:srgbClr val="626568"/>
                </a:solidFill>
                <a:latin typeface="Arial" pitchFamily="34" charset="0"/>
                <a:cs typeface="Arial" pitchFamily="34" charset="-120"/>
              </a:rPr>
              <a:t>The chatbot explains ML predictions using SHAP and RAG. It does not independently predict fraud from policy documents and datasets.</a:t>
            </a:r>
          </a:p>
        </p:txBody>
      </p:sp>
      <p:sp>
        <p:nvSpPr>
          <p:cNvPr id="24" name="Shape 22"/>
          <p:cNvSpPr/>
          <p:nvPr/>
        </p:nvSpPr>
        <p:spPr>
          <a:xfrm>
            <a:off x="4608576" y="932687"/>
            <a:ext cx="4114800" cy="3492166"/>
          </a:xfrm>
          <a:prstGeom prst="roundRect">
            <a:avLst>
              <a:gd name="adj" fmla="val 1896"/>
            </a:avLst>
          </a:prstGeom>
          <a:solidFill>
            <a:srgbClr val="F4F4F4"/>
          </a:solidFill>
          <a:ln w="6350">
            <a:solidFill>
              <a:srgbClr val="E0E0E0"/>
            </a:solidFill>
            <a:prstDash val="solid"/>
          </a:ln>
          <a:effectLst>
            <a:outerShdw blurRad="63500" dist="25400" dir="2700000" algn="bl" rotWithShape="0">
              <a:srgbClr val="000000">
                <a:alpha val="10000"/>
              </a:srgbClr>
            </a:outerShdw>
          </a:effectLst>
        </p:spPr>
        <p:txBody>
          <a:bodyPr/>
          <a:lstStyle/>
          <a:p>
            <a:endParaRPr lang="en-US" dirty="0"/>
          </a:p>
        </p:txBody>
      </p:sp>
      <p:sp>
        <p:nvSpPr>
          <p:cNvPr id="25" name="Shape 23"/>
          <p:cNvSpPr/>
          <p:nvPr/>
        </p:nvSpPr>
        <p:spPr>
          <a:xfrm>
            <a:off x="4663440" y="918058"/>
            <a:ext cx="4114800" cy="336499"/>
          </a:xfrm>
          <a:prstGeom prst="rect">
            <a:avLst/>
          </a:prstGeom>
          <a:solidFill>
            <a:srgbClr val="D61920"/>
          </a:solidFill>
          <a:ln w="12700">
            <a:solidFill>
              <a:srgbClr val="D61920"/>
            </a:solidFill>
            <a:prstDash val="solid"/>
          </a:ln>
        </p:spPr>
        <p:txBody>
          <a:bodyPr/>
          <a:lstStyle/>
          <a:p>
            <a:endParaRPr lang="en-US"/>
          </a:p>
        </p:txBody>
      </p:sp>
      <p:sp>
        <p:nvSpPr>
          <p:cNvPr id="26" name="Text 24"/>
          <p:cNvSpPr/>
          <p:nvPr/>
        </p:nvSpPr>
        <p:spPr>
          <a:xfrm>
            <a:off x="4663440" y="918058"/>
            <a:ext cx="4114800" cy="336499"/>
          </a:xfrm>
          <a:prstGeom prst="rect">
            <a:avLst/>
          </a:prstGeom>
          <a:noFill/>
          <a:ln/>
        </p:spPr>
        <p:txBody>
          <a:bodyPr wrap="square" lIns="0" tIns="0" rIns="0" bIns="0" rtlCol="0" anchor="ctr"/>
          <a:lstStyle/>
          <a:p>
            <a:pPr marL="0" indent="0" algn="ctr">
              <a:buNone/>
            </a:pPr>
            <a:r>
              <a:rPr lang="en-US" sz="1400" b="1" dirty="0">
                <a:solidFill>
                  <a:srgbClr val="FFFFFF"/>
                </a:solidFill>
              </a:rPr>
              <a:t>Future Research</a:t>
            </a:r>
            <a:endParaRPr lang="en-US" sz="1400" dirty="0"/>
          </a:p>
        </p:txBody>
      </p:sp>
      <p:sp>
        <p:nvSpPr>
          <p:cNvPr id="27" name="Shape 25"/>
          <p:cNvSpPr/>
          <p:nvPr/>
        </p:nvSpPr>
        <p:spPr>
          <a:xfrm>
            <a:off x="4791456" y="1481328"/>
            <a:ext cx="347472" cy="277978"/>
          </a:xfrm>
          <a:prstGeom prst="ellipse">
            <a:avLst/>
          </a:prstGeom>
          <a:solidFill>
            <a:srgbClr val="2D2D2D"/>
          </a:solidFill>
          <a:ln w="12700">
            <a:solidFill>
              <a:srgbClr val="2D2D2D"/>
            </a:solidFill>
            <a:prstDash val="solid"/>
          </a:ln>
        </p:spPr>
        <p:txBody>
          <a:bodyPr/>
          <a:lstStyle/>
          <a:p>
            <a:endParaRPr lang="en-US"/>
          </a:p>
        </p:txBody>
      </p:sp>
      <p:sp>
        <p:nvSpPr>
          <p:cNvPr id="28" name="Text 26"/>
          <p:cNvSpPr/>
          <p:nvPr/>
        </p:nvSpPr>
        <p:spPr>
          <a:xfrm>
            <a:off x="4791456" y="1481328"/>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29" name="Text 27"/>
          <p:cNvSpPr/>
          <p:nvPr/>
        </p:nvSpPr>
        <p:spPr>
          <a:xfrm>
            <a:off x="5230368" y="1373214"/>
            <a:ext cx="3419856" cy="204826"/>
          </a:xfrm>
          <a:prstGeom prst="rect">
            <a:avLst/>
          </a:prstGeom>
          <a:noFill/>
          <a:ln/>
        </p:spPr>
        <p:txBody>
          <a:bodyPr wrap="square" rtlCol="0" anchor="ctr"/>
          <a:lstStyle/>
          <a:p>
            <a:r>
              <a:rPr lang="en-US" sz="1200" b="1" dirty="0">
                <a:solidFill>
                  <a:srgbClr val="2D2D2D"/>
                </a:solidFill>
                <a:latin typeface="Arial" pitchFamily="34" charset="0"/>
                <a:cs typeface="Arial" pitchFamily="34" charset="-120"/>
              </a:rPr>
              <a:t>LLM-Based Fraud Prediction:</a:t>
            </a:r>
          </a:p>
        </p:txBody>
      </p:sp>
      <p:sp>
        <p:nvSpPr>
          <p:cNvPr id="30" name="Text 28"/>
          <p:cNvSpPr/>
          <p:nvPr/>
        </p:nvSpPr>
        <p:spPr>
          <a:xfrm>
            <a:off x="5230368" y="1737782"/>
            <a:ext cx="3419856" cy="466900"/>
          </a:xfrm>
          <a:prstGeom prst="rect">
            <a:avLst/>
          </a:prstGeom>
          <a:noFill/>
          <a:ln/>
        </p:spPr>
        <p:txBody>
          <a:bodyPr wrap="square" rtlCol="0" anchor="ctr"/>
          <a:lstStyle/>
          <a:p>
            <a:r>
              <a:rPr lang="en-US" sz="1050" dirty="0">
                <a:solidFill>
                  <a:srgbClr val="626568"/>
                </a:solidFill>
                <a:latin typeface="Arial" pitchFamily="34" charset="0"/>
                <a:cs typeface="Arial" pitchFamily="34" charset="-120"/>
              </a:rPr>
              <a:t>Fine-tune LLMs to classify Medicare providers using structured provider-level features. Compare the performance of LLMs with traditional machine learning models.</a:t>
            </a:r>
          </a:p>
        </p:txBody>
      </p:sp>
      <p:sp>
        <p:nvSpPr>
          <p:cNvPr id="31" name="Shape 29"/>
          <p:cNvSpPr/>
          <p:nvPr/>
        </p:nvSpPr>
        <p:spPr>
          <a:xfrm>
            <a:off x="4791456" y="2790749"/>
            <a:ext cx="347472" cy="277978"/>
          </a:xfrm>
          <a:prstGeom prst="ellipse">
            <a:avLst/>
          </a:prstGeom>
          <a:solidFill>
            <a:srgbClr val="2D2D2D"/>
          </a:solidFill>
          <a:ln w="12700">
            <a:solidFill>
              <a:srgbClr val="2D2D2D"/>
            </a:solidFill>
            <a:prstDash val="solid"/>
          </a:ln>
        </p:spPr>
        <p:txBody>
          <a:bodyPr/>
          <a:lstStyle/>
          <a:p>
            <a:endParaRPr lang="en-US"/>
          </a:p>
        </p:txBody>
      </p:sp>
      <p:sp>
        <p:nvSpPr>
          <p:cNvPr id="32" name="Text 30"/>
          <p:cNvSpPr/>
          <p:nvPr/>
        </p:nvSpPr>
        <p:spPr>
          <a:xfrm>
            <a:off x="4791456" y="2783182"/>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33" name="Text 31"/>
          <p:cNvSpPr/>
          <p:nvPr/>
        </p:nvSpPr>
        <p:spPr>
          <a:xfrm>
            <a:off x="5230368" y="2585923"/>
            <a:ext cx="3419856" cy="204826"/>
          </a:xfrm>
          <a:prstGeom prst="rect">
            <a:avLst/>
          </a:prstGeom>
          <a:noFill/>
          <a:ln/>
        </p:spPr>
        <p:txBody>
          <a:bodyPr wrap="square" rtlCol="0" anchor="ctr"/>
          <a:lstStyle/>
          <a:p>
            <a:r>
              <a:rPr lang="en-US" sz="1200" b="1" dirty="0">
                <a:solidFill>
                  <a:srgbClr val="2D2D2D"/>
                </a:solidFill>
                <a:latin typeface="Arial" pitchFamily="34" charset="0"/>
                <a:cs typeface="Arial" pitchFamily="34" charset="-120"/>
              </a:rPr>
              <a:t>Enhanced Fraud Labeling:</a:t>
            </a:r>
          </a:p>
        </p:txBody>
      </p:sp>
      <p:sp>
        <p:nvSpPr>
          <p:cNvPr id="34" name="Text 32"/>
          <p:cNvSpPr/>
          <p:nvPr/>
        </p:nvSpPr>
        <p:spPr>
          <a:xfrm>
            <a:off x="5221224" y="3101644"/>
            <a:ext cx="3419856" cy="351130"/>
          </a:xfrm>
          <a:prstGeom prst="rect">
            <a:avLst/>
          </a:prstGeom>
          <a:noFill/>
          <a:ln/>
        </p:spPr>
        <p:txBody>
          <a:bodyPr wrap="square" rtlCol="0" anchor="ctr"/>
          <a:lstStyle/>
          <a:p>
            <a:r>
              <a:rPr lang="en-US" sz="1050" dirty="0">
                <a:solidFill>
                  <a:srgbClr val="626568"/>
                </a:solidFill>
                <a:latin typeface="Arial" pitchFamily="34" charset="0"/>
                <a:cs typeface="Arial" pitchFamily="34" charset="-120"/>
              </a:rPr>
              <a:t>Investigate the use of False Positive cases from the confusion matrix as additional fraud training examples. </a:t>
            </a:r>
          </a:p>
          <a:p>
            <a:r>
              <a:rPr lang="en-US" sz="1050" dirty="0">
                <a:solidFill>
                  <a:srgbClr val="626568"/>
                </a:solidFill>
                <a:latin typeface="Arial" pitchFamily="34" charset="0"/>
                <a:cs typeface="Arial" pitchFamily="34" charset="-120"/>
              </a:rPr>
              <a:t>Evaluate their impact on fraud detection performance and model generalization. </a:t>
            </a:r>
          </a:p>
          <a:p>
            <a:pPr marL="0" indent="0">
              <a:buNone/>
            </a:pPr>
            <a:endParaRPr lang="en-US" sz="1050" dirty="0"/>
          </a:p>
        </p:txBody>
      </p:sp>
      <p:sp>
        <p:nvSpPr>
          <p:cNvPr id="36" name="Text 34"/>
          <p:cNvSpPr/>
          <p:nvPr/>
        </p:nvSpPr>
        <p:spPr>
          <a:xfrm>
            <a:off x="4791456" y="3054096"/>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40" name="Text 38"/>
          <p:cNvSpPr/>
          <p:nvPr/>
        </p:nvSpPr>
        <p:spPr>
          <a:xfrm>
            <a:off x="4791456" y="3840480"/>
            <a:ext cx="347472" cy="277978"/>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3" name="Text 2">
            <a:extLst>
              <a:ext uri="{FF2B5EF4-FFF2-40B4-BE49-F238E27FC236}">
                <a16:creationId xmlns:a16="http://schemas.microsoft.com/office/drawing/2014/main" id="{2E73DB8C-8325-A6B1-1DBB-51AF61B3255A}"/>
              </a:ext>
            </a:extLst>
          </p:cNvPr>
          <p:cNvSpPr/>
          <p:nvPr/>
        </p:nvSpPr>
        <p:spPr>
          <a:xfrm>
            <a:off x="708758" y="4729564"/>
            <a:ext cx="4754880" cy="274320"/>
          </a:xfrm>
          <a:prstGeom prst="rect">
            <a:avLst/>
          </a:prstGeom>
          <a:noFill/>
          <a:ln/>
        </p:spPr>
        <p:txBody>
          <a:bodyPr wrap="square" rtlCol="0" anchor="ctr"/>
          <a:lstStyle/>
          <a:p>
            <a:pPr marL="0" indent="0">
              <a:buNone/>
            </a:pPr>
            <a:r>
              <a:rPr lang="en-US" sz="850" dirty="0">
                <a:solidFill>
                  <a:srgbClr val="FFFFFF"/>
                </a:solidFill>
                <a:latin typeface="Arial" pitchFamily="34" charset="0"/>
                <a:ea typeface="Arial" pitchFamily="34" charset="-122"/>
                <a:cs typeface="Arial" pitchFamily="34" charset="-120"/>
              </a:rPr>
              <a:t>Data Science  |  M.S. Thesis Defense  ·  July 2026</a:t>
            </a:r>
            <a:endParaRPr lang="en-US" sz="850" dirty="0"/>
          </a:p>
        </p:txBody>
      </p:sp>
      <p:sp>
        <p:nvSpPr>
          <p:cNvPr id="4" name="PageNum">
            <a:extLst>
              <a:ext uri="{FF2B5EF4-FFF2-40B4-BE49-F238E27FC236}">
                <a16:creationId xmlns:a16="http://schemas.microsoft.com/office/drawing/2014/main" id="{FDC10A3A-03A1-DF3C-0ECD-6D74359591C4}"/>
              </a:ext>
            </a:extLst>
          </p:cNvPr>
          <p:cNvSpPr>
            <a:spLocks noGrp="1"/>
          </p:cNvSpPr>
          <p:nvPr/>
        </p:nvSpPr>
        <p:spPr>
          <a:xfrm>
            <a:off x="4329485" y="4752828"/>
            <a:ext cx="302150" cy="260000"/>
          </a:xfrm>
          <a:prstGeom prst="rect">
            <a:avLst/>
          </a:prstGeom>
          <a:noFill/>
        </p:spPr>
        <p:txBody>
          <a:bodyPr lIns="0" tIns="0" rIns="0" bIns="0" anchor="ctr"/>
          <a:lstStyle/>
          <a:p>
            <a:pPr algn="ctr"/>
            <a:r>
              <a:rPr lang="en-US" sz="1000" b="0" dirty="0">
                <a:solidFill>
                  <a:srgbClr val="FFFFFF"/>
                </a:solidFill>
                <a:latin typeface="Arial"/>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059686"/>
            <a:ext cx="8046720" cy="1024128"/>
          </a:xfrm>
          <a:prstGeom prst="rect">
            <a:avLst/>
          </a:prstGeom>
          <a:noFill/>
          <a:ln/>
        </p:spPr>
        <p:txBody>
          <a:bodyPr wrap="square" rtlCol="0" anchor="ctr"/>
          <a:lstStyle/>
          <a:p>
            <a:pPr marL="0" indent="0" algn="ctr">
              <a:buNone/>
            </a:pPr>
            <a:r>
              <a:rPr lang="en-US" sz="7200" b="1" dirty="0">
                <a:solidFill>
                  <a:srgbClr val="FFFFFF"/>
                </a:solidFill>
                <a:latin typeface="Arial" pitchFamily="34" charset="0"/>
                <a:ea typeface="Arial" pitchFamily="34" charset="-122"/>
                <a:cs typeface="Arial" pitchFamily="34" charset="-120"/>
              </a:rPr>
              <a:t>Thank You</a:t>
            </a:r>
            <a:endParaRPr lang="en-US" sz="7200" dirty="0"/>
          </a:p>
        </p:txBody>
      </p:sp>
      <p:sp>
        <p:nvSpPr>
          <p:cNvPr id="3" name="Text 1"/>
          <p:cNvSpPr/>
          <p:nvPr/>
        </p:nvSpPr>
        <p:spPr>
          <a:xfrm>
            <a:off x="548640" y="3464000"/>
            <a:ext cx="8046720" cy="409651"/>
          </a:xfrm>
          <a:prstGeom prst="rect">
            <a:avLst/>
          </a:prstGeom>
          <a:noFill/>
          <a:ln/>
        </p:spPr>
        <p:txBody>
          <a:bodyPr wrap="square" rtlCol="0" anchor="ctr"/>
          <a:lstStyle/>
          <a:p>
            <a:pPr marL="0" indent="0" algn="ctr">
              <a:buNone/>
            </a:pPr>
            <a:r>
              <a:rPr lang="en-US" sz="2400" b="1" dirty="0">
                <a:solidFill>
                  <a:srgbClr val="D61920"/>
                </a:solidFill>
                <a:latin typeface="Arial" pitchFamily="34" charset="0"/>
                <a:ea typeface="Arial" pitchFamily="34" charset="-122"/>
                <a:cs typeface="Arial" pitchFamily="34" charset="-120"/>
              </a:rPr>
              <a:t>Questions &amp; Discussion</a:t>
            </a:r>
            <a:endParaRPr lang="en-US" sz="2400" dirty="0"/>
          </a:p>
        </p:txBody>
      </p:sp>
      <p:sp>
        <p:nvSpPr>
          <p:cNvPr id="21" name="Text 19"/>
          <p:cNvSpPr/>
          <p:nvPr/>
        </p:nvSpPr>
        <p:spPr>
          <a:xfrm>
            <a:off x="548640" y="4104878"/>
            <a:ext cx="8046720" cy="263347"/>
          </a:xfrm>
          <a:prstGeom prst="rect">
            <a:avLst/>
          </a:prstGeom>
          <a:noFill/>
          <a:ln/>
        </p:spPr>
        <p:txBody>
          <a:bodyPr wrap="square" rtlCol="0" anchor="ctr"/>
          <a:lstStyle/>
          <a:p>
            <a:pPr marL="0" indent="0" algn="ctr">
              <a:buNone/>
            </a:pPr>
            <a:r>
              <a:rPr lang="en-US" sz="1200" dirty="0">
                <a:solidFill>
                  <a:srgbClr val="888888"/>
                </a:solidFill>
                <a:latin typeface="Arial" pitchFamily="34" charset="0"/>
                <a:ea typeface="Arial" pitchFamily="34" charset="-122"/>
                <a:cs typeface="Arial" pitchFamily="34" charset="-120"/>
              </a:rPr>
              <a:t>Roya Sanjanaki  ·  University of Nebraska at Omaha  ·  July 2026</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143EC67-EFE0-2362-22F5-95989960A34C}"/>
            </a:ext>
          </a:extLst>
        </p:cNvPr>
        <p:cNvGrpSpPr/>
        <p:nvPr/>
      </p:nvGrpSpPr>
      <p:grpSpPr>
        <a:xfrm>
          <a:off x="0" y="0"/>
          <a:ext cx="0" cy="0"/>
          <a:chOff x="0" y="0"/>
          <a:chExt cx="0" cy="0"/>
        </a:xfrm>
      </p:grpSpPr>
      <p:sp>
        <p:nvSpPr>
          <p:cNvPr id="21" name="Text 19">
            <a:extLst>
              <a:ext uri="{FF2B5EF4-FFF2-40B4-BE49-F238E27FC236}">
                <a16:creationId xmlns:a16="http://schemas.microsoft.com/office/drawing/2014/main" id="{B9DCA545-7D18-1AC6-9FB6-E94CA67BCE5E}"/>
              </a:ext>
            </a:extLst>
          </p:cNvPr>
          <p:cNvSpPr/>
          <p:nvPr/>
        </p:nvSpPr>
        <p:spPr>
          <a:xfrm>
            <a:off x="548640" y="4880153"/>
            <a:ext cx="8046720" cy="263347"/>
          </a:xfrm>
          <a:prstGeom prst="rect">
            <a:avLst/>
          </a:prstGeom>
          <a:noFill/>
          <a:ln/>
        </p:spPr>
        <p:txBody>
          <a:bodyPr wrap="square" rtlCol="0" anchor="ctr"/>
          <a:lstStyle/>
          <a:p>
            <a:pPr marL="0" indent="0" algn="ctr">
              <a:buNone/>
            </a:pPr>
            <a:r>
              <a:rPr lang="en-US" sz="1200" dirty="0">
                <a:solidFill>
                  <a:srgbClr val="888888"/>
                </a:solidFill>
                <a:latin typeface="Arial" pitchFamily="34" charset="0"/>
                <a:ea typeface="Arial" pitchFamily="34" charset="-122"/>
                <a:cs typeface="Arial" pitchFamily="34" charset="-120"/>
              </a:rPr>
              <a:t>Roya Sanjanaki  ·  University of Nebraska at Omaha  ·  July 2026</a:t>
            </a:r>
            <a:endParaRPr lang="en-US" sz="1200" dirty="0"/>
          </a:p>
        </p:txBody>
      </p:sp>
      <p:sp>
        <p:nvSpPr>
          <p:cNvPr id="5" name="TextBox 4">
            <a:extLst>
              <a:ext uri="{FF2B5EF4-FFF2-40B4-BE49-F238E27FC236}">
                <a16:creationId xmlns:a16="http://schemas.microsoft.com/office/drawing/2014/main" id="{B7EB9CED-8614-6F17-1647-12F6FCB773E3}"/>
              </a:ext>
            </a:extLst>
          </p:cNvPr>
          <p:cNvSpPr txBox="1"/>
          <p:nvPr/>
        </p:nvSpPr>
        <p:spPr>
          <a:xfrm>
            <a:off x="129474" y="1861168"/>
            <a:ext cx="8407624" cy="2954655"/>
          </a:xfrm>
          <a:prstGeom prst="rect">
            <a:avLst/>
          </a:prstGeom>
          <a:noFill/>
        </p:spPr>
        <p:txBody>
          <a:bodyPr wrap="square" rtlCol="0">
            <a:spAutoFit/>
          </a:bodyPr>
          <a:lstStyle/>
          <a:p>
            <a:pPr>
              <a:lnSpc>
                <a:spcPct val="150000"/>
              </a:lnSpc>
            </a:pPr>
            <a:r>
              <a:rPr lang="en-US" sz="1200" b="1" dirty="0">
                <a:solidFill>
                  <a:srgbClr val="FFFFFF"/>
                </a:solidFill>
                <a:latin typeface="Arial" pitchFamily="34" charset="0"/>
                <a:cs typeface="Arial" pitchFamily="34" charset="-120"/>
              </a:rPr>
              <a:t>Part B: (</a:t>
            </a:r>
            <a:r>
              <a:rPr lang="en-US" sz="1200" b="1" dirty="0">
                <a:solidFill>
                  <a:srgbClr val="FFFFFF"/>
                </a:solidFill>
                <a:latin typeface="Arial" pitchFamily="34" charset="0"/>
                <a:cs typeface="Arial" pitchFamily="34" charset="-120"/>
                <a:hlinkClick r:id="rId4">
                  <a:extLst>
                    <a:ext uri="{A12FA001-AC4F-418D-AE19-62706E023703}">
                      <ahyp:hlinkClr xmlns:ahyp="http://schemas.microsoft.com/office/drawing/2018/hyperlinkcolor" val="tx"/>
                    </a:ext>
                  </a:extLst>
                </a:hlinkClick>
              </a:rPr>
              <a:t>https://data.cms.gov/provider-summary-by-type-of-service/medicare-physician-other-practitioners/medicare-physician-other-practitioners-by-provider-and-service</a:t>
            </a:r>
            <a:r>
              <a:rPr lang="en-US" sz="1200" b="1" dirty="0">
                <a:solidFill>
                  <a:srgbClr val="FFFFFF"/>
                </a:solidFill>
                <a:latin typeface="Arial" pitchFamily="34" charset="0"/>
                <a:cs typeface="Arial" pitchFamily="34" charset="-120"/>
              </a:rPr>
              <a:t>)</a:t>
            </a:r>
          </a:p>
          <a:p>
            <a:pPr>
              <a:lnSpc>
                <a:spcPct val="150000"/>
              </a:lnSpc>
            </a:pPr>
            <a:r>
              <a:rPr lang="en-US" sz="1200" b="1" dirty="0">
                <a:solidFill>
                  <a:srgbClr val="FFFFFF"/>
                </a:solidFill>
                <a:latin typeface="Arial" pitchFamily="34" charset="0"/>
                <a:cs typeface="Arial" pitchFamily="34" charset="-120"/>
              </a:rPr>
              <a:t>Part D: (</a:t>
            </a:r>
            <a:r>
              <a:rPr lang="en-US" sz="1200" b="1" dirty="0">
                <a:solidFill>
                  <a:srgbClr val="FFFFFF"/>
                </a:solidFill>
                <a:latin typeface="Arial" pitchFamily="34" charset="0"/>
                <a:cs typeface="Arial" pitchFamily="34" charset="-120"/>
                <a:hlinkClick r:id="rId5">
                  <a:extLst>
                    <a:ext uri="{A12FA001-AC4F-418D-AE19-62706E023703}">
                      <ahyp:hlinkClr xmlns:ahyp="http://schemas.microsoft.com/office/drawing/2018/hyperlinkcolor" val="tx"/>
                    </a:ext>
                  </a:extLst>
                </a:hlinkClick>
              </a:rPr>
              <a:t>https://data.cms.gov/provider-summary-by-type-of-service/medicare-part-d-prescribers/medicare-part-d-prescribers-by-provider-and-drug</a:t>
            </a:r>
            <a:r>
              <a:rPr lang="en-US" sz="1200" b="1" dirty="0">
                <a:solidFill>
                  <a:srgbClr val="FFFFFF"/>
                </a:solidFill>
                <a:latin typeface="Arial" pitchFamily="34" charset="0"/>
                <a:cs typeface="Arial" pitchFamily="34" charset="-120"/>
              </a:rPr>
              <a:t>)</a:t>
            </a:r>
          </a:p>
          <a:p>
            <a:pPr>
              <a:lnSpc>
                <a:spcPct val="150000"/>
              </a:lnSpc>
            </a:pPr>
            <a:r>
              <a:rPr lang="en-US" sz="1200" b="1" dirty="0">
                <a:solidFill>
                  <a:srgbClr val="FFFFFF"/>
                </a:solidFill>
                <a:latin typeface="Arial" pitchFamily="34" charset="0"/>
                <a:cs typeface="Arial" pitchFamily="34" charset="-120"/>
              </a:rPr>
              <a:t>OIG dataset: (</a:t>
            </a:r>
            <a:r>
              <a:rPr lang="en-US" sz="1200" b="1" dirty="0">
                <a:solidFill>
                  <a:srgbClr val="FFFFFF"/>
                </a:solidFill>
                <a:latin typeface="Arial" pitchFamily="34" charset="0"/>
                <a:cs typeface="Arial" pitchFamily="34" charset="-120"/>
                <a:hlinkClick r:id="rId6">
                  <a:extLst>
                    <a:ext uri="{A12FA001-AC4F-418D-AE19-62706E023703}">
                      <ahyp:hlinkClr xmlns:ahyp="http://schemas.microsoft.com/office/drawing/2018/hyperlinkcolor" val="tx"/>
                    </a:ext>
                  </a:extLst>
                </a:hlinkClick>
              </a:rPr>
              <a:t>https://oig.hhs.gov/exclusions/exclusions_list.asp</a:t>
            </a:r>
            <a:r>
              <a:rPr lang="en-US" sz="1200" b="1" dirty="0">
                <a:solidFill>
                  <a:srgbClr val="FFFFFF"/>
                </a:solidFill>
                <a:latin typeface="Arial" pitchFamily="34" charset="0"/>
                <a:cs typeface="Arial" pitchFamily="34" charset="-120"/>
              </a:rPr>
              <a:t>)</a:t>
            </a:r>
          </a:p>
          <a:p>
            <a:pPr>
              <a:lnSpc>
                <a:spcPct val="150000"/>
              </a:lnSpc>
            </a:pPr>
            <a:r>
              <a:rPr lang="en-US" sz="1200" b="1" dirty="0">
                <a:solidFill>
                  <a:srgbClr val="FFFFFF"/>
                </a:solidFill>
                <a:latin typeface="Arial" pitchFamily="34" charset="0"/>
                <a:cs typeface="Arial" pitchFamily="34" charset="-120"/>
              </a:rPr>
              <a:t>CMS program manuals (CMS 2023): (</a:t>
            </a:r>
            <a:r>
              <a:rPr lang="en-US" sz="1200" b="1" dirty="0">
                <a:solidFill>
                  <a:srgbClr val="FFFFFF"/>
                </a:solidFill>
                <a:latin typeface="Arial" pitchFamily="34" charset="0"/>
                <a:cs typeface="Arial" pitchFamily="34" charset="-120"/>
                <a:hlinkClick r:id="rId7">
                  <a:extLst>
                    <a:ext uri="{A12FA001-AC4F-418D-AE19-62706E023703}">
                      <ahyp:hlinkClr xmlns:ahyp="http://schemas.microsoft.com/office/drawing/2018/hyperlinkcolor" val="tx"/>
                    </a:ext>
                  </a:extLst>
                </a:hlinkClick>
              </a:rPr>
              <a:t>https://www.cms.gov/data-research</a:t>
            </a:r>
            <a:r>
              <a:rPr lang="en-US" sz="1200" b="1" dirty="0">
                <a:solidFill>
                  <a:srgbClr val="FFFFFF"/>
                </a:solidFill>
                <a:latin typeface="Arial" pitchFamily="34" charset="0"/>
                <a:cs typeface="Arial" pitchFamily="34" charset="-120"/>
              </a:rPr>
              <a:t>)</a:t>
            </a:r>
          </a:p>
          <a:p>
            <a:pPr>
              <a:lnSpc>
                <a:spcPct val="150000"/>
              </a:lnSpc>
            </a:pPr>
            <a:r>
              <a:rPr lang="en-US" sz="1200" b="1" dirty="0">
                <a:solidFill>
                  <a:srgbClr val="FFFFFF"/>
                </a:solidFill>
                <a:latin typeface="Arial" pitchFamily="34" charset="0"/>
                <a:cs typeface="Arial" pitchFamily="34" charset="-120"/>
              </a:rPr>
              <a:t>OIG fraud alerts: </a:t>
            </a:r>
            <a:r>
              <a:rPr lang="en-US" sz="1200" b="1" dirty="0">
                <a:solidFill>
                  <a:srgbClr val="FFFFFF"/>
                </a:solidFill>
                <a:latin typeface="Arial" pitchFamily="34" charset="0"/>
                <a:cs typeface="Arial" pitchFamily="34" charset="-120"/>
                <a:hlinkClick r:id="rId8">
                  <a:extLst>
                    <a:ext uri="{A12FA001-AC4F-418D-AE19-62706E023703}">
                      <ahyp:hlinkClr xmlns:ahyp="http://schemas.microsoft.com/office/drawing/2018/hyperlinkcolor" val="tx"/>
                    </a:ext>
                  </a:extLst>
                </a:hlinkClick>
              </a:rPr>
              <a:t>https://oig.hhs.gov/compliance/alerts/</a:t>
            </a:r>
            <a:endParaRPr lang="en-US" sz="1200" b="1" dirty="0">
              <a:solidFill>
                <a:srgbClr val="FFFFFF"/>
              </a:solidFill>
              <a:latin typeface="Arial" pitchFamily="34" charset="0"/>
              <a:cs typeface="Arial" pitchFamily="34" charset="-120"/>
            </a:endParaRPr>
          </a:p>
          <a:p>
            <a:pPr>
              <a:lnSpc>
                <a:spcPct val="150000"/>
              </a:lnSpc>
            </a:pPr>
            <a:r>
              <a:rPr lang="en-US" sz="1200" b="1" dirty="0">
                <a:solidFill>
                  <a:srgbClr val="FFFFFF"/>
                </a:solidFill>
                <a:latin typeface="Arial" pitchFamily="34" charset="0"/>
                <a:cs typeface="Arial" pitchFamily="34" charset="-120"/>
              </a:rPr>
              <a:t>OIG (2023): </a:t>
            </a:r>
            <a:r>
              <a:rPr lang="en-US" sz="1200" b="1" dirty="0">
                <a:solidFill>
                  <a:srgbClr val="FFFFFF"/>
                </a:solidFill>
                <a:latin typeface="Arial" pitchFamily="34" charset="0"/>
                <a:cs typeface="Arial" pitchFamily="34" charset="-120"/>
                <a:hlinkClick r:id="rId9">
                  <a:extLst>
                    <a:ext uri="{A12FA001-AC4F-418D-AE19-62706E023703}">
                      <ahyp:hlinkClr xmlns:ahyp="http://schemas.microsoft.com/office/drawing/2018/hyperlinkcolor" val="tx"/>
                    </a:ext>
                  </a:extLst>
                </a:hlinkClick>
              </a:rPr>
              <a:t>https://oig.hhs.gov/</a:t>
            </a:r>
            <a:endParaRPr lang="en-US" sz="1200" b="1" dirty="0">
              <a:solidFill>
                <a:srgbClr val="FFFFFF"/>
              </a:solidFill>
              <a:latin typeface="Arial" pitchFamily="34" charset="0"/>
              <a:cs typeface="Arial" pitchFamily="34" charset="-120"/>
            </a:endParaRPr>
          </a:p>
          <a:p>
            <a:pPr>
              <a:lnSpc>
                <a:spcPct val="150000"/>
              </a:lnSpc>
            </a:pPr>
            <a:r>
              <a:rPr lang="en-US" sz="1200" b="1" dirty="0">
                <a:solidFill>
                  <a:srgbClr val="FFFFFF"/>
                </a:solidFill>
                <a:latin typeface="Arial" pitchFamily="34" charset="0"/>
                <a:cs typeface="Arial" pitchFamily="34" charset="-120"/>
              </a:rPr>
              <a:t>Fan et al., 2024 – RAG Survey (KDD 2024): </a:t>
            </a:r>
            <a:r>
              <a:rPr lang="en-US" sz="1200" b="1" dirty="0">
                <a:solidFill>
                  <a:srgbClr val="FFFFFF"/>
                </a:solidFill>
                <a:latin typeface="Arial" pitchFamily="34" charset="0"/>
                <a:cs typeface="Arial" pitchFamily="34" charset="-120"/>
                <a:hlinkClick r:id="rId10">
                  <a:extLst>
                    <a:ext uri="{A12FA001-AC4F-418D-AE19-62706E023703}">
                      <ahyp:hlinkClr xmlns:ahyp="http://schemas.microsoft.com/office/drawing/2018/hyperlinkcolor" val="tx"/>
                    </a:ext>
                  </a:extLst>
                </a:hlinkClick>
              </a:rPr>
              <a:t>https://doi.org/10.1145/3637528.3671470</a:t>
            </a:r>
            <a:endParaRPr lang="en-US" sz="1200" b="1" dirty="0">
              <a:solidFill>
                <a:srgbClr val="FFFFFF"/>
              </a:solidFill>
              <a:latin typeface="Arial" pitchFamily="34" charset="0"/>
              <a:cs typeface="Arial" pitchFamily="34" charset="-120"/>
            </a:endParaRPr>
          </a:p>
          <a:p>
            <a:r>
              <a:rPr lang="en-US" sz="1200" b="1" dirty="0">
                <a:solidFill>
                  <a:srgbClr val="FFFFFF"/>
                </a:solidFill>
                <a:latin typeface="Arial" pitchFamily="34" charset="0"/>
                <a:cs typeface="Arial" pitchFamily="34" charset="-120"/>
              </a:rPr>
              <a:t>Lewis, P., et al. (2020). Retrieval-augmented generation for knowledge-intensive NLP tasks. </a:t>
            </a:r>
            <a:r>
              <a:rPr lang="en-US" sz="1200" b="1" dirty="0" err="1">
                <a:solidFill>
                  <a:srgbClr val="FFFFFF"/>
                </a:solidFill>
                <a:latin typeface="Arial" pitchFamily="34" charset="0"/>
                <a:cs typeface="Arial" pitchFamily="34" charset="-120"/>
              </a:rPr>
              <a:t>NeurIPS</a:t>
            </a:r>
            <a:r>
              <a:rPr lang="en-US" sz="1200" b="1" dirty="0">
                <a:solidFill>
                  <a:srgbClr val="FFFFFF"/>
                </a:solidFill>
                <a:latin typeface="Arial" pitchFamily="34" charset="0"/>
                <a:cs typeface="Arial" pitchFamily="34" charset="-120"/>
              </a:rPr>
              <a:t>.</a:t>
            </a:r>
            <a:br>
              <a:rPr lang="en-US" sz="1200" b="1" dirty="0">
                <a:solidFill>
                  <a:srgbClr val="FFFFFF"/>
                </a:solidFill>
                <a:latin typeface="Arial" pitchFamily="34" charset="0"/>
                <a:cs typeface="Arial" pitchFamily="34" charset="-120"/>
              </a:rPr>
            </a:br>
            <a:r>
              <a:rPr lang="en-US" sz="1200" b="1" dirty="0">
                <a:solidFill>
                  <a:srgbClr val="FFFFFF"/>
                </a:solidFill>
                <a:latin typeface="Arial" pitchFamily="34" charset="0"/>
                <a:cs typeface="Arial" pitchFamily="34" charset="-120"/>
                <a:hlinkClick r:id="rId11">
                  <a:extLst>
                    <a:ext uri="{A12FA001-AC4F-418D-AE19-62706E023703}">
                      <ahyp:hlinkClr xmlns:ahyp="http://schemas.microsoft.com/office/drawing/2018/hyperlinkcolor" val="tx"/>
                    </a:ext>
                  </a:extLst>
                </a:hlinkClick>
              </a:rPr>
              <a:t>https://proceedings.neurips.cc/paper/2020/hash/6b493230205f780e1bc26945df7481e5-Abstract.html</a:t>
            </a:r>
            <a:endParaRPr lang="en-US" sz="1200" b="1" dirty="0">
              <a:solidFill>
                <a:srgbClr val="FFFFFF"/>
              </a:solidFill>
              <a:latin typeface="Arial" pitchFamily="34" charset="0"/>
              <a:cs typeface="Arial" pitchFamily="34" charset="-120"/>
            </a:endParaRPr>
          </a:p>
        </p:txBody>
      </p:sp>
      <p:sp>
        <p:nvSpPr>
          <p:cNvPr id="6" name="Text 0">
            <a:extLst>
              <a:ext uri="{FF2B5EF4-FFF2-40B4-BE49-F238E27FC236}">
                <a16:creationId xmlns:a16="http://schemas.microsoft.com/office/drawing/2014/main" id="{39F0F503-28C2-996A-0F38-2CD195919DC6}"/>
              </a:ext>
            </a:extLst>
          </p:cNvPr>
          <p:cNvSpPr/>
          <p:nvPr/>
        </p:nvSpPr>
        <p:spPr>
          <a:xfrm>
            <a:off x="365760" y="109728"/>
            <a:ext cx="7680960" cy="512064"/>
          </a:xfrm>
          <a:prstGeom prst="rect">
            <a:avLst/>
          </a:prstGeom>
          <a:noFill/>
          <a:ln/>
        </p:spPr>
        <p:txBody>
          <a:bodyPr wrap="square" rtlCol="0" anchor="ctr"/>
          <a:lstStyle/>
          <a:p>
            <a:r>
              <a:rPr lang="en-US" sz="2400" b="1" dirty="0">
                <a:solidFill>
                  <a:srgbClr val="FFFFFF"/>
                </a:solidFill>
                <a:latin typeface="Arial" pitchFamily="34" charset="0"/>
                <a:cs typeface="Arial" pitchFamily="34" charset="-120"/>
              </a:rPr>
              <a:t>References</a:t>
            </a:r>
          </a:p>
        </p:txBody>
      </p:sp>
    </p:spTree>
    <p:extLst>
      <p:ext uri="{BB962C8B-B14F-4D97-AF65-F5344CB8AC3E}">
        <p14:creationId xmlns:p14="http://schemas.microsoft.com/office/powerpoint/2010/main" val="6088509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BDF9C40-F99B-E75B-5DB9-DCACBB085D13}"/>
            </a:ext>
          </a:extLst>
        </p:cNvPr>
        <p:cNvGrpSpPr/>
        <p:nvPr/>
      </p:nvGrpSpPr>
      <p:grpSpPr>
        <a:xfrm>
          <a:off x="0" y="0"/>
          <a:ext cx="0" cy="0"/>
          <a:chOff x="0" y="0"/>
          <a:chExt cx="0" cy="0"/>
        </a:xfrm>
      </p:grpSpPr>
      <p:sp>
        <p:nvSpPr>
          <p:cNvPr id="21" name="Text 19">
            <a:extLst>
              <a:ext uri="{FF2B5EF4-FFF2-40B4-BE49-F238E27FC236}">
                <a16:creationId xmlns:a16="http://schemas.microsoft.com/office/drawing/2014/main" id="{FDFF22AD-DEEE-8418-5BB3-DD05947E9950}"/>
              </a:ext>
            </a:extLst>
          </p:cNvPr>
          <p:cNvSpPr/>
          <p:nvPr/>
        </p:nvSpPr>
        <p:spPr>
          <a:xfrm>
            <a:off x="548640" y="4880153"/>
            <a:ext cx="8046720" cy="263347"/>
          </a:xfrm>
          <a:prstGeom prst="rect">
            <a:avLst/>
          </a:prstGeom>
          <a:noFill/>
          <a:ln/>
        </p:spPr>
        <p:txBody>
          <a:bodyPr wrap="square" rtlCol="0" anchor="ctr"/>
          <a:lstStyle/>
          <a:p>
            <a:pPr marL="0" indent="0" algn="ctr">
              <a:buNone/>
            </a:pPr>
            <a:r>
              <a:rPr lang="en-US" sz="1200" dirty="0">
                <a:solidFill>
                  <a:srgbClr val="888888"/>
                </a:solidFill>
                <a:latin typeface="Arial" pitchFamily="34" charset="0"/>
                <a:ea typeface="Arial" pitchFamily="34" charset="-122"/>
                <a:cs typeface="Arial" pitchFamily="34" charset="-120"/>
              </a:rPr>
              <a:t>Roya Sanjanaki  ·  University of Nebraska at Omaha  ·  July 2026</a:t>
            </a:r>
            <a:endParaRPr lang="en-US" sz="1200" dirty="0"/>
          </a:p>
        </p:txBody>
      </p:sp>
      <p:sp>
        <p:nvSpPr>
          <p:cNvPr id="5" name="TextBox 4">
            <a:extLst>
              <a:ext uri="{FF2B5EF4-FFF2-40B4-BE49-F238E27FC236}">
                <a16:creationId xmlns:a16="http://schemas.microsoft.com/office/drawing/2014/main" id="{CC167A5F-9C7E-26F8-A502-9362FEF5C730}"/>
              </a:ext>
            </a:extLst>
          </p:cNvPr>
          <p:cNvSpPr txBox="1"/>
          <p:nvPr/>
        </p:nvSpPr>
        <p:spPr>
          <a:xfrm>
            <a:off x="275130" y="1917812"/>
            <a:ext cx="8407624" cy="2677656"/>
          </a:xfrm>
          <a:prstGeom prst="rect">
            <a:avLst/>
          </a:prstGeom>
          <a:noFill/>
        </p:spPr>
        <p:txBody>
          <a:bodyPr wrap="square" rtlCol="0">
            <a:spAutoFit/>
          </a:bodyPr>
          <a:lstStyle/>
          <a:p>
            <a:r>
              <a:rPr lang="en-US" sz="1200" b="1" dirty="0" err="1">
                <a:solidFill>
                  <a:srgbClr val="FFFFFF"/>
                </a:solidFill>
                <a:latin typeface="Arial" pitchFamily="34" charset="0"/>
                <a:cs typeface="Arial" pitchFamily="34" charset="-120"/>
              </a:rPr>
              <a:t>Adadi</a:t>
            </a:r>
            <a:r>
              <a:rPr lang="en-US" sz="1200" b="1" dirty="0">
                <a:solidFill>
                  <a:srgbClr val="FFFFFF"/>
                </a:solidFill>
                <a:latin typeface="Arial" pitchFamily="34" charset="0"/>
                <a:cs typeface="Arial" pitchFamily="34" charset="-120"/>
              </a:rPr>
              <a:t>, A., &amp; Berrada, M. (2018). Peeking inside the black box: A survey on explainable artificial intelligence (XAI). IEEE Access.</a:t>
            </a:r>
            <a:br>
              <a:rPr lang="en-US" sz="1200" b="1" dirty="0">
                <a:solidFill>
                  <a:srgbClr val="FFFFFF"/>
                </a:solidFill>
                <a:latin typeface="Arial" pitchFamily="34" charset="0"/>
                <a:cs typeface="Arial" pitchFamily="34" charset="-120"/>
              </a:rPr>
            </a:br>
            <a:r>
              <a:rPr lang="en-US" sz="1200" b="1" dirty="0">
                <a:solidFill>
                  <a:srgbClr val="FFFFFF"/>
                </a:solidFill>
                <a:latin typeface="Arial" pitchFamily="34" charset="0"/>
                <a:cs typeface="Arial" pitchFamily="34" charset="-120"/>
                <a:hlinkClick r:id="rId4">
                  <a:extLst>
                    <a:ext uri="{A12FA001-AC4F-418D-AE19-62706E023703}">
                      <ahyp:hlinkClr xmlns:ahyp="http://schemas.microsoft.com/office/drawing/2018/hyperlinkcolor" val="tx"/>
                    </a:ext>
                  </a:extLst>
                </a:hlinkClick>
              </a:rPr>
              <a:t>https://doi.org/10.1109/ACCESS.2018.2870052</a:t>
            </a:r>
            <a:endParaRPr lang="en-US" sz="1200" b="1" dirty="0">
              <a:solidFill>
                <a:srgbClr val="FFFFFF"/>
              </a:solidFill>
              <a:latin typeface="Arial" pitchFamily="34" charset="0"/>
              <a:cs typeface="Arial" pitchFamily="34" charset="-120"/>
            </a:endParaRPr>
          </a:p>
          <a:p>
            <a:endParaRPr lang="en-US" sz="1200" b="1" dirty="0">
              <a:solidFill>
                <a:srgbClr val="FFFFFF"/>
              </a:solidFill>
              <a:latin typeface="Arial" pitchFamily="34" charset="0"/>
              <a:cs typeface="Arial" pitchFamily="34" charset="-120"/>
            </a:endParaRPr>
          </a:p>
          <a:p>
            <a:r>
              <a:rPr lang="en-US" sz="1200" b="1" dirty="0">
                <a:solidFill>
                  <a:srgbClr val="FFFFFF"/>
                </a:solidFill>
                <a:latin typeface="Arial" pitchFamily="34" charset="0"/>
                <a:cs typeface="Arial" pitchFamily="34" charset="-120"/>
              </a:rPr>
              <a:t>Guidotti, R., et al. (2018). A survey of methods for explaining black-box models. ACM Computing Surveys.</a:t>
            </a:r>
            <a:br>
              <a:rPr lang="en-US" sz="1200" b="1" dirty="0">
                <a:solidFill>
                  <a:srgbClr val="FFFFFF"/>
                </a:solidFill>
                <a:latin typeface="Arial" pitchFamily="34" charset="0"/>
                <a:cs typeface="Arial" pitchFamily="34" charset="-120"/>
              </a:rPr>
            </a:br>
            <a:r>
              <a:rPr lang="en-US" sz="1200" b="1" dirty="0">
                <a:solidFill>
                  <a:srgbClr val="FFFFFF"/>
                </a:solidFill>
                <a:latin typeface="Arial" pitchFamily="34" charset="0"/>
                <a:cs typeface="Arial" pitchFamily="34" charset="-120"/>
                <a:hlinkClick r:id="rId5">
                  <a:extLst>
                    <a:ext uri="{A12FA001-AC4F-418D-AE19-62706E023703}">
                      <ahyp:hlinkClr xmlns:ahyp="http://schemas.microsoft.com/office/drawing/2018/hyperlinkcolor" val="tx"/>
                    </a:ext>
                  </a:extLst>
                </a:hlinkClick>
              </a:rPr>
              <a:t>https://doi.org/10.1145/3236009</a:t>
            </a:r>
            <a:endParaRPr lang="en-US" sz="1200" b="1" dirty="0">
              <a:solidFill>
                <a:srgbClr val="FFFFFF"/>
              </a:solidFill>
              <a:latin typeface="Arial" pitchFamily="34" charset="0"/>
              <a:cs typeface="Arial" pitchFamily="34" charset="-120"/>
            </a:endParaRPr>
          </a:p>
          <a:p>
            <a:endParaRPr lang="en-US" sz="1200" b="1" dirty="0">
              <a:solidFill>
                <a:srgbClr val="FFFFFF"/>
              </a:solidFill>
              <a:latin typeface="Arial" pitchFamily="34" charset="0"/>
              <a:cs typeface="Arial" pitchFamily="34" charset="-120"/>
            </a:endParaRPr>
          </a:p>
          <a:p>
            <a:r>
              <a:rPr lang="en-US" sz="1200" b="1" dirty="0">
                <a:solidFill>
                  <a:srgbClr val="FFFFFF"/>
                </a:solidFill>
                <a:latin typeface="Arial" pitchFamily="34" charset="0"/>
                <a:cs typeface="Arial" pitchFamily="34" charset="-120"/>
              </a:rPr>
              <a:t>Hancock, J. T., Wang, H., </a:t>
            </a:r>
            <a:r>
              <a:rPr lang="en-US" sz="1200" b="1" dirty="0" err="1">
                <a:solidFill>
                  <a:srgbClr val="FFFFFF"/>
                </a:solidFill>
                <a:latin typeface="Arial" pitchFamily="34" charset="0"/>
                <a:cs typeface="Arial" pitchFamily="34" charset="-120"/>
              </a:rPr>
              <a:t>Khoshgoftaar</a:t>
            </a:r>
            <a:r>
              <a:rPr lang="en-US" sz="1200" b="1" dirty="0">
                <a:solidFill>
                  <a:srgbClr val="FFFFFF"/>
                </a:solidFill>
                <a:latin typeface="Arial" pitchFamily="34" charset="0"/>
                <a:cs typeface="Arial" pitchFamily="34" charset="-120"/>
              </a:rPr>
              <a:t>, T. M., &amp; Liang, Q. (2024). Data reduction techniques for highly imbalanced Medicare big data. Journal of Big Data.</a:t>
            </a:r>
            <a:br>
              <a:rPr lang="en-US" sz="1200" b="1" dirty="0">
                <a:solidFill>
                  <a:srgbClr val="FFFFFF"/>
                </a:solidFill>
                <a:latin typeface="Arial" pitchFamily="34" charset="0"/>
                <a:cs typeface="Arial" pitchFamily="34" charset="-120"/>
              </a:rPr>
            </a:br>
            <a:r>
              <a:rPr lang="en-US" sz="1200" b="1" dirty="0">
                <a:solidFill>
                  <a:srgbClr val="FFFFFF"/>
                </a:solidFill>
                <a:latin typeface="Arial" pitchFamily="34" charset="0"/>
                <a:cs typeface="Arial" pitchFamily="34" charset="-120"/>
                <a:hlinkClick r:id="rId6">
                  <a:extLst>
                    <a:ext uri="{A12FA001-AC4F-418D-AE19-62706E023703}">
                      <ahyp:hlinkClr xmlns:ahyp="http://schemas.microsoft.com/office/drawing/2018/hyperlinkcolor" val="tx"/>
                    </a:ext>
                  </a:extLst>
                </a:hlinkClick>
              </a:rPr>
              <a:t>https://doi.org/10.1186/s40537-023-00869-3</a:t>
            </a:r>
            <a:endParaRPr lang="en-US" sz="1200" b="1" dirty="0">
              <a:solidFill>
                <a:srgbClr val="FFFFFF"/>
              </a:solidFill>
              <a:latin typeface="Arial" pitchFamily="34" charset="0"/>
              <a:cs typeface="Arial" pitchFamily="34" charset="-120"/>
            </a:endParaRPr>
          </a:p>
          <a:p>
            <a:endParaRPr lang="en-US" sz="1200" b="1" dirty="0">
              <a:solidFill>
                <a:srgbClr val="FFFFFF"/>
              </a:solidFill>
              <a:latin typeface="Arial" pitchFamily="34" charset="0"/>
              <a:cs typeface="Arial" pitchFamily="34" charset="-120"/>
            </a:endParaRPr>
          </a:p>
          <a:p>
            <a:r>
              <a:rPr lang="en-US" sz="1200" b="1" dirty="0">
                <a:solidFill>
                  <a:srgbClr val="FFFFFF"/>
                </a:solidFill>
                <a:latin typeface="Arial" pitchFamily="34" charset="0"/>
                <a:cs typeface="Arial" pitchFamily="34" charset="-120"/>
              </a:rPr>
              <a:t>Bauder, R. A., &amp; </a:t>
            </a:r>
            <a:r>
              <a:rPr lang="en-US" sz="1200" b="1" dirty="0" err="1">
                <a:solidFill>
                  <a:srgbClr val="FFFFFF"/>
                </a:solidFill>
                <a:latin typeface="Arial" pitchFamily="34" charset="0"/>
                <a:cs typeface="Arial" pitchFamily="34" charset="-120"/>
              </a:rPr>
              <a:t>Khoshgoftaar</a:t>
            </a:r>
            <a:r>
              <a:rPr lang="en-US" sz="1200" b="1" dirty="0">
                <a:solidFill>
                  <a:srgbClr val="FFFFFF"/>
                </a:solidFill>
                <a:latin typeface="Arial" pitchFamily="34" charset="0"/>
                <a:cs typeface="Arial" pitchFamily="34" charset="-120"/>
              </a:rPr>
              <a:t>, T. M. (2018). The effects of varying class distribution on learner behavior for Medicare fraud detection with imbalanced big data. Journal of Big Data.</a:t>
            </a:r>
            <a:br>
              <a:rPr lang="en-US" sz="1200" b="1" dirty="0">
                <a:solidFill>
                  <a:srgbClr val="FFFFFF"/>
                </a:solidFill>
                <a:latin typeface="Arial" pitchFamily="34" charset="0"/>
                <a:cs typeface="Arial" pitchFamily="34" charset="-120"/>
              </a:rPr>
            </a:br>
            <a:r>
              <a:rPr lang="en-US" sz="1200" b="1" dirty="0">
                <a:solidFill>
                  <a:srgbClr val="FFFFFF"/>
                </a:solidFill>
                <a:latin typeface="Arial" pitchFamily="34" charset="0"/>
                <a:cs typeface="Arial" pitchFamily="34" charset="-120"/>
                <a:hlinkClick r:id="rId7">
                  <a:extLst>
                    <a:ext uri="{A12FA001-AC4F-418D-AE19-62706E023703}">
                      <ahyp:hlinkClr xmlns:ahyp="http://schemas.microsoft.com/office/drawing/2018/hyperlinkcolor" val="tx"/>
                    </a:ext>
                  </a:extLst>
                </a:hlinkClick>
              </a:rPr>
              <a:t>https://doi.org/10.1007/s13755-018-0051-3</a:t>
            </a:r>
            <a:endParaRPr lang="en-US" sz="1200" b="1" dirty="0">
              <a:solidFill>
                <a:srgbClr val="FFFFFF"/>
              </a:solidFill>
              <a:latin typeface="Arial" pitchFamily="34" charset="0"/>
              <a:cs typeface="Arial" pitchFamily="34" charset="-120"/>
            </a:endParaRPr>
          </a:p>
        </p:txBody>
      </p:sp>
      <p:sp>
        <p:nvSpPr>
          <p:cNvPr id="6" name="Text 0">
            <a:extLst>
              <a:ext uri="{FF2B5EF4-FFF2-40B4-BE49-F238E27FC236}">
                <a16:creationId xmlns:a16="http://schemas.microsoft.com/office/drawing/2014/main" id="{0BEC8FB4-E418-0C2D-CE25-D02F1F2F9597}"/>
              </a:ext>
            </a:extLst>
          </p:cNvPr>
          <p:cNvSpPr/>
          <p:nvPr/>
        </p:nvSpPr>
        <p:spPr>
          <a:xfrm>
            <a:off x="365760" y="109728"/>
            <a:ext cx="7680960" cy="512064"/>
          </a:xfrm>
          <a:prstGeom prst="rect">
            <a:avLst/>
          </a:prstGeom>
          <a:noFill/>
          <a:ln/>
        </p:spPr>
        <p:txBody>
          <a:bodyPr wrap="square" rtlCol="0" anchor="ctr"/>
          <a:lstStyle/>
          <a:p>
            <a:r>
              <a:rPr lang="en-US" sz="2400" b="1" dirty="0">
                <a:solidFill>
                  <a:srgbClr val="FFFFFF"/>
                </a:solidFill>
                <a:latin typeface="Arial" pitchFamily="34" charset="0"/>
                <a:cs typeface="Arial" pitchFamily="34" charset="-120"/>
              </a:rPr>
              <a:t>References</a:t>
            </a:r>
          </a:p>
        </p:txBody>
      </p:sp>
    </p:spTree>
    <p:extLst>
      <p:ext uri="{BB962C8B-B14F-4D97-AF65-F5344CB8AC3E}">
        <p14:creationId xmlns:p14="http://schemas.microsoft.com/office/powerpoint/2010/main" val="2647088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4535</TotalTime>
  <Words>4656</Words>
  <Application>Microsoft Macintosh PowerPoint</Application>
  <PresentationFormat>On-screen Show (16:9)</PresentationFormat>
  <Paragraphs>502</Paragraphs>
  <Slides>33</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Policy-Grounded Explainable AI for Medicare Fraud Detection</dc:title>
  <dc:subject>PptxGenJS Presentation</dc:subject>
  <dc:creator>Roya Sanjanaki</dc:creator>
  <cp:lastModifiedBy>Roya Sanjanaki</cp:lastModifiedBy>
  <cp:revision>80</cp:revision>
  <dcterms:created xsi:type="dcterms:W3CDTF">2026-07-03T10:20:28Z</dcterms:created>
  <dcterms:modified xsi:type="dcterms:W3CDTF">2026-07-08T11:40:24Z</dcterms:modified>
</cp:coreProperties>
</file>